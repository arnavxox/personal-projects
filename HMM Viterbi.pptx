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5"/>
  </p:notesMasterIdLst>
  <p:sldIdLst>
    <p:sldId id="256" r:id="rId2"/>
    <p:sldId id="265" r:id="rId3"/>
    <p:sldId id="266" r:id="rId4"/>
    <p:sldId id="267" r:id="rId5"/>
    <p:sldId id="257" r:id="rId6"/>
    <p:sldId id="258" r:id="rId7"/>
    <p:sldId id="268" r:id="rId8"/>
    <p:sldId id="259" r:id="rId9"/>
    <p:sldId id="269" r:id="rId10"/>
    <p:sldId id="260" r:id="rId11"/>
    <p:sldId id="270" r:id="rId12"/>
    <p:sldId id="261" r:id="rId13"/>
    <p:sldId id="274" r:id="rId14"/>
    <p:sldId id="275" r:id="rId15"/>
    <p:sldId id="276" r:id="rId16"/>
    <p:sldId id="271" r:id="rId17"/>
    <p:sldId id="262" r:id="rId18"/>
    <p:sldId id="280" r:id="rId19"/>
    <p:sldId id="281" r:id="rId20"/>
    <p:sldId id="282" r:id="rId21"/>
    <p:sldId id="283" r:id="rId22"/>
    <p:sldId id="287" r:id="rId23"/>
    <p:sldId id="279" r:id="rId24"/>
    <p:sldId id="278" r:id="rId25"/>
    <p:sldId id="284" r:id="rId26"/>
    <p:sldId id="285" r:id="rId27"/>
    <p:sldId id="289" r:id="rId28"/>
    <p:sldId id="286" r:id="rId29"/>
    <p:sldId id="288" r:id="rId30"/>
    <p:sldId id="264" r:id="rId31"/>
    <p:sldId id="272" r:id="rId32"/>
    <p:sldId id="273" r:id="rId33"/>
    <p:sldId id="290"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80" d="100"/>
          <a:sy n="80" d="100"/>
        </p:scale>
        <p:origin x="782" y="14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27D4C5-2AB2-4EEC-BCFC-AEA0B768BBA1}" type="datetimeFigureOut">
              <a:rPr lang="en-IN" smtClean="0"/>
              <a:t>13-12-2025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6D6D36-B54F-4EF4-A0D0-8F246397D1E3}" type="slidenum">
              <a:rPr lang="en-IN" smtClean="0"/>
              <a:t>‹#›</a:t>
            </a:fld>
            <a:endParaRPr lang="en-IN"/>
          </a:p>
        </p:txBody>
      </p:sp>
    </p:spTree>
    <p:extLst>
      <p:ext uri="{BB962C8B-B14F-4D97-AF65-F5344CB8AC3E}">
        <p14:creationId xmlns:p14="http://schemas.microsoft.com/office/powerpoint/2010/main" val="2772346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1</a:t>
            </a:fld>
            <a:endParaRPr lang="en-IN"/>
          </a:p>
        </p:txBody>
      </p:sp>
    </p:spTree>
    <p:extLst>
      <p:ext uri="{BB962C8B-B14F-4D97-AF65-F5344CB8AC3E}">
        <p14:creationId xmlns:p14="http://schemas.microsoft.com/office/powerpoint/2010/main" val="969942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motivation—why POS tagging matters—then move through the theoretical foundations of HMMs and Viterbi, train models on the Brown corpus, and finally evaluate what works and what doesn't when data is limited</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2</a:t>
            </a:fld>
            <a:endParaRPr lang="en-IN"/>
          </a:p>
        </p:txBody>
      </p:sp>
    </p:spTree>
    <p:extLst>
      <p:ext uri="{BB962C8B-B14F-4D97-AF65-F5344CB8AC3E}">
        <p14:creationId xmlns:p14="http://schemas.microsoft.com/office/powerpoint/2010/main" val="486412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 in meaning comes entirely from which "had" is auxiliary versus main verb. Even punctuation depends on POS: commas appear based on grammatical structure, not just pauses. This shows that a whole Wikipedia page exists just to document ambiguity and the critical role of proper tagging</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4</a:t>
            </a:fld>
            <a:endParaRPr lang="en-IN"/>
          </a:p>
        </p:txBody>
      </p:sp>
    </p:spTree>
    <p:extLst>
      <p:ext uri="{BB962C8B-B14F-4D97-AF65-F5344CB8AC3E}">
        <p14:creationId xmlns:p14="http://schemas.microsoft.com/office/powerpoint/2010/main" val="14780365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is structurally and semantically ambiguous. Words like "flies" can be a noun or verb, "bank" can mean a financial institution or a riverbank, and sentences like "Time flies like an arrow; fruit flies like a banana" show how context determines meaning. Every word in context needs a role assigned to parse meaning correctly, which is the sequence labeling problem we're solving.</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5</a:t>
            </a:fld>
            <a:endParaRPr lang="en-IN"/>
          </a:p>
        </p:txBody>
      </p:sp>
    </p:spTree>
    <p:extLst>
      <p:ext uri="{BB962C8B-B14F-4D97-AF65-F5344CB8AC3E}">
        <p14:creationId xmlns:p14="http://schemas.microsoft.com/office/powerpoint/2010/main" val="22374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 tagging assigns a grammatical tag—noun, verb, adjective, etc.—to every word in a sentence based on context and linguistic rules. For example, "The dog ran quickly in the park" becomes "The/DET dog/NOUN ran/VERB quickly/ADV in/ADP the/DET park/NOUN". This is a sequence labeling problem: the tag of each word depends on the tags of neighboring words. Tagging is foundational for parsing, named entity recognition, machine translation, and many other NLP tasks.</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6</a:t>
            </a:fld>
            <a:endParaRPr lang="en-IN"/>
          </a:p>
        </p:txBody>
      </p:sp>
    </p:spTree>
    <p:extLst>
      <p:ext uri="{BB962C8B-B14F-4D97-AF65-F5344CB8AC3E}">
        <p14:creationId xmlns:p14="http://schemas.microsoft.com/office/powerpoint/2010/main" val="4155531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words belong to multiple parts of speech. "Book" can be a noun ("the book") or a verb ("to book a flight"). "Work" is both a noun and a verb. Pure dictionary lookup chooses only the most frequent tag, often getting context wrong. For example, "I used every day" versus "I used everyday items"—"everyday" is an adjective in the second but "every day" is adverb + noun in the first. A model that uses context and sequence information is needed, and that's exactly what HMMs provide.</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7</a:t>
            </a:fld>
            <a:endParaRPr lang="en-IN"/>
          </a:p>
        </p:txBody>
      </p:sp>
    </p:spTree>
    <p:extLst>
      <p:ext uri="{BB962C8B-B14F-4D97-AF65-F5344CB8AC3E}">
        <p14:creationId xmlns:p14="http://schemas.microsoft.com/office/powerpoint/2010/main" val="14105592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HMM treats POS tags as hidden states and words as observations. It models two things: transition probabilities—how likely one tag follows another—and emission probabilities—how likely a word is generated by a tag. Initial probabilities capture the likelihood of starting a sentence with a given tag. The goal: for a sentence with words w ₁ to w ₙ , find the tag sequence t ₁ to t ₙ that maximizes the probability P(tags | words), which decomposes into the product of transitions and emissions across the sequence</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8</a:t>
            </a:fld>
            <a:endParaRPr lang="en-IN"/>
          </a:p>
        </p:txBody>
      </p:sp>
    </p:spTree>
    <p:extLst>
      <p:ext uri="{BB962C8B-B14F-4D97-AF65-F5344CB8AC3E}">
        <p14:creationId xmlns:p14="http://schemas.microsoft.com/office/powerpoint/2010/main" val="2312923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words W equals w ₁ through w ₙ , we want the tag sequence T that maximizes PT | W. By Bayes' rule, this is proportional to PW | T) times PT) over PW. Since PW) is constant across all tag sequences, we maximize PW | T) times PT. PW | T) is the product of emission probabilities P(wᵢ | tᵢ). PT) is the product of transition probabilities P(tᵢ | tᵢ ₋₁ ). The naive approach—try all possible tag sequences—is exponential and intractable. Viterbi solves this in polynomial time using dynamic programming. Key term: DP Dynamic Programming, a technique that breaks a problem into overlapping subproblems and stores solutions to reuse them instead of recomputing.]</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9</a:t>
            </a:fld>
            <a:endParaRPr lang="en-IN"/>
          </a:p>
        </p:txBody>
      </p:sp>
    </p:spTree>
    <p:extLst>
      <p:ext uri="{BB962C8B-B14F-4D97-AF65-F5344CB8AC3E}">
        <p14:creationId xmlns:p14="http://schemas.microsoft.com/office/powerpoint/2010/main" val="35177562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Viterbi builds a table with rows as positions in the sentence and columns as possible tags. For each word position and tag, we compute the best score: emission probability times the maximum over all previous tags of (previous best score times transition probability). Each cell stores the best score and a </a:t>
            </a:r>
            <a:r>
              <a:rPr lang="en-US" dirty="0" err="1"/>
              <a:t>backpointer</a:t>
            </a:r>
            <a:r>
              <a:rPr lang="en-US" dirty="0"/>
              <a:t> to the best previous tag. After filling the table, we start at the last position with the highest score, follow </a:t>
            </a:r>
            <a:r>
              <a:rPr lang="en-US" dirty="0" err="1"/>
              <a:t>backpointers</a:t>
            </a:r>
            <a:r>
              <a:rPr lang="en-US" dirty="0"/>
              <a:t> backward, and reconstruct the optimal tag sequence. Time complexity is O(n × V_tags²), which is efficient even for long sentences. Key term: </a:t>
            </a:r>
            <a:r>
              <a:rPr lang="en-US" dirty="0" err="1"/>
              <a:t>backpointer</a:t>
            </a:r>
            <a:r>
              <a:rPr lang="en-US" dirty="0"/>
              <a:t> = a saved reference to the best previous tag at each step, used to reconstruct the path later.</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10</a:t>
            </a:fld>
            <a:endParaRPr lang="en-IN"/>
          </a:p>
        </p:txBody>
      </p:sp>
    </p:spTree>
    <p:extLst>
      <p:ext uri="{BB962C8B-B14F-4D97-AF65-F5344CB8AC3E}">
        <p14:creationId xmlns:p14="http://schemas.microsoft.com/office/powerpoint/2010/main" val="41003341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old man the boat." Without context, "man" looks like a noun. But "The old" DET ADJ) is often followed by a noun, and if "man" is tagged VERB, then "the boat" becomes the object. Viterbi picks DETADJVERBDETNOUN as the most probable path because transitions like ADJ-to-VERB and VERB-to-DET have higher joint probability. The best tag sequence is the one where the entire path has the highest probability, not just each word individually.</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11</a:t>
            </a:fld>
            <a:endParaRPr lang="en-IN"/>
          </a:p>
        </p:txBody>
      </p:sp>
    </p:spTree>
    <p:extLst>
      <p:ext uri="{BB962C8B-B14F-4D97-AF65-F5344CB8AC3E}">
        <p14:creationId xmlns:p14="http://schemas.microsoft.com/office/powerpoint/2010/main" val="12670672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 on the Brown Corpus: one of the earliest large hand-tagged English corpora, with over 1 million words, multiple genres, and each word already tagged. We use the universal </a:t>
            </a:r>
            <a:r>
              <a:rPr lang="en-US" dirty="0" err="1"/>
              <a:t>tagset</a:t>
            </a:r>
            <a:r>
              <a:rPr lang="en-US" dirty="0"/>
              <a:t> with 12 coarse tags: NOUN, VERB, DET, ADJ, etc., instead of 50+ fine-grained tags, to reduce sparsity. The corpus is split 9010 into training and test. From tagged sentences, we estimate transition probabilities P(tagᵢ | tagᵢ ₋₁ ) and emission probabilities P(word | tag). A special START symbol marks sentence beginnings. </a:t>
            </a:r>
            <a:r>
              <a:rPr lang="en-US" dirty="0" err="1"/>
              <a:t>V_tags</a:t>
            </a:r>
            <a:r>
              <a:rPr lang="en-US" dirty="0"/>
              <a:t> equals 12; </a:t>
            </a:r>
            <a:r>
              <a:rPr lang="en-US" dirty="0" err="1"/>
              <a:t>V_words</a:t>
            </a:r>
            <a:r>
              <a:rPr lang="en-US" dirty="0"/>
              <a:t> is around 53,690 unique words. Key term: </a:t>
            </a:r>
            <a:r>
              <a:rPr lang="en-US" dirty="0" err="1"/>
              <a:t>V_tags</a:t>
            </a:r>
            <a:r>
              <a:rPr lang="en-US" dirty="0"/>
              <a:t> = vocabulary size of tags 12; </a:t>
            </a:r>
            <a:r>
              <a:rPr lang="en-US" dirty="0" err="1"/>
              <a:t>V_words</a:t>
            </a:r>
            <a:r>
              <a:rPr lang="en-US" dirty="0"/>
              <a:t> = vocabulary size of unique words 53,690.]</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12</a:t>
            </a:fld>
            <a:endParaRPr lang="en-IN"/>
          </a:p>
        </p:txBody>
      </p:sp>
    </p:spTree>
    <p:extLst>
      <p:ext uri="{BB962C8B-B14F-4D97-AF65-F5344CB8AC3E}">
        <p14:creationId xmlns:p14="http://schemas.microsoft.com/office/powerpoint/2010/main" val="9575045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measure accuracy as the fraction of correctly tagged words on the test set. Compare to simple baselines: always assign the most frequent tag ignoring context, or use a unigram or bigram model. HMM with bigram transitions should theoretically improve accuracy by using context. Quantitative evaluation shows where the model succeeds and where sparsity becomes a problem. Common confusion: </a:t>
            </a:r>
            <a:r>
              <a:rPr lang="en-US" dirty="0" err="1"/>
              <a:t>mistagging</a:t>
            </a:r>
            <a:r>
              <a:rPr lang="en-US" dirty="0"/>
              <a:t> rare words or distinguishing noun versus verb in ambiguous contexts</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13</a:t>
            </a:fld>
            <a:endParaRPr lang="en-IN"/>
          </a:p>
        </p:txBody>
      </p:sp>
    </p:spTree>
    <p:extLst>
      <p:ext uri="{BB962C8B-B14F-4D97-AF65-F5344CB8AC3E}">
        <p14:creationId xmlns:p14="http://schemas.microsoft.com/office/powerpoint/2010/main" val="38946164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Maximum Likelihood Estimation, or MLE, estimates probabilities as count(event) divided by count(context). For transitions, that's count(tagᵢ ₋₁ , tagᵢ) divided by count(tagᵢ ₋₁ ). For emissions, count(tag, word) divided by count(tag). The problem: many (tag, tag) bigrams and (tag, word) pairs are never seen in training, so their counts are zero. This leads to probability zero. In a generative sequence model, if even one transition or emission is zero, the entire path probability becomes zero, and Viterbi can't distinguish between paths. This is called the "data sparsity problem"—it leads to model collapse when unseen events dominate. Key term: MLE Maximum Likelihood Estimation; count-based probability without smoothing.]</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14</a:t>
            </a:fld>
            <a:endParaRPr lang="en-IN"/>
          </a:p>
        </p:txBody>
      </p:sp>
    </p:spTree>
    <p:extLst>
      <p:ext uri="{BB962C8B-B14F-4D97-AF65-F5344CB8AC3E}">
        <p14:creationId xmlns:p14="http://schemas.microsoft.com/office/powerpoint/2010/main" val="23613233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Laplace smoothing fixes this by pretending we saw every event at least once. For transitions: </a:t>
            </a:r>
            <a:r>
              <a:rPr lang="en-US" dirty="0" err="1"/>
              <a:t>P_Laplace</a:t>
            </a:r>
            <a:r>
              <a:rPr lang="en-US" dirty="0"/>
              <a:t>(tagᵢ | tagᵢ ₋₁ ) equals (count + 1) divided by (</a:t>
            </a:r>
            <a:r>
              <a:rPr lang="en-US" dirty="0" err="1"/>
              <a:t>total_count</a:t>
            </a:r>
            <a:r>
              <a:rPr lang="en-US" dirty="0"/>
              <a:t> + </a:t>
            </a:r>
            <a:r>
              <a:rPr lang="en-US" dirty="0" err="1"/>
              <a:t>V_tags</a:t>
            </a:r>
            <a:r>
              <a:rPr lang="en-US" dirty="0"/>
              <a:t>). For emissions: </a:t>
            </a:r>
            <a:r>
              <a:rPr lang="en-US" dirty="0" err="1"/>
              <a:t>P_Laplace</a:t>
            </a:r>
            <a:r>
              <a:rPr lang="en-US" dirty="0"/>
              <a:t>(word | tag) equals (count + 1) divided by (</a:t>
            </a:r>
            <a:r>
              <a:rPr lang="en-US" dirty="0" err="1"/>
              <a:t>total_count</a:t>
            </a:r>
            <a:r>
              <a:rPr lang="en-US" dirty="0"/>
              <a:t> + </a:t>
            </a:r>
            <a:r>
              <a:rPr lang="en-US" dirty="0" err="1"/>
              <a:t>V_words</a:t>
            </a:r>
            <a:r>
              <a:rPr lang="en-US" dirty="0"/>
              <a:t>). This adds 1 to the numerator and adds the vocabulary size to the denominator to keep probabilities normalized. Why it works: common events with large counts barely change—0.9940 becomes 0.9833. Rare or unseen events go from zero to a small non-zero value like 0.001. Trade-off: we steal a bit of probability mass from frequent events to give to unseen ones, but this prevents path collapse in Viterbi. Key terms: Laplace smoothing = add-1 smoothing; </a:t>
            </a:r>
            <a:r>
              <a:rPr lang="en-US" dirty="0" err="1"/>
              <a:t>V_tags</a:t>
            </a:r>
            <a:r>
              <a:rPr lang="en-US" dirty="0"/>
              <a:t> and </a:t>
            </a:r>
            <a:r>
              <a:rPr lang="en-US" dirty="0" err="1"/>
              <a:t>V_words</a:t>
            </a:r>
            <a:r>
              <a:rPr lang="en-US" dirty="0"/>
              <a:t> are vocabulary sizes added to denominators.]</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15</a:t>
            </a:fld>
            <a:endParaRPr lang="en-IN"/>
          </a:p>
        </p:txBody>
      </p:sp>
    </p:spTree>
    <p:extLst>
      <p:ext uri="{BB962C8B-B14F-4D97-AF65-F5344CB8AC3E}">
        <p14:creationId xmlns:p14="http://schemas.microsoft.com/office/powerpoint/2010/main" val="6533254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HMM has strong assumptions: Markov assumption means only the previous tag matters, ignoring longer context; emission independence means a word depends only on its tag, not neighboring words. Laplace smoothing is naive—it treats all unseen events equally, even though some are linguistically plausible and others aren't. Fixed bigram context is rigid and doesn't capture long-distance dependencies. Modern approaches use Conditional Random Fields CRFs with richer features, Recurrent Neural Networks RNNs with memory across sequences, and Transformers like BERT with bidirectional context and pre-training on billions of words. Teaching HMM and Viterbi is important because DP and sequence decoding underpin all these modern models. Key terms: CRF Conditional Random Field; RNN Recurrent Neural Network; BERT Bidirectional Encoder Representations from Transformers.] </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16</a:t>
            </a:fld>
            <a:endParaRPr lang="en-IN"/>
          </a:p>
        </p:txBody>
      </p:sp>
    </p:spTree>
    <p:extLst>
      <p:ext uri="{BB962C8B-B14F-4D97-AF65-F5344CB8AC3E}">
        <p14:creationId xmlns:p14="http://schemas.microsoft.com/office/powerpoint/2010/main" val="4529827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how this plays out in code. We'll walk through four models for comparison: Unigram Tagger: most frequent tag per word, no context. Bigram Tagger with backoff: uses previous tag when seen, falls back to unigram otherwise. HMM Tagger: full generative sequence model with transitions and emissions. Treebank Pre-trained baseline): trained on Penn Treebank, mapped to universal tags for comparison. Let's see how each performs on Brown and understand why complexity doesn't always mean better accuracy</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17</a:t>
            </a:fld>
            <a:endParaRPr lang="en-IN"/>
          </a:p>
        </p:txBody>
      </p:sp>
    </p:spTree>
    <p:extLst>
      <p:ext uri="{BB962C8B-B14F-4D97-AF65-F5344CB8AC3E}">
        <p14:creationId xmlns:p14="http://schemas.microsoft.com/office/powerpoint/2010/main" val="26834241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load the Brown corpus with pre-tagged sentences and convert all fine-grained tags into 12 universal tags to simplify the problem. Why 12? Because collapsing tags like NN, NNS, NNP into just NOUN reduces sparsity and makes models easier to train on limited data. We split the data 9010: training gets 51,606 sentences to learn from, and we hold out 5,734 sentences for testing to measure generalization. After loading, we see 12 tags and 53,690 unique words. That's a large vocabulary, which will become a sparsity challenge later. For each word, we count how many times it appears with each tag. This reveals ambiguity: 'like' can be ADP, VERB, or ADJ depending on context. These frequency tables feed directly into our transition and emission count dictionaries for the HMM." Q&amp;A Ready: Q What does </a:t>
            </a:r>
            <a:r>
              <a:rPr lang="en-US" dirty="0" err="1"/>
              <a:t>tagset</a:t>
            </a:r>
            <a:r>
              <a:rPr lang="en-US" dirty="0"/>
              <a:t>='universal' do? A It converts Brown's 50+ fine-grained tags NN, NNS, VBD, etc.) into 12 universal coarse tags NOUN, VERB, ADJ, etc.) to reduce sparsity. Q Why 9010 split specifically? A Standard practice—90% gives enough training examples, 10% is large enough to get reliable test accuracy without wasting data. Q What's </a:t>
            </a:r>
            <a:r>
              <a:rPr lang="en-US" dirty="0" err="1"/>
              <a:t>defaultdict</a:t>
            </a:r>
            <a:r>
              <a:rPr lang="en-US" dirty="0"/>
              <a:t>(lambda: </a:t>
            </a:r>
            <a:r>
              <a:rPr lang="en-US" dirty="0" err="1"/>
              <a:t>defaultdict</a:t>
            </a:r>
            <a:r>
              <a:rPr lang="en-US" dirty="0"/>
              <a:t>(int)) ? A Nested dictionary that automatically initializes missing keys to 0, so you can increment counts without checking if the key exists first. Non-intuitive variable: tuples.</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18</a:t>
            </a:fld>
            <a:endParaRPr lang="en-IN"/>
          </a:p>
        </p:txBody>
      </p:sp>
    </p:spTree>
    <p:extLst>
      <p:ext uri="{BB962C8B-B14F-4D97-AF65-F5344CB8AC3E}">
        <p14:creationId xmlns:p14="http://schemas.microsoft.com/office/powerpoint/2010/main" val="11776663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build the count dictionaries. </a:t>
            </a:r>
            <a:r>
              <a:rPr lang="en-US" dirty="0" err="1"/>
              <a:t>transition_counts</a:t>
            </a:r>
            <a:r>
              <a:rPr lang="en-US" dirty="0"/>
              <a:t> is a nested dictionary: for each previous tag, it counts how often each next tag follows. We use a special START symbol to mark sentence beginnings, so we can estimate P(</a:t>
            </a:r>
            <a:r>
              <a:rPr lang="en-US" dirty="0" err="1"/>
              <a:t>first_tag</a:t>
            </a:r>
            <a:r>
              <a:rPr lang="en-US" dirty="0"/>
              <a:t> | START. </a:t>
            </a:r>
            <a:r>
              <a:rPr lang="en-US" dirty="0" err="1"/>
              <a:t>emission_counts</a:t>
            </a:r>
            <a:r>
              <a:rPr lang="en-US" dirty="0"/>
              <a:t> does the same for word generation: for each tag, count how many times it generates each word. We also track totals: tag, and </a:t>
            </a:r>
            <a:r>
              <a:rPr lang="en-US" dirty="0" err="1"/>
              <a:t>tag_counts_start</a:t>
            </a:r>
            <a:r>
              <a:rPr lang="en-US" dirty="0"/>
              <a:t> sums up all transitions from each </a:t>
            </a:r>
            <a:r>
              <a:rPr lang="en-US" dirty="0" err="1"/>
              <a:t>tag_word_counts</a:t>
            </a:r>
            <a:r>
              <a:rPr lang="en-US" dirty="0"/>
              <a:t> sums all words emitted by each tag. These totals become the denominators in our probability formulas. The vocabularies are </a:t>
            </a:r>
            <a:r>
              <a:rPr lang="en-US" dirty="0" err="1"/>
              <a:t>V_tags</a:t>
            </a:r>
            <a:r>
              <a:rPr lang="en-US" dirty="0"/>
              <a:t> equals 12—only 12 possible tags—and </a:t>
            </a:r>
            <a:r>
              <a:rPr lang="en-US" dirty="0" err="1"/>
              <a:t>V_words</a:t>
            </a:r>
            <a:r>
              <a:rPr lang="en-US" dirty="0"/>
              <a:t> equals 53,690, the entire word vocabulary. These V values are critical for Laplace smoothing, where they get added to denominators to reserve probability mass for unseen events." Q&amp;A Ready: Q Why do we need </a:t>
            </a:r>
            <a:r>
              <a:rPr lang="en-US" dirty="0" err="1"/>
              <a:t>tag_counts_start</a:t>
            </a:r>
            <a:r>
              <a:rPr lang="en-US" dirty="0"/>
              <a:t> ? A It's the total count of all transitions from a given tag, used as the denominator when computing P(</a:t>
            </a:r>
            <a:r>
              <a:rPr lang="en-US" dirty="0" err="1"/>
              <a:t>next_tag</a:t>
            </a:r>
            <a:r>
              <a:rPr lang="en-US" dirty="0"/>
              <a:t> | </a:t>
            </a:r>
            <a:r>
              <a:rPr lang="en-US" dirty="0" err="1"/>
              <a:t>prev_tag</a:t>
            </a:r>
            <a:r>
              <a:rPr lang="en-US" dirty="0"/>
              <a:t>). Q What's the START symbol for? A HMMs need initial probabilities—P(</a:t>
            </a:r>
            <a:r>
              <a:rPr lang="en-US" dirty="0" err="1"/>
              <a:t>first_tag</a:t>
            </a:r>
            <a:r>
              <a:rPr lang="en-US" dirty="0"/>
              <a:t> | START to handle sentence beginnings. Without it, we'd have no way to score the first tag. Q Why is </a:t>
            </a:r>
            <a:r>
              <a:rPr lang="en-US" dirty="0" err="1"/>
              <a:t>V_words</a:t>
            </a:r>
            <a:r>
              <a:rPr lang="en-US" dirty="0"/>
              <a:t> so large? A Brown has 53K unique words but only 1M total tokens, so most words are rare. This sparsity will hurt emission probabilities later. Non-intuitive variables: </a:t>
            </a:r>
            <a:r>
              <a:rPr lang="en-US" dirty="0" err="1"/>
              <a:t>tag_counts_start</a:t>
            </a:r>
            <a:r>
              <a:rPr lang="en-US" dirty="0"/>
              <a:t> = denominator for transitions; denominator for emissions.</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19</a:t>
            </a:fld>
            <a:endParaRPr lang="en-IN"/>
          </a:p>
        </p:txBody>
      </p:sp>
    </p:spTree>
    <p:extLst>
      <p:ext uri="{BB962C8B-B14F-4D97-AF65-F5344CB8AC3E}">
        <p14:creationId xmlns:p14="http://schemas.microsoft.com/office/powerpoint/2010/main" val="8305990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code shows the Laplace smoothing formulas in action. For transitions, we take the count of (</a:t>
            </a:r>
            <a:r>
              <a:rPr lang="en-US" dirty="0" err="1"/>
              <a:t>prev_tag</a:t>
            </a:r>
            <a:r>
              <a:rPr lang="en-US" dirty="0"/>
              <a:t>, tag) and add 1, then divide by the total transitions from </a:t>
            </a:r>
            <a:r>
              <a:rPr lang="en-US" dirty="0" err="1"/>
              <a:t>prev_tag</a:t>
            </a:r>
            <a:r>
              <a:rPr lang="en-US" dirty="0"/>
              <a:t> plus </a:t>
            </a:r>
            <a:r>
              <a:rPr lang="en-US" dirty="0" err="1"/>
              <a:t>V_tags</a:t>
            </a:r>
            <a:r>
              <a:rPr lang="en-US" dirty="0"/>
              <a:t>. So even if a transition was never seen, it gets 0 1) divided by (total + 12, which is small but non-zero. For emissions, same logic: count of (tag, word) plus 1, divided by total words for that tag plus </a:t>
            </a:r>
            <a:r>
              <a:rPr lang="en-US" dirty="0" err="1"/>
              <a:t>V_words</a:t>
            </a:r>
            <a:r>
              <a:rPr lang="en-US" dirty="0"/>
              <a:t>. Because </a:t>
            </a:r>
            <a:r>
              <a:rPr lang="en-US" dirty="0" err="1"/>
              <a:t>V_words</a:t>
            </a:r>
            <a:r>
              <a:rPr lang="en-US" dirty="0"/>
              <a:t> is huge—53,690—even frequent words get smoothed downward significantly. For example, 'the' with DET has a raw count of 58,824, but after smoothing the probability drops because we're adding 53,690 to the denominator. The key insight: Laplace ensures no probability is ever exactly zero, but the trade-off is that it penalizes frequent events slightly and gives unseen events very tiny probabilities. For sparse data, this is essential to keep Viterbi paths from collapsing." Q&amp;A Ready: Q Why does emission smoothing hurt more than transition smoothing? A Because </a:t>
            </a:r>
            <a:r>
              <a:rPr lang="en-US" dirty="0" err="1"/>
              <a:t>V_words</a:t>
            </a:r>
            <a:r>
              <a:rPr lang="en-US" dirty="0"/>
              <a:t> 53,690) is much larger than </a:t>
            </a:r>
            <a:r>
              <a:rPr lang="en-US" dirty="0" err="1"/>
              <a:t>V_tags</a:t>
            </a:r>
            <a:r>
              <a:rPr lang="en-US" dirty="0"/>
              <a:t> 12, so adding </a:t>
            </a:r>
            <a:r>
              <a:rPr lang="en-US" dirty="0" err="1"/>
              <a:t>V_words</a:t>
            </a:r>
            <a:r>
              <a:rPr lang="en-US" dirty="0"/>
              <a:t> to the denominator shrinks probabilities more drastically. Q What if a word never appears in training? A It's an OOV—out-of-vocabulary—word. Laplace gives it probability 0 1 / (</a:t>
            </a:r>
            <a:r>
              <a:rPr lang="en-US" dirty="0" err="1"/>
              <a:t>tag_total</a:t>
            </a:r>
            <a:r>
              <a:rPr lang="en-US" dirty="0"/>
              <a:t> + 53,690 ≈ 0.00002, tiny but not zero. Q Does Laplace treat all unseen events equally? A Yes, that's its weakness. Linguistically plausible unseen bigrams (e.g., DET → ADJ) get the same boost as impossible ones (e.g., DET → CONJ. Better smoothing methods like Kneser-Ney can distinguish these. Non-intuitive term: OOV Out-Of-Vocabulary word, never seen in training.] SLIDE 21 Smoothing Results 30 sec + Q&amp;A ready) Script: "Here's the comparison table. For common transitions like START to DET or DET to NOUN, ML</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20</a:t>
            </a:fld>
            <a:endParaRPr lang="en-IN"/>
          </a:p>
        </p:txBody>
      </p:sp>
    </p:spTree>
    <p:extLst>
      <p:ext uri="{BB962C8B-B14F-4D97-AF65-F5344CB8AC3E}">
        <p14:creationId xmlns:p14="http://schemas.microsoft.com/office/powerpoint/2010/main" val="749277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comparison table. For common transitions like START to DET or DET to NOUN, MLE and Laplace are nearly identical—0.223695 versus 0.223662, barely any difference because counts are large. But for unseen transitions, MLE gives exactly 0.000000, which kills paths in Viterbi. Laplace rescues them: 0.000000 becomes 0.000006—tiny, but non-zero. Same pattern for emissions. 'The' with DET is frequent, so smoothing barely changes it. But '</a:t>
            </a:r>
            <a:r>
              <a:rPr lang="en-US" dirty="0" err="1"/>
              <a:t>unseenword</a:t>
            </a:r>
            <a:r>
              <a:rPr lang="en-US" dirty="0"/>
              <a:t>' with DET has count zero, so MLE gives zero and Laplace gives 0.000006. This tiny rescue is what keeps the HMM functional on test data with unseen words." Q&amp;A Ready: Q Why is the Laplace probability for unseen words so small? A Because </a:t>
            </a:r>
            <a:r>
              <a:rPr lang="en-US" dirty="0" err="1"/>
              <a:t>V_words</a:t>
            </a:r>
            <a:r>
              <a:rPr lang="en-US" dirty="0"/>
              <a:t> is 53,690, so 1 / (total + 53,690 ≈ 0.00002. That's the cost of spreading probability mass over a huge vocabulary. Q Does this mean Laplace solves the sparsity problem? A No, it rescues zero probabilities, but doesn't solve sparsity. The probabilities are still tiny, and multiplying many tiny numbers in Viterbi can still cause numerical underflow or path collapse. Key insight: Frequent events barely change; unseen events jump from 0 to tiny non-zero.]</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21</a:t>
            </a:fld>
            <a:endParaRPr lang="en-IN"/>
          </a:p>
        </p:txBody>
      </p:sp>
    </p:spTree>
    <p:extLst>
      <p:ext uri="{BB962C8B-B14F-4D97-AF65-F5344CB8AC3E}">
        <p14:creationId xmlns:p14="http://schemas.microsoft.com/office/powerpoint/2010/main" val="22701197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heatmap shows the Laplace-smoothed transition matrix. Rows are 'from' tags, columns are 'to' tags. Bright red means high probability—for example, DET to NOUN is 0.624, very common. ADJ to NOUN is 0.660, also strong. Dark blue means rare: NOUN to NOUN is only 0.158 because nouns rarely repeat directly without a determiner or verb in between. Notice the matrix is not symmetric—DET often precedes NOUN, but NOUN rarely precedes DET. This asymmetry captures grammatical structure: determiners introduce noun phrases, so the arrow mostly goes one direction. Light yellow areas show smoothed-but-rare transitions that Laplace keeps non-zero." Q&amp;A Ready: Q Why are some cells bright and others dark? A Syntax: certain tag sequences are grammatically common DET → NOUN, others are rare or impossible CONJ → CONJ. Q What's the diagonal represent? A Self-transitions NOUN → NOUN, VERB → VERB. These are rarer because most sentences alternate between tag types rather than repeating the same tag consecutively. Non-intuitive: matrix is asymmetric because language has directional structure—DET before NOUN, not vice versa.</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22</a:t>
            </a:fld>
            <a:endParaRPr lang="en-IN"/>
          </a:p>
        </p:txBody>
      </p:sp>
    </p:spTree>
    <p:extLst>
      <p:ext uri="{BB962C8B-B14F-4D97-AF65-F5344CB8AC3E}">
        <p14:creationId xmlns:p14="http://schemas.microsoft.com/office/powerpoint/2010/main" val="41685375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train four models. Unigram learns P(tag | word) only—fastest but ignores context. Bigram learns P(tag | </a:t>
            </a:r>
            <a:r>
              <a:rPr lang="en-US" dirty="0" err="1"/>
              <a:t>prev_tag</a:t>
            </a:r>
            <a:r>
              <a:rPr lang="en-US" dirty="0"/>
              <a:t>) and uses backoff=</a:t>
            </a:r>
            <a:r>
              <a:rPr lang="en-US" dirty="0" err="1"/>
              <a:t>unigram_tagger</a:t>
            </a:r>
            <a:r>
              <a:rPr lang="en-US" dirty="0"/>
              <a:t> , meaning if a bigram is unseen, it falls back to the unigram probability. This backoff is crucial for handling sparsity. HMM uses </a:t>
            </a:r>
            <a:r>
              <a:rPr lang="en-US" dirty="0" err="1"/>
              <a:t>HiddenMarkovModelTrainer</a:t>
            </a:r>
            <a:r>
              <a:rPr lang="en-US" dirty="0"/>
              <a:t> , which fits both transitions and emissions from the training data, then uses Viterbi for decoding. Finally, </a:t>
            </a:r>
            <a:r>
              <a:rPr lang="en-US" dirty="0" err="1"/>
              <a:t>TreebankPOS</a:t>
            </a:r>
            <a:r>
              <a:rPr lang="en-US" dirty="0"/>
              <a:t> is </a:t>
            </a:r>
            <a:r>
              <a:rPr lang="en-US" dirty="0" err="1"/>
              <a:t>nltk.pos_tag</a:t>
            </a:r>
            <a:r>
              <a:rPr lang="en-US" dirty="0"/>
              <a:t> , a pre-trained tagger from the Penn Treebank. We map its fine-grained tags to universal with 'universal', tag) so we can compare on the same 12-tag scale." Q&amp;A Ready: Q What does backoff=</a:t>
            </a:r>
            <a:r>
              <a:rPr lang="en-US" dirty="0" err="1"/>
              <a:t>unigram_tagger</a:t>
            </a:r>
            <a:r>
              <a:rPr lang="en-US" dirty="0"/>
              <a:t> do? </a:t>
            </a:r>
            <a:r>
              <a:rPr lang="en-US" dirty="0" err="1"/>
              <a:t>map_tag</a:t>
            </a:r>
            <a:r>
              <a:rPr lang="en-US" dirty="0"/>
              <a:t>('</a:t>
            </a:r>
            <a:r>
              <a:rPr lang="en-US" dirty="0" err="1"/>
              <a:t>en-ptb</a:t>
            </a:r>
            <a:r>
              <a:rPr lang="en-US" dirty="0"/>
              <a:t>', A When the bigram tagger sees a (</a:t>
            </a:r>
            <a:r>
              <a:rPr lang="en-US" dirty="0" err="1"/>
              <a:t>prev_tag</a:t>
            </a:r>
            <a:r>
              <a:rPr lang="en-US" dirty="0"/>
              <a:t>, word) combination it never trained on, it delegates to the unigram tagger, which just picks the most frequent tag for that word. This prevents the bigram model from failing on unseen sequences. Q What is A 'e '</a:t>
            </a:r>
            <a:r>
              <a:rPr lang="en-US" dirty="0" err="1"/>
              <a:t>en-ptb</a:t>
            </a:r>
            <a:r>
              <a:rPr lang="en-US" dirty="0"/>
              <a:t>' in </a:t>
            </a:r>
            <a:r>
              <a:rPr lang="en-US" dirty="0" err="1"/>
              <a:t>map_tag</a:t>
            </a:r>
            <a:r>
              <a:rPr lang="en-US" dirty="0"/>
              <a:t> ? n-</a:t>
            </a:r>
            <a:r>
              <a:rPr lang="en-US" dirty="0" err="1"/>
              <a:t>ptb</a:t>
            </a:r>
            <a:r>
              <a:rPr lang="en-US" dirty="0"/>
              <a:t>' stands for English Penn Treebank </a:t>
            </a:r>
            <a:r>
              <a:rPr lang="en-US" dirty="0" err="1"/>
              <a:t>tagset</a:t>
            </a:r>
            <a:r>
              <a:rPr lang="en-US" dirty="0"/>
              <a:t>. The pre-trained tagger uses PTB's 50+ tags NN, VBD, etc.), and </a:t>
            </a:r>
            <a:r>
              <a:rPr lang="en-US" dirty="0" err="1"/>
              <a:t>map_tag</a:t>
            </a:r>
            <a:r>
              <a:rPr lang="en-US" dirty="0"/>
              <a:t> converts them into universal coarse tags NOUN, VERB) so we can compare apples-to-apples against Brown-trained models. Q Why not just use the Treebank tagger for everything? A Because it's a black box trained on different data. The goal here is to understand HMM internals and see how sparse data affects performance, not just get the highest accuracy. Non-intuitive: '</a:t>
            </a:r>
            <a:r>
              <a:rPr lang="en-US" dirty="0" err="1"/>
              <a:t>en-ptb</a:t>
            </a:r>
            <a:r>
              <a:rPr lang="en-US" dirty="0"/>
              <a:t>' = Penn Treebank English </a:t>
            </a:r>
            <a:r>
              <a:rPr lang="en-US" dirty="0" err="1"/>
              <a:t>tagset</a:t>
            </a:r>
            <a:r>
              <a:rPr lang="en-US" dirty="0"/>
              <a:t> identifier.</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23</a:t>
            </a:fld>
            <a:endParaRPr lang="en-IN"/>
          </a:p>
        </p:txBody>
      </p:sp>
    </p:spTree>
    <p:extLst>
      <p:ext uri="{BB962C8B-B14F-4D97-AF65-F5344CB8AC3E}">
        <p14:creationId xmlns:p14="http://schemas.microsoft.com/office/powerpoint/2010/main" val="39148832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"Unigram is robust because it models P(tag | word) directly—no sequence, so no multiplication of sparse probabilities. For common words like 'the' or 'dog', the most frequent tag is almost always correct, which is why unigram gets 91.56% accuracy. Bigram adds context: P(tag | </a:t>
            </a:r>
            <a:r>
              <a:rPr lang="en-US" dirty="0" err="1"/>
              <a:t>prev_tag</a:t>
            </a:r>
            <a:r>
              <a:rPr lang="en-US" dirty="0"/>
              <a:t>). But with </a:t>
            </a:r>
            <a:r>
              <a:rPr lang="en-US" dirty="0" err="1"/>
              <a:t>V_tags</a:t>
            </a:r>
            <a:r>
              <a:rPr lang="en-US" dirty="0"/>
              <a:t> squared equals 144 possible bigrams and only about 20 observed in Brown, 88% are unseen. The key difference: bigram backoff rescues this. When a bigram is unseen, it doesn't assign zero—it falls back to the unigram P(tag | word), which is reliable. So bigram gets 92.46%—higher than unigram—because it uses context when safe and falls back when sparse. HMM, by contrast, has no fallback. It multiplies sparse transitions and sparse emissions across the whole sentence. Even with Laplace, many products are near-zero, and Viterbi struggles to find good paths. That's why HMM drops to 70.11% despite being theoretically richer." Q&amp;A Ready: Q If HMM models more structure, why does it lose to bigram? A Because HMM is generative—it must model P(tags, words) jointly. Sparse data means many (tag, word) and (</a:t>
            </a:r>
            <a:r>
              <a:rPr lang="en-US" dirty="0" err="1"/>
              <a:t>prev_tag</a:t>
            </a:r>
            <a:r>
              <a:rPr lang="en-US" dirty="0"/>
              <a:t>, tag) pairs have tiny probabilities. Multiplying many tiny numbers collapses the path score. Bigram is discriminative—it only models P(tag | context) and uses backoff, avoiding the multiplication problem. Q What does '88% sparsity' mean? A Out of 144 possible tag bigrams 12 12, only about 20 are actually seen in training. So 124 / 144 ≈ 8688% are unseen, forcing Laplace to assign them very small probabilities. Key insight: Backoff saves bigram; HMM has no such fallback and suffers from path collapse.]</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24</a:t>
            </a:fld>
            <a:endParaRPr lang="en-IN"/>
          </a:p>
        </p:txBody>
      </p:sp>
    </p:spTree>
    <p:extLst>
      <p:ext uri="{BB962C8B-B14F-4D97-AF65-F5344CB8AC3E}">
        <p14:creationId xmlns:p14="http://schemas.microsoft.com/office/powerpoint/2010/main" val="9831627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grid visualizes the DP table. Rows are positions in the sentence—0, 1, 2, etc. Columns are possible tags—DET, NOUN, VERB, etc. Each cell stores the best score for 'ending at this position with this tag'. Initialization fills column 0. Recursion fills columns 1 onward by looking left: for each cell, try all previous tags, multiply previous score by transition probability by emission probability, keep the max. Bright cells have high scores; dark cells have low scores because the path through them is improbable. After filling the table, we backtrack from the best final cell to reconstruct the optimal path." Q&amp;A Ready: Q What's stored in each cell? A Two things: 1) the best score—the highest probability of reaching this (position, tag) pair via any path. 2) a </a:t>
            </a:r>
            <a:r>
              <a:rPr lang="en-US" dirty="0" err="1"/>
              <a:t>backpointer</a:t>
            </a:r>
            <a:r>
              <a:rPr lang="en-US" dirty="0"/>
              <a:t>—which previous tag gave that best score, used later to reconstruct the path. Q Why is this faster than trying all sequences? A Because it's DP—dynamic programming. Instead of exploring </a:t>
            </a:r>
            <a:r>
              <a:rPr lang="en-US" dirty="0" err="1"/>
              <a:t>V_tags^n</a:t>
            </a:r>
            <a:r>
              <a:rPr lang="en-US" dirty="0"/>
              <a:t> possible sequences (exponential), we fill a table of size n × </a:t>
            </a:r>
            <a:r>
              <a:rPr lang="en-US" dirty="0" err="1"/>
              <a:t>V_tags</a:t>
            </a:r>
            <a:r>
              <a:rPr lang="en-US" dirty="0"/>
              <a:t> (linear in sentence length) and reuse previous best scores. Complexity is O(n × V_tags²), polynomial not exponential. Key term: DP table = dynamic programming grid; each cell is (position, tag) pair with best score + </a:t>
            </a:r>
            <a:r>
              <a:rPr lang="en-US" dirty="0" err="1"/>
              <a:t>backpointer</a:t>
            </a:r>
            <a:r>
              <a:rPr lang="en-US" dirty="0"/>
              <a:t>.]</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25</a:t>
            </a:fld>
            <a:endParaRPr lang="en-IN"/>
          </a:p>
        </p:txBody>
      </p:sp>
    </p:spTree>
    <p:extLst>
      <p:ext uri="{BB962C8B-B14F-4D97-AF65-F5344CB8AC3E}">
        <p14:creationId xmlns:p14="http://schemas.microsoft.com/office/powerpoint/2010/main" val="39094865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"Initialization handles the first word. We loop over all 12 tags and compute, for each tag, the emission probability P(word | tag)—how likely this tag generates 'The'—times the transition probability P(tag | START how likely this tag begins a sentence. Multiply them, store the result in </a:t>
            </a:r>
            <a:r>
              <a:rPr lang="en-US" dirty="0" err="1"/>
              <a:t>viterbi</a:t>
            </a:r>
            <a:r>
              <a:rPr lang="en-US" dirty="0"/>
              <a:t>[(0, tag)] , and set </a:t>
            </a:r>
            <a:r>
              <a:rPr lang="en-US" dirty="0" err="1"/>
              <a:t>backptr</a:t>
            </a:r>
            <a:r>
              <a:rPr lang="en-US" dirty="0"/>
              <a:t>[(0, tag)] = None because there's no previous tag yet. Looking at the output: DET has emission 0.017562 'The' is very common with DET—and transition 0.975609 DET is very common at sentence start—so the product is 0.017127, the highest score. NOUN has emission 0.000004 'The' rarely tagged as NOUN—so even though NOUN can start sentences, its product is tiny. After this step, the DP table has its first column filled, with DET clearly winning." Q&amp;A Ready: Q What does </a:t>
            </a:r>
            <a:r>
              <a:rPr lang="en-US" dirty="0" err="1"/>
              <a:t>viterbi</a:t>
            </a:r>
            <a:r>
              <a:rPr lang="en-US" dirty="0"/>
              <a:t>[(0, tag)] represent? A The best score for "the first word is tagged as tag ". At position 0, there's only one path to each tag (directly from START, so 'best' is just the product of emission and initial transition. Q Why is </a:t>
            </a:r>
            <a:r>
              <a:rPr lang="en-US" dirty="0" err="1"/>
              <a:t>backptr</a:t>
            </a:r>
            <a:r>
              <a:rPr lang="en-US" dirty="0"/>
              <a:t>[(0, tag)] = None ? A Because position 0 is the start—there's no previous word or tag to point back to. </a:t>
            </a:r>
            <a:r>
              <a:rPr lang="en-US" dirty="0" err="1"/>
              <a:t>Backpointers</a:t>
            </a:r>
            <a:r>
              <a:rPr lang="en-US" dirty="0"/>
              <a:t> only exist from position 1 onward. Q What if the first word was never seen in training? A Laplace smoothing ensures emission probability is 0 1 / (</a:t>
            </a:r>
            <a:r>
              <a:rPr lang="en-US" dirty="0" err="1"/>
              <a:t>tag_total</a:t>
            </a:r>
            <a:r>
              <a:rPr lang="en-US" dirty="0"/>
              <a:t> + 53690 ≈ 0.00002 for each tag. The model can still proceed, though scores will be very small. Non-intuitive variables: </a:t>
            </a:r>
            <a:r>
              <a:rPr lang="en-US" dirty="0" err="1"/>
              <a:t>viterbi</a:t>
            </a:r>
            <a:r>
              <a:rPr lang="en-US" dirty="0"/>
              <a:t> = </a:t>
            </a:r>
            <a:r>
              <a:rPr lang="en-US" dirty="0" err="1"/>
              <a:t>dict</a:t>
            </a:r>
            <a:r>
              <a:rPr lang="en-US" dirty="0"/>
              <a:t> storing best scores; previous tags.]</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26</a:t>
            </a:fld>
            <a:endParaRPr lang="en-IN"/>
          </a:p>
        </p:txBody>
      </p:sp>
    </p:spTree>
    <p:extLst>
      <p:ext uri="{BB962C8B-B14F-4D97-AF65-F5344CB8AC3E}">
        <p14:creationId xmlns:p14="http://schemas.microsoft.com/office/powerpoint/2010/main" val="37198657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"Recursion fills the rest of the DP table. For each position from 1 to n-1, and for each current tag, we try all possible previous tags. For each previous tag, we take its best score from the previous column, multiply by the transition probability from </a:t>
            </a:r>
            <a:r>
              <a:rPr lang="en-US" dirty="0" err="1"/>
              <a:t>prev_tag</a:t>
            </a:r>
            <a:r>
              <a:rPr lang="en-US" dirty="0"/>
              <a:t> to </a:t>
            </a:r>
            <a:r>
              <a:rPr lang="en-US" dirty="0" err="1"/>
              <a:t>current_tag</a:t>
            </a:r>
            <a:r>
              <a:rPr lang="en-US" dirty="0"/>
              <a:t>, multiply by the emission probability of the current word given </a:t>
            </a:r>
            <a:r>
              <a:rPr lang="en-US" dirty="0" err="1"/>
              <a:t>current_tag</a:t>
            </a:r>
            <a:r>
              <a:rPr lang="en-US" dirty="0"/>
              <a:t>. Whichever previous tag gives the highest product wins—that's the best path to this cell. We store that max score in tag)] and remember the winning previous tag in </a:t>
            </a:r>
            <a:r>
              <a:rPr lang="en-US" dirty="0" err="1"/>
              <a:t>backptr</a:t>
            </a:r>
            <a:r>
              <a:rPr lang="en-US" dirty="0"/>
              <a:t>[(pos, tag)] . </a:t>
            </a:r>
            <a:r>
              <a:rPr lang="en-US" dirty="0" err="1"/>
              <a:t>viterbi</a:t>
            </a:r>
            <a:r>
              <a:rPr lang="en-US" dirty="0"/>
              <a:t>[(pos, Looking at the output for position 1, word 'old': ADJ has the best score 0.000045823 because DET (the previous best tag) transitions strongly to ADJ 0.476, and 'old' is commonly an adjective (emission 0.0056. NOUN has a much lower score because DET to NOUN transition is weaker for this word, and VERB is even worse. This process repeats for each position, building up the full DP grid." Q&amp;A Ready: Q Why loop over all previous tags? A Because we don't know which previous tag gives the best path to the current tag. DP tries all options, keeps the max, and remembers which one won via the </a:t>
            </a:r>
            <a:r>
              <a:rPr lang="en-US" dirty="0" err="1"/>
              <a:t>backpointer</a:t>
            </a:r>
            <a:r>
              <a:rPr lang="en-US" dirty="0"/>
              <a:t>. Q What does </a:t>
            </a:r>
            <a:r>
              <a:rPr lang="en-US" dirty="0" err="1"/>
              <a:t>best_prev</a:t>
            </a:r>
            <a:r>
              <a:rPr lang="en-US" dirty="0"/>
              <a:t> store? A The identity of the previous tag that gave the highest score. For example, if "DET" gave the best path to "ADJ" at position 1, then Q What if </a:t>
            </a:r>
            <a:r>
              <a:rPr lang="en-US" dirty="0" err="1"/>
              <a:t>backptr</a:t>
            </a:r>
            <a:r>
              <a:rPr lang="en-US" dirty="0"/>
              <a:t>[(1, 'ADJ')] = 'DET' . </a:t>
            </a:r>
            <a:r>
              <a:rPr lang="en-US" dirty="0" err="1"/>
              <a:t>prev_score</a:t>
            </a:r>
            <a:r>
              <a:rPr lang="en-US" dirty="0"/>
              <a:t> is extremely small? A Then the product will be even smaller. If all paths have tiny scores, Viterbi picks the "least bad" one. This is what happens in sparse data—paths collapse numerically, and the model may choose an incorrect but slightly-less-unlikely sequence. Key concept: recursion = filling the DP table column by column, left to right, keeping only the best path to each cell.]</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27</a:t>
            </a:fld>
            <a:endParaRPr lang="en-IN"/>
          </a:p>
        </p:txBody>
      </p:sp>
    </p:spTree>
    <p:extLst>
      <p:ext uri="{BB962C8B-B14F-4D97-AF65-F5344CB8AC3E}">
        <p14:creationId xmlns:p14="http://schemas.microsoft.com/office/powerpoint/2010/main" val="10729587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"Backtracking reconstructs the optimal path. First, we find the best final state: at position n-1, we look across all tags and pick the one with the highest score. That's our last tag. Then we follow the </a:t>
            </a:r>
            <a:r>
              <a:rPr lang="en-US" dirty="0" err="1"/>
              <a:t>backpointers</a:t>
            </a:r>
            <a:r>
              <a:rPr lang="en-US" dirty="0"/>
              <a:t>: </a:t>
            </a:r>
            <a:r>
              <a:rPr lang="en-US" dirty="0" err="1"/>
              <a:t>backptr</a:t>
            </a:r>
            <a:r>
              <a:rPr lang="en-US" dirty="0"/>
              <a:t>[(pos, </a:t>
            </a:r>
            <a:r>
              <a:rPr lang="en-US" dirty="0" err="1"/>
              <a:t>current_tag</a:t>
            </a:r>
            <a:r>
              <a:rPr lang="en-US" dirty="0"/>
              <a:t>)] tells us which tag we came from at the previous position. We collect these tags in a list, moving backward from last position to first. Finally, we reverse the list so it's in the correct forward order and pair each word with its tag. Looking at the output: at position 2, NOUN has the highest score, so we start there. </a:t>
            </a:r>
            <a:r>
              <a:rPr lang="en-US" dirty="0" err="1"/>
              <a:t>Backpointer</a:t>
            </a:r>
            <a:r>
              <a:rPr lang="en-US" dirty="0"/>
              <a:t> says NOUN came from ADJ at position 1. ADJ came from DET at position 0. Reversing gives DET, ADJ, NOUN. Pairing with words gives 'The/DET old/ADJ man/NOUN'. This is the single tag sequence with the highest joint probability under the HMM." Q&amp;A Ready: Q Why reverse the list? A Because we collected tags backward—last to first—but we need them in forward sentence order to match the words. Q What if two tags have the same final score? A Ties are rare due to floating-point precision, but if they occur, practice, Laplace smoothing almost always breaks ties. Q Does backtracking recompute probabilities? max picks one arbitrarily. In A No. Backtracking is purely pointer-following—no multiplication or probability calculation. All scores were computed during initialization and recursion; backtracking just reads the stored pointers to recover the path. Key concept: backtracking = following saved pointers backward, then reversing to get the final forward sequence.]</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28</a:t>
            </a:fld>
            <a:endParaRPr lang="en-IN"/>
          </a:p>
        </p:txBody>
      </p:sp>
    </p:spTree>
    <p:extLst>
      <p:ext uri="{BB962C8B-B14F-4D97-AF65-F5344CB8AC3E}">
        <p14:creationId xmlns:p14="http://schemas.microsoft.com/office/powerpoint/2010/main" val="25540211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dirty="0" err="1"/>
              <a:t>treebank_tag_universal</a:t>
            </a:r>
            <a:r>
              <a:rPr lang="en-US" dirty="0"/>
              <a:t> wraps NLTK's pre-trained </a:t>
            </a:r>
            <a:r>
              <a:rPr lang="en-US" dirty="0" err="1"/>
              <a:t>pos_tag</a:t>
            </a:r>
            <a:r>
              <a:rPr lang="en-US" dirty="0"/>
              <a:t> , which uses an averaged perceptron tagger trained on millions of Penn Treebank words. It assigns fine-grained PTB tags like NNP, VBD. We then map each PTB tag to universal with can compare on the same 12-tag space as Brown. </a:t>
            </a:r>
            <a:r>
              <a:rPr lang="en-US" dirty="0" err="1"/>
              <a:t>map_tag</a:t>
            </a:r>
            <a:r>
              <a:rPr lang="en-US" dirty="0"/>
              <a:t>('</a:t>
            </a:r>
            <a:r>
              <a:rPr lang="en-US" dirty="0" err="1"/>
              <a:t>en-ptb</a:t>
            </a:r>
            <a:r>
              <a:rPr lang="en-US" dirty="0"/>
              <a:t>', 'universal', tag) so we </a:t>
            </a:r>
            <a:r>
              <a:rPr lang="en-US" dirty="0" err="1"/>
              <a:t>treebank_accuracy</a:t>
            </a:r>
            <a:r>
              <a:rPr lang="en-US" dirty="0"/>
              <a:t> loops over the test set, extracts words, gets predicted universal tags from the Treebank tagger, and compares them to the gold Brown tags. It counts correct matches and divides by total to get accuracy. This gives us an external strong baseline: a model trained on different, larger data, using richer features, to see how our simple Brown-trained models stack up." Q&amp;A Ready: Q What does '</a:t>
            </a:r>
            <a:r>
              <a:rPr lang="en-US" dirty="0" err="1"/>
              <a:t>en-ptb</a:t>
            </a:r>
            <a:r>
              <a:rPr lang="en-US" dirty="0"/>
              <a:t>' mean again? A English Penn Treebank. It's the source </a:t>
            </a:r>
            <a:r>
              <a:rPr lang="en-US" dirty="0" err="1"/>
              <a:t>tagset</a:t>
            </a:r>
            <a:r>
              <a:rPr lang="en-US" dirty="0"/>
              <a:t> identifier. from PTB tags to universal tags." </a:t>
            </a:r>
            <a:r>
              <a:rPr lang="en-US" dirty="0" err="1"/>
              <a:t>map_tag</a:t>
            </a:r>
            <a:r>
              <a:rPr lang="en-US" dirty="0"/>
              <a:t> needs to know "convert Q Why is Treebank a 'strong baseline'? A Because it's trained on far more data Penn Treebank is huge), uses complex features (word shapes, suffixes, etc.), and is widely used in NLP. If our simple bigram model beats it, that's impressive. Q Isn't it unfair to compare Treebank (trained on PTB) to HMM (trained on Brown)? A Yes and no. The comparison shows that data and features matter as much as model complexity. Even though Treebank has richer training, it only gets 90.22% on Brown test, barely beating unigram. That tells us Brown's </a:t>
            </a:r>
            <a:r>
              <a:rPr lang="en-US" dirty="0" err="1"/>
              <a:t>tagset</a:t>
            </a:r>
            <a:r>
              <a:rPr lang="en-US" dirty="0"/>
              <a:t> and domain are well-handled by simple models, and HMM's underperformance is due to sparsity, not because the task is too hard. Non-intuitive: </a:t>
            </a:r>
            <a:r>
              <a:rPr lang="en-US" dirty="0" err="1"/>
              <a:t>map_tag</a:t>
            </a:r>
            <a:r>
              <a:rPr lang="en-US" dirty="0"/>
              <a:t> = tag conversion function; </a:t>
            </a:r>
            <a:r>
              <a:rPr lang="en-US" dirty="0" err="1"/>
              <a:t>gold_tags</a:t>
            </a:r>
            <a:r>
              <a:rPr lang="en-US" dirty="0"/>
              <a:t> = true labels from Brown corpus.</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29</a:t>
            </a:fld>
            <a:endParaRPr lang="en-IN"/>
          </a:p>
        </p:txBody>
      </p:sp>
    </p:spTree>
    <p:extLst>
      <p:ext uri="{BB962C8B-B14F-4D97-AF65-F5344CB8AC3E}">
        <p14:creationId xmlns:p14="http://schemas.microsoft.com/office/powerpoint/2010/main" val="3384154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final scoreboard. Unigram: 91.56%—solid baseline, no context. Bigram: 92.46% best overall, uses context with backoff fallback. HMM 70.11%—worst, despite modeling more structure. </a:t>
            </a:r>
            <a:r>
              <a:rPr lang="en-US" dirty="0" err="1"/>
              <a:t>TreebankPOS</a:t>
            </a:r>
            <a:r>
              <a:rPr lang="en-US" dirty="0"/>
              <a:t> 90.22%—pre-trained external baseline, slightly below bigram on Brown test. The bar chart visualizes this. Bigram narrowly beats Treebank, showing that simple discriminative backoff is already near-optimal for POS on standard corpora. HMM's collapse to 70% is striking—it shows that generative models on sparse data with naive smoothing can underperform simpler approaches. The table also shows speed and context: HMM is slowest (dynamic programming), bigram is medium (lookup + fallback), unigram is fastest (pure lookup). Context: unigram has none, bigram has one-step backoff, HMM has full sequence, Treebank has complex rules." Q&amp;A Ready: Q Why does bigram beat the pre-trained Treebank tagger? A Treebank was trained on Penn Treebank, which is news-heavy, while Brown is more balanced. Bigram is trained directly on Brown, so it's domain-matched. Also, Treebank's fine-to-universal tag mapping may introduce errors. Q If HMM is theoretically superior, why does it perform worst? A Because theory assumes sufficient data. Brown has 1M tokens but 53K words and 144 possible bigrams—most are rare or unseen. HMM multiplies many sparse probabilities, and even with Laplace, paths collapse. Bigram avoids this with backoff. This is empirical proof that model complexity must match data scale. Q Should we ever use HMM then? A Yes, when you have richer data, better smoothing Kneser-Ney, interpolation), or hidden structure (unsupervised learning). HMM also teaches the DP framework, which underpins CRFs, RNNs, and modern sequence models. Key takeaway: Bigram wins empirically; HMM teaches conceptual foundations.]</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30</a:t>
            </a:fld>
            <a:endParaRPr lang="en-IN"/>
          </a:p>
        </p:txBody>
      </p:sp>
    </p:spTree>
    <p:extLst>
      <p:ext uri="{BB962C8B-B14F-4D97-AF65-F5344CB8AC3E}">
        <p14:creationId xmlns:p14="http://schemas.microsoft.com/office/powerpoint/2010/main" val="12712202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task, bigram wins; HMM shows how sparsity breaks generative models. Simple discriminative backoff beats complex generative on limited data. Why HMM still matters: it's the foundation for modern sequence models—RNNs reuse the idea of hidden states, Transformers reuse attention over sequences. Framework for unsupervised learning when tags are scarce— Baum-Welch EM can train HMM from raw text. Optimal for problems with richer hidden structure like speech recognition, gene finding, dialogue state tracking. Therefore, HMM is important to understand the language and tools for much harder problems than POS tagging on Brown.</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31</a:t>
            </a:fld>
            <a:endParaRPr lang="en-IN"/>
          </a:p>
        </p:txBody>
      </p:sp>
    </p:spTree>
    <p:extLst>
      <p:ext uri="{BB962C8B-B14F-4D97-AF65-F5344CB8AC3E}">
        <p14:creationId xmlns:p14="http://schemas.microsoft.com/office/powerpoint/2010/main" val="42518790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POS tagging assigns grammatical roles to words, resolving many ambiguities in English. Hidden Markov Models treat tags as hidden states, words as observations, and use transition and emission probabilities. Viterbi algorithm efficiently finds the most probable tag sequence using dynamic programming—build a table, fill it left-to-right, backtrack from the best final cell. Training on tagged corpora like Brown lets us learn these probabilities. HMM taggers are interpretable, conceptually clean, and a key stepping stone to modern neural NLP models. Thank you.</a:t>
            </a:r>
            <a:endParaRPr lang="en-IN" dirty="0"/>
          </a:p>
        </p:txBody>
      </p:sp>
      <p:sp>
        <p:nvSpPr>
          <p:cNvPr id="4" name="Slide Number Placeholder 3"/>
          <p:cNvSpPr>
            <a:spLocks noGrp="1"/>
          </p:cNvSpPr>
          <p:nvPr>
            <p:ph type="sldNum" sz="quarter" idx="5"/>
          </p:nvPr>
        </p:nvSpPr>
        <p:spPr/>
        <p:txBody>
          <a:bodyPr/>
          <a:lstStyle/>
          <a:p>
            <a:fld id="{486D6D36-B54F-4EF4-A0D0-8F246397D1E3}" type="slidenum">
              <a:rPr lang="en-IN" smtClean="0"/>
              <a:t>32</a:t>
            </a:fld>
            <a:endParaRPr lang="en-IN"/>
          </a:p>
        </p:txBody>
      </p:sp>
    </p:spTree>
    <p:extLst>
      <p:ext uri="{BB962C8B-B14F-4D97-AF65-F5344CB8AC3E}">
        <p14:creationId xmlns:p14="http://schemas.microsoft.com/office/powerpoint/2010/main" val="3053740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5D4DB4-B783-41FE-943C-6DB9A568304A}" type="datetime1">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AB36C4-4A00-4490-8C6E-D4776DE94668}" type="slidenum">
              <a:rPr lang="en-IN" smtClean="0"/>
              <a:t>‹#›</a:t>
            </a:fld>
            <a:endParaRPr lang="en-IN"/>
          </a:p>
        </p:txBody>
      </p:sp>
    </p:spTree>
    <p:extLst>
      <p:ext uri="{BB962C8B-B14F-4D97-AF65-F5344CB8AC3E}">
        <p14:creationId xmlns:p14="http://schemas.microsoft.com/office/powerpoint/2010/main" val="1934549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D97B99-81D3-417A-B217-AE0DACF85DA1}" type="datetime1">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AB36C4-4A00-4490-8C6E-D4776DE94668}" type="slidenum">
              <a:rPr lang="en-IN" smtClean="0"/>
              <a:t>‹#›</a:t>
            </a:fld>
            <a:endParaRPr lang="en-IN"/>
          </a:p>
        </p:txBody>
      </p:sp>
    </p:spTree>
    <p:extLst>
      <p:ext uri="{BB962C8B-B14F-4D97-AF65-F5344CB8AC3E}">
        <p14:creationId xmlns:p14="http://schemas.microsoft.com/office/powerpoint/2010/main" val="2023513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659361-E317-40F1-8F8E-0F43AD8D2522}" type="datetime1">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AB36C4-4A00-4490-8C6E-D4776DE94668}" type="slidenum">
              <a:rPr lang="en-IN" smtClean="0"/>
              <a:t>‹#›</a:t>
            </a:fld>
            <a:endParaRPr lang="en-IN"/>
          </a:p>
        </p:txBody>
      </p:sp>
    </p:spTree>
    <p:extLst>
      <p:ext uri="{BB962C8B-B14F-4D97-AF65-F5344CB8AC3E}">
        <p14:creationId xmlns:p14="http://schemas.microsoft.com/office/powerpoint/2010/main" val="3297661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59AD5F9-BB11-4921-ACBA-F9D4A0018529}" type="datetime1">
              <a:rPr lang="en-IN" smtClean="0"/>
              <a:t>14-12-2025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9AB36C4-4A00-4490-8C6E-D4776DE94668}" type="slidenum">
              <a:rPr lang="en-IN" smtClean="0"/>
              <a:t>‹#›</a:t>
            </a:fld>
            <a:endParaRPr lang="en-IN"/>
          </a:p>
        </p:txBody>
      </p:sp>
    </p:spTree>
    <p:extLst>
      <p:ext uri="{BB962C8B-B14F-4D97-AF65-F5344CB8AC3E}">
        <p14:creationId xmlns:p14="http://schemas.microsoft.com/office/powerpoint/2010/main" val="1308577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203BCAD-D50C-4794-894F-C2AA2B212D2E}" type="datetime1">
              <a:rPr lang="en-IN" smtClean="0"/>
              <a:t>14-12-2025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9AB36C4-4A00-4490-8C6E-D4776DE94668}" type="slidenum">
              <a:rPr lang="en-IN" smtClean="0"/>
              <a:t>‹#›</a:t>
            </a:fld>
            <a:endParaRPr lang="en-IN"/>
          </a:p>
        </p:txBody>
      </p:sp>
    </p:spTree>
    <p:extLst>
      <p:ext uri="{BB962C8B-B14F-4D97-AF65-F5344CB8AC3E}">
        <p14:creationId xmlns:p14="http://schemas.microsoft.com/office/powerpoint/2010/main" val="3416073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A35856-AEF1-42C6-ABEC-651AD59A20C1}" type="datetime1">
              <a:rPr lang="en-IN" smtClean="0"/>
              <a:t>14-12-2025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9AB36C4-4A00-4490-8C6E-D4776DE94668}" type="slidenum">
              <a:rPr lang="en-IN" smtClean="0"/>
              <a:t>‹#›</a:t>
            </a:fld>
            <a:endParaRPr lang="en-IN"/>
          </a:p>
        </p:txBody>
      </p:sp>
    </p:spTree>
    <p:extLst>
      <p:ext uri="{BB962C8B-B14F-4D97-AF65-F5344CB8AC3E}">
        <p14:creationId xmlns:p14="http://schemas.microsoft.com/office/powerpoint/2010/main" val="1855178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EB27C0-6571-4546-ABB6-83B0EDF661E7}" type="datetime1">
              <a:rPr lang="en-IN" smtClean="0"/>
              <a:t>14-12-2025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9AB36C4-4A00-4490-8C6E-D4776DE94668}" type="slidenum">
              <a:rPr lang="en-IN" smtClean="0"/>
              <a:t>‹#›</a:t>
            </a:fld>
            <a:endParaRPr lang="en-IN"/>
          </a:p>
        </p:txBody>
      </p:sp>
    </p:spTree>
    <p:extLst>
      <p:ext uri="{BB962C8B-B14F-4D97-AF65-F5344CB8AC3E}">
        <p14:creationId xmlns:p14="http://schemas.microsoft.com/office/powerpoint/2010/main" val="3345411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C6E6444-1A13-4D90-B77F-87B9089BB1CB}" type="datetime1">
              <a:rPr lang="en-IN" smtClean="0"/>
              <a:t>14-12-2025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9AB36C4-4A00-4490-8C6E-D4776DE94668}" type="slidenum">
              <a:rPr lang="en-IN" smtClean="0"/>
              <a:t>‹#›</a:t>
            </a:fld>
            <a:endParaRPr lang="en-IN"/>
          </a:p>
        </p:txBody>
      </p:sp>
    </p:spTree>
    <p:extLst>
      <p:ext uri="{BB962C8B-B14F-4D97-AF65-F5344CB8AC3E}">
        <p14:creationId xmlns:p14="http://schemas.microsoft.com/office/powerpoint/2010/main" val="3958720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04BF1E-7F66-42A2-BA0D-050840F4F6EB}" type="datetime1">
              <a:rPr lang="en-IN" smtClean="0"/>
              <a:t>14-12-2025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9AB36C4-4A00-4490-8C6E-D4776DE94668}" type="slidenum">
              <a:rPr lang="en-IN" smtClean="0"/>
              <a:t>‹#›</a:t>
            </a:fld>
            <a:endParaRPr lang="en-IN"/>
          </a:p>
        </p:txBody>
      </p:sp>
    </p:spTree>
    <p:extLst>
      <p:ext uri="{BB962C8B-B14F-4D97-AF65-F5344CB8AC3E}">
        <p14:creationId xmlns:p14="http://schemas.microsoft.com/office/powerpoint/2010/main" val="2369956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F844F5-C1E3-4A21-B3F3-CE6247257F9C}" type="datetime1">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AB36C4-4A00-4490-8C6E-D4776DE94668}" type="slidenum">
              <a:rPr lang="en-IN" smtClean="0"/>
              <a:t>‹#›</a:t>
            </a:fld>
            <a:endParaRPr lang="en-IN"/>
          </a:p>
        </p:txBody>
      </p:sp>
    </p:spTree>
    <p:extLst>
      <p:ext uri="{BB962C8B-B14F-4D97-AF65-F5344CB8AC3E}">
        <p14:creationId xmlns:p14="http://schemas.microsoft.com/office/powerpoint/2010/main" val="2485049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B03172-5EEB-4842-AFC2-4F8BBBBC7877}" type="datetime1">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AB36C4-4A00-4490-8C6E-D4776DE94668}" type="slidenum">
              <a:rPr lang="en-IN" smtClean="0"/>
              <a:t>‹#›</a:t>
            </a:fld>
            <a:endParaRPr lang="en-IN"/>
          </a:p>
        </p:txBody>
      </p:sp>
    </p:spTree>
    <p:extLst>
      <p:ext uri="{BB962C8B-B14F-4D97-AF65-F5344CB8AC3E}">
        <p14:creationId xmlns:p14="http://schemas.microsoft.com/office/powerpoint/2010/main" val="425547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8F24A067-3EA5-45CB-81B9-5AB5F98F512E}" type="datetime1">
              <a:rPr lang="en-IN" smtClean="0"/>
              <a:t>14-12-2025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D9AB36C4-4A00-4490-8C6E-D4776DE94668}" type="slidenum">
              <a:rPr lang="en-IN" smtClean="0"/>
              <a:t>‹#›</a:t>
            </a:fld>
            <a:endParaRPr lang="en-IN"/>
          </a:p>
        </p:txBody>
      </p:sp>
    </p:spTree>
    <p:extLst>
      <p:ext uri="{BB962C8B-B14F-4D97-AF65-F5344CB8AC3E}">
        <p14:creationId xmlns:p14="http://schemas.microsoft.com/office/powerpoint/2010/main" val="154682851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James_while_John_had_had_had_had_had_had_had_had_had_had_had_a_better_effect_on_the_teacher"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568B7-DEBB-60BC-0416-66E800D1B39A}"/>
              </a:ext>
            </a:extLst>
          </p:cNvPr>
          <p:cNvSpPr>
            <a:spLocks noGrp="1"/>
          </p:cNvSpPr>
          <p:nvPr>
            <p:ph type="ctrTitle"/>
          </p:nvPr>
        </p:nvSpPr>
        <p:spPr/>
        <p:txBody>
          <a:bodyPr/>
          <a:lstStyle/>
          <a:p>
            <a:r>
              <a:rPr lang="en-IN" dirty="0"/>
              <a:t>Hidden Markov Models and POS Tagging</a:t>
            </a:r>
          </a:p>
        </p:txBody>
      </p:sp>
      <p:sp>
        <p:nvSpPr>
          <p:cNvPr id="3" name="Subtitle 2">
            <a:extLst>
              <a:ext uri="{FF2B5EF4-FFF2-40B4-BE49-F238E27FC236}">
                <a16:creationId xmlns:a16="http://schemas.microsoft.com/office/drawing/2014/main" id="{33789365-4CD8-57D3-436B-655E7A02BB00}"/>
              </a:ext>
            </a:extLst>
          </p:cNvPr>
          <p:cNvSpPr>
            <a:spLocks noGrp="1"/>
          </p:cNvSpPr>
          <p:nvPr>
            <p:ph type="subTitle" idx="1"/>
          </p:nvPr>
        </p:nvSpPr>
        <p:spPr>
          <a:xfrm>
            <a:off x="1524000" y="3992563"/>
            <a:ext cx="9144000" cy="1655762"/>
          </a:xfrm>
        </p:spPr>
        <p:txBody>
          <a:bodyPr>
            <a:normAutofit fontScale="77500" lnSpcReduction="20000"/>
          </a:bodyPr>
          <a:lstStyle/>
          <a:p>
            <a:r>
              <a:rPr lang="en-IN" sz="2600" i="1" dirty="0"/>
              <a:t>Natural Language Processing</a:t>
            </a:r>
          </a:p>
          <a:p>
            <a:r>
              <a:rPr lang="en-IN" sz="2600" i="1" dirty="0"/>
              <a:t>Individual Assignment</a:t>
            </a:r>
          </a:p>
          <a:p>
            <a:endParaRPr lang="en-IN" dirty="0"/>
          </a:p>
          <a:p>
            <a:r>
              <a:rPr lang="en-IN" dirty="0"/>
              <a:t>Arnav Mallick</a:t>
            </a:r>
          </a:p>
          <a:p>
            <a:r>
              <a:rPr lang="en-IN" dirty="0"/>
              <a:t>M2022BSASS005</a:t>
            </a:r>
          </a:p>
        </p:txBody>
      </p:sp>
    </p:spTree>
    <p:extLst>
      <p:ext uri="{BB962C8B-B14F-4D97-AF65-F5344CB8AC3E}">
        <p14:creationId xmlns:p14="http://schemas.microsoft.com/office/powerpoint/2010/main" val="1823900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1EE32-31C1-E23F-70B4-E00CD127A464}"/>
              </a:ext>
            </a:extLst>
          </p:cNvPr>
          <p:cNvSpPr>
            <a:spLocks noGrp="1"/>
          </p:cNvSpPr>
          <p:nvPr>
            <p:ph type="title"/>
          </p:nvPr>
        </p:nvSpPr>
        <p:spPr/>
        <p:txBody>
          <a:bodyPr/>
          <a:lstStyle/>
          <a:p>
            <a:r>
              <a:rPr lang="en-IN" dirty="0"/>
              <a:t>Outline of presentation</a:t>
            </a:r>
          </a:p>
        </p:txBody>
      </p:sp>
      <p:sp>
        <p:nvSpPr>
          <p:cNvPr id="3" name="Content Placeholder 2">
            <a:extLst>
              <a:ext uri="{FF2B5EF4-FFF2-40B4-BE49-F238E27FC236}">
                <a16:creationId xmlns:a16="http://schemas.microsoft.com/office/drawing/2014/main" id="{A94F63CF-E903-858E-AB6E-F269722C55EE}"/>
              </a:ext>
            </a:extLst>
          </p:cNvPr>
          <p:cNvSpPr>
            <a:spLocks noGrp="1"/>
          </p:cNvSpPr>
          <p:nvPr>
            <p:ph idx="1"/>
          </p:nvPr>
        </p:nvSpPr>
        <p:spPr>
          <a:xfrm>
            <a:off x="838200" y="1825625"/>
            <a:ext cx="10515600" cy="4351338"/>
          </a:xfrm>
        </p:spPr>
        <p:txBody>
          <a:bodyPr/>
          <a:lstStyle/>
          <a:p>
            <a:pPr marL="514350" indent="-514350">
              <a:buFont typeface="+mj-lt"/>
              <a:buAutoNum type="arabicPeriod"/>
            </a:pPr>
            <a:r>
              <a:rPr lang="en-IN" dirty="0"/>
              <a:t>Motivation: Why POS tagging is necessary</a:t>
            </a:r>
          </a:p>
          <a:p>
            <a:pPr marL="514350" indent="-514350">
              <a:buFont typeface="+mj-lt"/>
              <a:buAutoNum type="arabicPeriod"/>
            </a:pPr>
            <a:r>
              <a:rPr lang="en-IN" dirty="0"/>
              <a:t>Part-of-Speech (POS) tagging: task and challenges</a:t>
            </a:r>
          </a:p>
          <a:p>
            <a:pPr marL="514350" indent="-514350">
              <a:buFont typeface="+mj-lt"/>
              <a:buAutoNum type="arabicPeriod"/>
            </a:pPr>
            <a:r>
              <a:rPr lang="en-IN" dirty="0"/>
              <a:t>Hidden Markov Models (HMMs) for POS tagging</a:t>
            </a:r>
          </a:p>
          <a:p>
            <a:pPr marL="514350" indent="-514350">
              <a:buFont typeface="+mj-lt"/>
              <a:buAutoNum type="arabicPeriod"/>
            </a:pPr>
            <a:r>
              <a:rPr lang="en-IN" dirty="0"/>
              <a:t>Viterbi algorithm for best tag sequence</a:t>
            </a:r>
          </a:p>
          <a:p>
            <a:pPr marL="514350" indent="-514350">
              <a:buFont typeface="+mj-lt"/>
              <a:buAutoNum type="arabicPeriod"/>
            </a:pPr>
            <a:r>
              <a:rPr lang="en-IN" dirty="0"/>
              <a:t>Training with the Brown corpus</a:t>
            </a:r>
          </a:p>
          <a:p>
            <a:pPr marL="514350" indent="-514350">
              <a:buFont typeface="+mj-lt"/>
              <a:buAutoNum type="arabicPeriod"/>
            </a:pPr>
            <a:r>
              <a:rPr lang="en-IN" dirty="0"/>
              <a:t>Code walkthrough and demo</a:t>
            </a:r>
          </a:p>
          <a:p>
            <a:pPr marL="514350" indent="-514350">
              <a:buFont typeface="+mj-lt"/>
              <a:buAutoNum type="arabicPeriod"/>
            </a:pPr>
            <a:r>
              <a:rPr lang="en-IN" dirty="0"/>
              <a:t>Evaluation and limitations</a:t>
            </a:r>
          </a:p>
          <a:p>
            <a:pPr marL="514350" indent="-514350">
              <a:buFont typeface="+mj-lt"/>
              <a:buAutoNum type="arabicPeriod"/>
            </a:pPr>
            <a:endParaRPr lang="en-IN" dirty="0"/>
          </a:p>
          <a:p>
            <a:endParaRPr lang="en-IN" dirty="0"/>
          </a:p>
        </p:txBody>
      </p:sp>
      <p:sp>
        <p:nvSpPr>
          <p:cNvPr id="4" name="Slide Number Placeholder 3">
            <a:extLst>
              <a:ext uri="{FF2B5EF4-FFF2-40B4-BE49-F238E27FC236}">
                <a16:creationId xmlns:a16="http://schemas.microsoft.com/office/drawing/2014/main" id="{C8AB649B-3C9A-FEEF-B783-6E4BA7C40643}"/>
              </a:ext>
            </a:extLst>
          </p:cNvPr>
          <p:cNvSpPr>
            <a:spLocks noGrp="1"/>
          </p:cNvSpPr>
          <p:nvPr>
            <p:ph type="sldNum" sz="quarter" idx="12"/>
          </p:nvPr>
        </p:nvSpPr>
        <p:spPr/>
        <p:txBody>
          <a:bodyPr/>
          <a:lstStyle/>
          <a:p>
            <a:fld id="{D9AB36C4-4A00-4490-8C6E-D4776DE94668}" type="slidenum">
              <a:rPr lang="en-IN" smtClean="0"/>
              <a:t>2</a:t>
            </a:fld>
            <a:endParaRPr lang="en-IN"/>
          </a:p>
        </p:txBody>
      </p:sp>
    </p:spTree>
    <p:extLst>
      <p:ext uri="{BB962C8B-B14F-4D97-AF65-F5344CB8AC3E}">
        <p14:creationId xmlns:p14="http://schemas.microsoft.com/office/powerpoint/2010/main" val="774533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7D9C4-3FE9-6C1F-4AC7-7E5D690B08DE}"/>
              </a:ext>
            </a:extLst>
          </p:cNvPr>
          <p:cNvSpPr>
            <a:spLocks noGrp="1"/>
          </p:cNvSpPr>
          <p:nvPr>
            <p:ph type="title"/>
          </p:nvPr>
        </p:nvSpPr>
        <p:spPr/>
        <p:txBody>
          <a:bodyPr/>
          <a:lstStyle/>
          <a:p>
            <a:r>
              <a:rPr lang="en-IN" dirty="0"/>
              <a:t>English can be confusing</a:t>
            </a:r>
          </a:p>
        </p:txBody>
      </p:sp>
      <p:sp>
        <p:nvSpPr>
          <p:cNvPr id="3" name="Content Placeholder 2">
            <a:extLst>
              <a:ext uri="{FF2B5EF4-FFF2-40B4-BE49-F238E27FC236}">
                <a16:creationId xmlns:a16="http://schemas.microsoft.com/office/drawing/2014/main" id="{C101651E-33C2-D7D2-1BAC-E990A831C5C6}"/>
              </a:ext>
            </a:extLst>
          </p:cNvPr>
          <p:cNvSpPr>
            <a:spLocks noGrp="1"/>
          </p:cNvSpPr>
          <p:nvPr>
            <p:ph idx="1"/>
          </p:nvPr>
        </p:nvSpPr>
        <p:spPr>
          <a:xfrm>
            <a:off x="838200" y="1835150"/>
            <a:ext cx="10515600" cy="4351338"/>
          </a:xfrm>
        </p:spPr>
        <p:txBody>
          <a:bodyPr/>
          <a:lstStyle/>
          <a:p>
            <a:r>
              <a:rPr lang="en-US" dirty="0"/>
              <a:t>Imagine this scenario:</a:t>
            </a:r>
          </a:p>
          <a:p>
            <a:pPr lvl="1"/>
            <a:r>
              <a:rPr lang="en-US" dirty="0"/>
              <a:t>Two students, James and John, are asked by their English teacher to describe a man who had suffered from a cold in the past.</a:t>
            </a:r>
          </a:p>
          <a:p>
            <a:pPr lvl="1"/>
            <a:r>
              <a:rPr lang="en-US" dirty="0"/>
              <a:t>John writes: “The man had a cold.” – marked incorrect.</a:t>
            </a:r>
          </a:p>
          <a:p>
            <a:pPr lvl="1"/>
            <a:r>
              <a:rPr lang="en-US" dirty="0"/>
              <a:t>James writes: “The man had had a cold.” – marked correct.</a:t>
            </a:r>
          </a:p>
          <a:p>
            <a:pPr lvl="1"/>
            <a:r>
              <a:rPr lang="en-US" dirty="0"/>
              <a:t>James’s answer, being more grammatical, creates a better impression on the teacher.</a:t>
            </a:r>
          </a:p>
          <a:p>
            <a:r>
              <a:rPr lang="en-US" dirty="0"/>
              <a:t>Question:</a:t>
            </a:r>
            <a:br>
              <a:rPr lang="en-US" dirty="0"/>
            </a:br>
            <a:r>
              <a:rPr lang="en-US" dirty="0"/>
              <a:t>How would you describe this entire situation in one sentence?</a:t>
            </a:r>
          </a:p>
          <a:p>
            <a:endParaRPr lang="en-IN" dirty="0"/>
          </a:p>
        </p:txBody>
      </p:sp>
      <p:sp>
        <p:nvSpPr>
          <p:cNvPr id="4" name="Slide Number Placeholder 3">
            <a:extLst>
              <a:ext uri="{FF2B5EF4-FFF2-40B4-BE49-F238E27FC236}">
                <a16:creationId xmlns:a16="http://schemas.microsoft.com/office/drawing/2014/main" id="{2C6C122C-3B17-3F39-3B23-D2C52BF0B9D1}"/>
              </a:ext>
            </a:extLst>
          </p:cNvPr>
          <p:cNvSpPr>
            <a:spLocks noGrp="1"/>
          </p:cNvSpPr>
          <p:nvPr>
            <p:ph type="sldNum" sz="quarter" idx="12"/>
          </p:nvPr>
        </p:nvSpPr>
        <p:spPr/>
        <p:txBody>
          <a:bodyPr/>
          <a:lstStyle/>
          <a:p>
            <a:fld id="{D9AB36C4-4A00-4490-8C6E-D4776DE94668}" type="slidenum">
              <a:rPr lang="en-IN" smtClean="0"/>
              <a:t>3</a:t>
            </a:fld>
            <a:endParaRPr lang="en-IN"/>
          </a:p>
        </p:txBody>
      </p:sp>
    </p:spTree>
    <p:extLst>
      <p:ext uri="{BB962C8B-B14F-4D97-AF65-F5344CB8AC3E}">
        <p14:creationId xmlns:p14="http://schemas.microsoft.com/office/powerpoint/2010/main" val="1301158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220F5-8788-C782-7D3D-047068E23BCE}"/>
              </a:ext>
            </a:extLst>
          </p:cNvPr>
          <p:cNvSpPr>
            <a:spLocks noGrp="1"/>
          </p:cNvSpPr>
          <p:nvPr>
            <p:ph type="title"/>
          </p:nvPr>
        </p:nvSpPr>
        <p:spPr/>
        <p:txBody>
          <a:bodyPr>
            <a:normAutofit/>
          </a:bodyPr>
          <a:lstStyle/>
          <a:p>
            <a:r>
              <a:rPr lang="en-IN" dirty="0"/>
              <a:t>Extreme but Grammatical Ambiguity</a:t>
            </a:r>
          </a:p>
        </p:txBody>
      </p:sp>
      <p:sp>
        <p:nvSpPr>
          <p:cNvPr id="3" name="Content Placeholder 2">
            <a:extLst>
              <a:ext uri="{FF2B5EF4-FFF2-40B4-BE49-F238E27FC236}">
                <a16:creationId xmlns:a16="http://schemas.microsoft.com/office/drawing/2014/main" id="{1A6430DF-AE0A-622A-5FC6-8A54A4A2D369}"/>
              </a:ext>
            </a:extLst>
          </p:cNvPr>
          <p:cNvSpPr>
            <a:spLocks noGrp="1"/>
          </p:cNvSpPr>
          <p:nvPr>
            <p:ph idx="1"/>
          </p:nvPr>
        </p:nvSpPr>
        <p:spPr>
          <a:xfrm>
            <a:off x="838200" y="1558925"/>
            <a:ext cx="10515600" cy="4813300"/>
          </a:xfrm>
        </p:spPr>
        <p:txBody>
          <a:bodyPr>
            <a:normAutofit fontScale="92500" lnSpcReduction="10000"/>
          </a:bodyPr>
          <a:lstStyle/>
          <a:p>
            <a:endParaRPr lang="en-US" i="1" dirty="0"/>
          </a:p>
          <a:p>
            <a:r>
              <a:rPr lang="en-US" b="1" i="1" dirty="0"/>
              <a:t>James while John had had had had had had had had had had had a better effect on the teacher</a:t>
            </a:r>
          </a:p>
          <a:p>
            <a:endParaRPr lang="en-US" dirty="0"/>
          </a:p>
          <a:p>
            <a:r>
              <a:rPr lang="en-US" dirty="0"/>
              <a:t>James, while John </a:t>
            </a:r>
            <a:r>
              <a:rPr lang="en-US" dirty="0">
                <a:solidFill>
                  <a:srgbClr val="7030A0"/>
                </a:solidFill>
              </a:rPr>
              <a:t>had had </a:t>
            </a:r>
            <a:r>
              <a:rPr lang="en-US" dirty="0"/>
              <a:t>"</a:t>
            </a:r>
            <a:r>
              <a:rPr lang="en-US" i="1" dirty="0">
                <a:solidFill>
                  <a:srgbClr val="FFC000"/>
                </a:solidFill>
              </a:rPr>
              <a:t>had</a:t>
            </a:r>
            <a:r>
              <a:rPr lang="en-US" dirty="0"/>
              <a:t>", </a:t>
            </a:r>
            <a:r>
              <a:rPr lang="en-US" dirty="0">
                <a:solidFill>
                  <a:srgbClr val="7030A0"/>
                </a:solidFill>
              </a:rPr>
              <a:t>had had </a:t>
            </a:r>
            <a:r>
              <a:rPr lang="en-US" dirty="0"/>
              <a:t>"</a:t>
            </a:r>
            <a:r>
              <a:rPr lang="en-US" i="1" dirty="0">
                <a:solidFill>
                  <a:srgbClr val="00B050"/>
                </a:solidFill>
              </a:rPr>
              <a:t>had had</a:t>
            </a:r>
            <a:r>
              <a:rPr lang="en-US" dirty="0"/>
              <a:t>"; "</a:t>
            </a:r>
            <a:r>
              <a:rPr lang="en-US" i="1" dirty="0">
                <a:solidFill>
                  <a:schemeClr val="accent2">
                    <a:lumMod val="75000"/>
                  </a:schemeClr>
                </a:solidFill>
              </a:rPr>
              <a:t>had had</a:t>
            </a:r>
            <a:r>
              <a:rPr lang="en-US" dirty="0"/>
              <a:t>" </a:t>
            </a:r>
            <a:r>
              <a:rPr lang="en-US" dirty="0">
                <a:solidFill>
                  <a:srgbClr val="7030A0"/>
                </a:solidFill>
              </a:rPr>
              <a:t>had had</a:t>
            </a:r>
            <a:r>
              <a:rPr lang="en-US" dirty="0"/>
              <a:t> a better effect on the teacher.</a:t>
            </a:r>
          </a:p>
          <a:p>
            <a:pPr marL="0" indent="0">
              <a:buNone/>
            </a:pPr>
            <a:endParaRPr lang="en-IN" dirty="0"/>
          </a:p>
          <a:p>
            <a:r>
              <a:rPr lang="en-IN" dirty="0"/>
              <a:t>Such an extreme, but grammatically correct, example of ambiguity and importance of punctuation that there’s a whole Wikipedia page dedicated to the sentence!</a:t>
            </a:r>
          </a:p>
          <a:p>
            <a:pPr marL="0" indent="0">
              <a:buNone/>
            </a:pPr>
            <a:r>
              <a:rPr lang="en-IN" sz="3000" dirty="0"/>
              <a:t> </a:t>
            </a:r>
            <a:r>
              <a:rPr lang="en-IN" sz="1500" dirty="0">
                <a:hlinkClick r:id="rId3"/>
              </a:rPr>
              <a:t>https://en.wikipedia.org/wiki/James_while_John_had_had_had_had_had_had_had_had_had_had_had_a_better_effect_on_the_teacher</a:t>
            </a:r>
            <a:endParaRPr lang="en-IN" sz="1500" dirty="0"/>
          </a:p>
          <a:p>
            <a:endParaRPr lang="en-IN" dirty="0"/>
          </a:p>
        </p:txBody>
      </p:sp>
      <p:sp>
        <p:nvSpPr>
          <p:cNvPr id="4" name="Slide Number Placeholder 3">
            <a:extLst>
              <a:ext uri="{FF2B5EF4-FFF2-40B4-BE49-F238E27FC236}">
                <a16:creationId xmlns:a16="http://schemas.microsoft.com/office/drawing/2014/main" id="{EB9927B0-32E3-FA81-808E-DA54BB0D87D0}"/>
              </a:ext>
            </a:extLst>
          </p:cNvPr>
          <p:cNvSpPr>
            <a:spLocks noGrp="1"/>
          </p:cNvSpPr>
          <p:nvPr>
            <p:ph type="sldNum" sz="quarter" idx="12"/>
          </p:nvPr>
        </p:nvSpPr>
        <p:spPr/>
        <p:txBody>
          <a:bodyPr/>
          <a:lstStyle/>
          <a:p>
            <a:fld id="{D9AB36C4-4A00-4490-8C6E-D4776DE94668}" type="slidenum">
              <a:rPr lang="en-IN" smtClean="0"/>
              <a:t>4</a:t>
            </a:fld>
            <a:endParaRPr lang="en-IN"/>
          </a:p>
        </p:txBody>
      </p:sp>
    </p:spTree>
    <p:extLst>
      <p:ext uri="{BB962C8B-B14F-4D97-AF65-F5344CB8AC3E}">
        <p14:creationId xmlns:p14="http://schemas.microsoft.com/office/powerpoint/2010/main" val="418063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25CE0-75FB-400D-2A88-38F36B14279C}"/>
              </a:ext>
            </a:extLst>
          </p:cNvPr>
          <p:cNvSpPr>
            <a:spLocks noGrp="1"/>
          </p:cNvSpPr>
          <p:nvPr>
            <p:ph type="title"/>
          </p:nvPr>
        </p:nvSpPr>
        <p:spPr>
          <a:xfrm>
            <a:off x="793662" y="386930"/>
            <a:ext cx="10066122" cy="1298448"/>
          </a:xfrm>
        </p:spPr>
        <p:txBody>
          <a:bodyPr anchor="b">
            <a:normAutofit/>
          </a:bodyPr>
          <a:lstStyle/>
          <a:p>
            <a:r>
              <a:rPr lang="en-US" sz="4100"/>
              <a:t>The Problem: Syntactic &amp; Semantic Ambiguity</a:t>
            </a:r>
            <a:endParaRPr lang="en-IN" sz="4100"/>
          </a:p>
        </p:txBody>
      </p:sp>
      <p:sp>
        <p:nvSpPr>
          <p:cNvPr id="3" name="Content Placeholder 2">
            <a:extLst>
              <a:ext uri="{FF2B5EF4-FFF2-40B4-BE49-F238E27FC236}">
                <a16:creationId xmlns:a16="http://schemas.microsoft.com/office/drawing/2014/main" id="{17CC2F60-99B6-DF4B-E54D-8F7217294C4A}"/>
              </a:ext>
            </a:extLst>
          </p:cNvPr>
          <p:cNvSpPr>
            <a:spLocks noGrp="1"/>
          </p:cNvSpPr>
          <p:nvPr>
            <p:ph idx="1"/>
          </p:nvPr>
        </p:nvSpPr>
        <p:spPr>
          <a:xfrm>
            <a:off x="793662" y="2275659"/>
            <a:ext cx="4530898" cy="3639450"/>
          </a:xfrm>
        </p:spPr>
        <p:txBody>
          <a:bodyPr anchor="ctr">
            <a:normAutofit/>
          </a:bodyPr>
          <a:lstStyle/>
          <a:p>
            <a:r>
              <a:rPr lang="en-US" sz="2000" dirty="0"/>
              <a:t>English is structurally and semantically ambiguous.</a:t>
            </a:r>
          </a:p>
          <a:p>
            <a:r>
              <a:rPr lang="en-US" sz="2000" dirty="0"/>
              <a:t>Garden-path sentences:</a:t>
            </a:r>
          </a:p>
          <a:p>
            <a:pPr lvl="1"/>
            <a:r>
              <a:rPr lang="en-US" sz="2000" dirty="0"/>
              <a:t>“Time flies like an arrow; fruit flies like a banana.”</a:t>
            </a:r>
          </a:p>
          <a:p>
            <a:r>
              <a:rPr lang="en-US" sz="2000" dirty="0"/>
              <a:t>Structural ambiguity:</a:t>
            </a:r>
          </a:p>
          <a:p>
            <a:pPr lvl="1"/>
            <a:r>
              <a:rPr lang="en-US" sz="2000" dirty="0"/>
              <a:t>“The old man the boat.”</a:t>
            </a:r>
          </a:p>
          <a:p>
            <a:r>
              <a:rPr lang="en-US" sz="2000" dirty="0"/>
              <a:t>Many sentences look wrong at first glance but are grammatically correct once we know the roles of the words.</a:t>
            </a:r>
          </a:p>
        </p:txBody>
      </p:sp>
      <p:pic>
        <p:nvPicPr>
          <p:cNvPr id="5" name="Picture 4" descr="A screenshot of a diagram&#10;&#10;AI-generated content may be incorrect.">
            <a:extLst>
              <a:ext uri="{FF2B5EF4-FFF2-40B4-BE49-F238E27FC236}">
                <a16:creationId xmlns:a16="http://schemas.microsoft.com/office/drawing/2014/main" id="{1F1694B4-9E55-2DB1-27FB-10C26FF05A13}"/>
              </a:ext>
            </a:extLst>
          </p:cNvPr>
          <p:cNvPicPr>
            <a:picLocks noChangeAspect="1"/>
          </p:cNvPicPr>
          <p:nvPr/>
        </p:nvPicPr>
        <p:blipFill>
          <a:blip r:embed="rId3"/>
          <a:stretch>
            <a:fillRect/>
          </a:stretch>
        </p:blipFill>
        <p:spPr>
          <a:xfrm>
            <a:off x="5911532" y="2275659"/>
            <a:ext cx="5150277" cy="3424934"/>
          </a:xfrm>
          <a:prstGeom prst="rect">
            <a:avLst/>
          </a:prstGeom>
        </p:spPr>
      </p:pic>
      <p:sp>
        <p:nvSpPr>
          <p:cNvPr id="6" name="TextBox 5">
            <a:extLst>
              <a:ext uri="{FF2B5EF4-FFF2-40B4-BE49-F238E27FC236}">
                <a16:creationId xmlns:a16="http://schemas.microsoft.com/office/drawing/2014/main" id="{A4B9498C-3641-0A46-B808-0A922E412620}"/>
              </a:ext>
            </a:extLst>
          </p:cNvPr>
          <p:cNvSpPr txBox="1"/>
          <p:nvPr/>
        </p:nvSpPr>
        <p:spPr>
          <a:xfrm>
            <a:off x="5911532" y="5729994"/>
            <a:ext cx="5150277" cy="342493"/>
          </a:xfrm>
          <a:prstGeom prst="rect">
            <a:avLst/>
          </a:prstGeom>
          <a:solidFill>
            <a:srgbClr val="000000">
              <a:alpha val="50000"/>
            </a:srgbClr>
          </a:solidFill>
          <a:ln>
            <a:noFill/>
          </a:ln>
        </p:spPr>
        <p:txBody>
          <a:bodyPr wrap="square" rtlCol="0">
            <a:noAutofit/>
          </a:bodyPr>
          <a:lstStyle/>
          <a:p>
            <a:pPr algn="ctr">
              <a:spcAft>
                <a:spcPts val="600"/>
              </a:spcAft>
            </a:pPr>
            <a:r>
              <a:rPr lang="en-IN" sz="1100">
                <a:solidFill>
                  <a:srgbClr val="FFFFFF"/>
                </a:solidFill>
              </a:rPr>
              <a:t>Source: https://en.wikipedia.org/wiki/Garden-path_sentence</a:t>
            </a:r>
          </a:p>
        </p:txBody>
      </p:sp>
      <p:sp>
        <p:nvSpPr>
          <p:cNvPr id="7" name="Slide Number Placeholder 6">
            <a:extLst>
              <a:ext uri="{FF2B5EF4-FFF2-40B4-BE49-F238E27FC236}">
                <a16:creationId xmlns:a16="http://schemas.microsoft.com/office/drawing/2014/main" id="{E17B9A24-C441-92A8-3E16-385EFD34049A}"/>
              </a:ext>
            </a:extLst>
          </p:cNvPr>
          <p:cNvSpPr>
            <a:spLocks noGrp="1"/>
          </p:cNvSpPr>
          <p:nvPr>
            <p:ph type="sldNum" sz="quarter" idx="12"/>
          </p:nvPr>
        </p:nvSpPr>
        <p:spPr/>
        <p:txBody>
          <a:bodyPr/>
          <a:lstStyle/>
          <a:p>
            <a:fld id="{D9AB36C4-4A00-4490-8C6E-D4776DE94668}" type="slidenum">
              <a:rPr lang="en-IN" smtClean="0"/>
              <a:t>5</a:t>
            </a:fld>
            <a:endParaRPr lang="en-IN"/>
          </a:p>
        </p:txBody>
      </p:sp>
    </p:spTree>
    <p:extLst>
      <p:ext uri="{BB962C8B-B14F-4D97-AF65-F5344CB8AC3E}">
        <p14:creationId xmlns:p14="http://schemas.microsoft.com/office/powerpoint/2010/main" val="2775997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CFC75-3EC8-45FD-EFC4-0E4EB611D4F6}"/>
              </a:ext>
            </a:extLst>
          </p:cNvPr>
          <p:cNvSpPr>
            <a:spLocks noGrp="1"/>
          </p:cNvSpPr>
          <p:nvPr>
            <p:ph type="title"/>
          </p:nvPr>
        </p:nvSpPr>
        <p:spPr/>
        <p:txBody>
          <a:bodyPr/>
          <a:lstStyle/>
          <a:p>
            <a:r>
              <a:rPr lang="en-IN" dirty="0"/>
              <a:t>What is Parts-of-Speech (POS) Tagging </a:t>
            </a:r>
          </a:p>
        </p:txBody>
      </p:sp>
      <p:sp>
        <p:nvSpPr>
          <p:cNvPr id="3" name="Content Placeholder 2">
            <a:extLst>
              <a:ext uri="{FF2B5EF4-FFF2-40B4-BE49-F238E27FC236}">
                <a16:creationId xmlns:a16="http://schemas.microsoft.com/office/drawing/2014/main" id="{BE750379-E527-74C4-6C55-717483EBB057}"/>
              </a:ext>
            </a:extLst>
          </p:cNvPr>
          <p:cNvSpPr>
            <a:spLocks noGrp="1"/>
          </p:cNvSpPr>
          <p:nvPr>
            <p:ph idx="1"/>
          </p:nvPr>
        </p:nvSpPr>
        <p:spPr>
          <a:xfrm>
            <a:off x="838200" y="1825625"/>
            <a:ext cx="10515600" cy="4351338"/>
          </a:xfrm>
        </p:spPr>
        <p:txBody>
          <a:bodyPr>
            <a:normAutofit/>
          </a:bodyPr>
          <a:lstStyle/>
          <a:p>
            <a:r>
              <a:rPr lang="en-US" dirty="0"/>
              <a:t>Definition: Assign a grammatical tag (noun, verb, adjective, preposition, etc.) to every word in a sentence based on context and linguistic rules.</a:t>
            </a:r>
          </a:p>
          <a:p>
            <a:r>
              <a:rPr lang="en-IN" dirty="0"/>
              <a:t>Tags: noun (NN), verb (VB/VBD/VBZ), adjective (JJ), adverb (RB), preposition (IN), determiner (DT), etc.</a:t>
            </a:r>
          </a:p>
          <a:p>
            <a:r>
              <a:rPr lang="en-IN" dirty="0"/>
              <a:t>Example:</a:t>
            </a:r>
          </a:p>
          <a:p>
            <a:pPr lvl="1"/>
            <a:r>
              <a:rPr lang="en-IN" dirty="0"/>
              <a:t>Sentence: “The dog ran quickly in the park.”</a:t>
            </a:r>
          </a:p>
          <a:p>
            <a:pPr lvl="1"/>
            <a:r>
              <a:rPr lang="en-IN" dirty="0"/>
              <a:t>Tags: (The/DT) (dog/NN) (ran/VBD) (quickly/RB) (in/IN) (the/DT) (park/NN)</a:t>
            </a:r>
          </a:p>
          <a:p>
            <a:r>
              <a:rPr lang="en-IN" dirty="0"/>
              <a:t>POS tagging is a sequence labelling problem:</a:t>
            </a:r>
          </a:p>
          <a:p>
            <a:pPr lvl="1"/>
            <a:r>
              <a:rPr lang="en-IN" dirty="0"/>
              <a:t>The tag of each word depends on the tags of neighbouring words.</a:t>
            </a:r>
          </a:p>
          <a:p>
            <a:endParaRPr lang="en-IN" dirty="0"/>
          </a:p>
        </p:txBody>
      </p:sp>
      <p:sp>
        <p:nvSpPr>
          <p:cNvPr id="4" name="Slide Number Placeholder 3">
            <a:extLst>
              <a:ext uri="{FF2B5EF4-FFF2-40B4-BE49-F238E27FC236}">
                <a16:creationId xmlns:a16="http://schemas.microsoft.com/office/drawing/2014/main" id="{7FA443D8-1959-356F-51F0-A4ECD8F4A46E}"/>
              </a:ext>
            </a:extLst>
          </p:cNvPr>
          <p:cNvSpPr>
            <a:spLocks noGrp="1"/>
          </p:cNvSpPr>
          <p:nvPr>
            <p:ph type="sldNum" sz="quarter" idx="12"/>
          </p:nvPr>
        </p:nvSpPr>
        <p:spPr/>
        <p:txBody>
          <a:bodyPr/>
          <a:lstStyle/>
          <a:p>
            <a:fld id="{D9AB36C4-4A00-4490-8C6E-D4776DE94668}" type="slidenum">
              <a:rPr lang="en-IN" smtClean="0"/>
              <a:t>6</a:t>
            </a:fld>
            <a:endParaRPr lang="en-IN"/>
          </a:p>
        </p:txBody>
      </p:sp>
    </p:spTree>
    <p:extLst>
      <p:ext uri="{BB962C8B-B14F-4D97-AF65-F5344CB8AC3E}">
        <p14:creationId xmlns:p14="http://schemas.microsoft.com/office/powerpoint/2010/main" val="1593428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13E8-DEB3-0DAE-9AC1-13E70B55B962}"/>
              </a:ext>
            </a:extLst>
          </p:cNvPr>
          <p:cNvSpPr>
            <a:spLocks noGrp="1"/>
          </p:cNvSpPr>
          <p:nvPr>
            <p:ph type="title"/>
          </p:nvPr>
        </p:nvSpPr>
        <p:spPr/>
        <p:txBody>
          <a:bodyPr/>
          <a:lstStyle/>
          <a:p>
            <a:r>
              <a:rPr lang="en-US" dirty="0"/>
              <a:t>Why is POS Tagging Non-Trivial?</a:t>
            </a:r>
            <a:endParaRPr lang="en-IN" dirty="0"/>
          </a:p>
        </p:txBody>
      </p:sp>
      <p:sp>
        <p:nvSpPr>
          <p:cNvPr id="3" name="Content Placeholder 2">
            <a:extLst>
              <a:ext uri="{FF2B5EF4-FFF2-40B4-BE49-F238E27FC236}">
                <a16:creationId xmlns:a16="http://schemas.microsoft.com/office/drawing/2014/main" id="{6E6C8352-C16C-4D37-2F7E-B0383F8E1C95}"/>
              </a:ext>
            </a:extLst>
          </p:cNvPr>
          <p:cNvSpPr>
            <a:spLocks noGrp="1"/>
          </p:cNvSpPr>
          <p:nvPr>
            <p:ph idx="1"/>
          </p:nvPr>
        </p:nvSpPr>
        <p:spPr>
          <a:xfrm>
            <a:off x="838200" y="1825625"/>
            <a:ext cx="10515600" cy="4756150"/>
          </a:xfrm>
        </p:spPr>
        <p:txBody>
          <a:bodyPr>
            <a:normAutofit fontScale="92500" lnSpcReduction="10000"/>
          </a:bodyPr>
          <a:lstStyle/>
          <a:p>
            <a:r>
              <a:rPr lang="en-US" dirty="0"/>
              <a:t>Many words belong to multiple parts of speech:</a:t>
            </a:r>
          </a:p>
          <a:p>
            <a:pPr lvl="1"/>
            <a:r>
              <a:rPr lang="en-US" dirty="0"/>
              <a:t>“work” – noun or verb</a:t>
            </a:r>
          </a:p>
          <a:p>
            <a:pPr lvl="1"/>
            <a:r>
              <a:rPr lang="en-US" dirty="0"/>
              <a:t>“book” – noun or verb</a:t>
            </a:r>
          </a:p>
          <a:p>
            <a:pPr lvl="1"/>
            <a:r>
              <a:rPr lang="en-US" dirty="0"/>
              <a:t>“like” – verb, preposition, or conjunction</a:t>
            </a:r>
          </a:p>
          <a:p>
            <a:r>
              <a:rPr lang="en-US" dirty="0"/>
              <a:t>Pure dictionary lookup chooses only the most frequent tag =&gt; often wrong in context.</a:t>
            </a:r>
          </a:p>
          <a:p>
            <a:r>
              <a:rPr lang="en-US" dirty="0"/>
              <a:t>Correct tag depends on context:</a:t>
            </a:r>
          </a:p>
          <a:p>
            <a:pPr lvl="1"/>
            <a:r>
              <a:rPr lang="en-US" dirty="0"/>
              <a:t>“I </a:t>
            </a:r>
            <a:r>
              <a:rPr lang="en-US" i="1" dirty="0"/>
              <a:t>work</a:t>
            </a:r>
            <a:r>
              <a:rPr lang="en-US" dirty="0"/>
              <a:t> every day.” → work = verb</a:t>
            </a:r>
          </a:p>
          <a:p>
            <a:pPr lvl="1"/>
            <a:r>
              <a:rPr lang="en-US" dirty="0"/>
              <a:t>“This is my </a:t>
            </a:r>
            <a:r>
              <a:rPr lang="en-US" i="1" dirty="0"/>
              <a:t>work</a:t>
            </a:r>
            <a:r>
              <a:rPr lang="en-US" dirty="0"/>
              <a:t>.” → work = noun</a:t>
            </a:r>
          </a:p>
          <a:p>
            <a:r>
              <a:rPr lang="en-US" dirty="0"/>
              <a:t>We need a model that uses:</a:t>
            </a:r>
          </a:p>
          <a:p>
            <a:pPr lvl="1"/>
            <a:r>
              <a:rPr lang="en-US" dirty="0"/>
              <a:t>The word itself (emission information), and</a:t>
            </a:r>
          </a:p>
          <a:p>
            <a:pPr lvl="1"/>
            <a:r>
              <a:rPr lang="en-US" dirty="0"/>
              <a:t>The surrounding tags (transition information).</a:t>
            </a:r>
          </a:p>
        </p:txBody>
      </p:sp>
      <p:sp>
        <p:nvSpPr>
          <p:cNvPr id="4" name="Slide Number Placeholder 3">
            <a:extLst>
              <a:ext uri="{FF2B5EF4-FFF2-40B4-BE49-F238E27FC236}">
                <a16:creationId xmlns:a16="http://schemas.microsoft.com/office/drawing/2014/main" id="{F513D11C-D72F-1BF0-D374-A2F979A4D5CC}"/>
              </a:ext>
            </a:extLst>
          </p:cNvPr>
          <p:cNvSpPr>
            <a:spLocks noGrp="1"/>
          </p:cNvSpPr>
          <p:nvPr>
            <p:ph type="sldNum" sz="quarter" idx="12"/>
          </p:nvPr>
        </p:nvSpPr>
        <p:spPr/>
        <p:txBody>
          <a:bodyPr/>
          <a:lstStyle/>
          <a:p>
            <a:fld id="{D9AB36C4-4A00-4490-8C6E-D4776DE94668}" type="slidenum">
              <a:rPr lang="en-IN" smtClean="0"/>
              <a:t>7</a:t>
            </a:fld>
            <a:endParaRPr lang="en-IN"/>
          </a:p>
        </p:txBody>
      </p:sp>
    </p:spTree>
    <p:extLst>
      <p:ext uri="{BB962C8B-B14F-4D97-AF65-F5344CB8AC3E}">
        <p14:creationId xmlns:p14="http://schemas.microsoft.com/office/powerpoint/2010/main" val="2977574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CCD8F-E8F1-6845-68E8-DC240A767DD5}"/>
              </a:ext>
            </a:extLst>
          </p:cNvPr>
          <p:cNvSpPr>
            <a:spLocks noGrp="1"/>
          </p:cNvSpPr>
          <p:nvPr>
            <p:ph type="title"/>
          </p:nvPr>
        </p:nvSpPr>
        <p:spPr/>
        <p:txBody>
          <a:bodyPr/>
          <a:lstStyle/>
          <a:p>
            <a:r>
              <a:rPr lang="en-IN" dirty="0"/>
              <a:t>Hidden Markov Models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B371CC1-4BF9-5BED-9456-5A41163656D9}"/>
                  </a:ext>
                </a:extLst>
              </p:cNvPr>
              <p:cNvSpPr>
                <a:spLocks noGrp="1"/>
              </p:cNvSpPr>
              <p:nvPr>
                <p:ph idx="1"/>
              </p:nvPr>
            </p:nvSpPr>
            <p:spPr>
              <a:xfrm>
                <a:off x="838200" y="1825624"/>
                <a:ext cx="10515600" cy="4556125"/>
              </a:xfrm>
            </p:spPr>
            <p:txBody>
              <a:bodyPr>
                <a:normAutofit lnSpcReduction="10000"/>
              </a:bodyPr>
              <a:lstStyle/>
              <a:p>
                <a:r>
                  <a:rPr lang="en-IN" dirty="0"/>
                  <a:t>Hidden states: POS tags (NN, VB, JJ, …).</a:t>
                </a:r>
              </a:p>
              <a:p>
                <a:r>
                  <a:rPr lang="en-IN" dirty="0"/>
                  <a:t>Observations: Words in the sentence.</a:t>
                </a:r>
              </a:p>
              <a:p>
                <a:r>
                  <a:rPr lang="en-IN" dirty="0"/>
                  <a:t>Transition probabilities:</a:t>
                </a:r>
              </a:p>
              <a:p>
                <a:pPr lvl="1"/>
                <a14:m>
                  <m:oMath xmlns:m="http://schemas.openxmlformats.org/officeDocument/2006/math">
                    <m:r>
                      <a:rPr lang="en-IN" i="1"/>
                      <m:t>𝑃</m:t>
                    </m:r>
                    <m:d>
                      <m:dPr>
                        <m:ctrlPr>
                          <a:rPr lang="ar-AE" i="1"/>
                        </m:ctrlPr>
                      </m:dPr>
                      <m:e>
                        <m:sSub>
                          <m:sSubPr>
                            <m:ctrlPr>
                              <a:rPr lang="ar-AE" i="1"/>
                            </m:ctrlPr>
                          </m:sSubPr>
                          <m:e>
                            <m:r>
                              <a:rPr lang="ar-AE" i="1"/>
                              <m:t>𝑡</m:t>
                            </m:r>
                          </m:e>
                          <m:sub>
                            <m:r>
                              <a:rPr lang="ar-AE" i="1"/>
                              <m:t>𝑖</m:t>
                            </m:r>
                          </m:sub>
                        </m:sSub>
                        <m:r>
                          <a:rPr lang="ar-AE"/>
                          <m:t>∣</m:t>
                        </m:r>
                        <m:sSub>
                          <m:sSubPr>
                            <m:ctrlPr>
                              <a:rPr lang="ar-AE" i="1"/>
                            </m:ctrlPr>
                          </m:sSubPr>
                          <m:e>
                            <m:r>
                              <a:rPr lang="ar-AE" i="1"/>
                              <m:t>𝑡</m:t>
                            </m:r>
                          </m:e>
                          <m:sub>
                            <m:r>
                              <a:rPr lang="ar-AE" i="1"/>
                              <m:t>𝑖</m:t>
                            </m:r>
                            <m:r>
                              <a:rPr lang="ar-AE"/>
                              <m:t>−</m:t>
                            </m:r>
                            <m:r>
                              <a:rPr lang="ar-AE"/>
                              <m:t>1</m:t>
                            </m:r>
                          </m:sub>
                        </m:sSub>
                      </m:e>
                    </m:d>
                  </m:oMath>
                </a14:m>
                <a:r>
                  <a:rPr lang="ar-AE" dirty="0"/>
                  <a:t> – </a:t>
                </a:r>
                <a:r>
                  <a:rPr lang="en-IN" dirty="0"/>
                  <a:t>likelihood of tag </a:t>
                </a:r>
                <a14:m>
                  <m:oMath xmlns:m="http://schemas.openxmlformats.org/officeDocument/2006/math">
                    <m:sSub>
                      <m:sSubPr>
                        <m:ctrlPr>
                          <a:rPr lang="ar-AE"/>
                        </m:ctrlPr>
                      </m:sSubPr>
                      <m:e>
                        <m:r>
                          <a:rPr lang="ar-AE" i="1"/>
                          <m:t>𝑡</m:t>
                        </m:r>
                      </m:e>
                      <m:sub>
                        <m:r>
                          <a:rPr lang="ar-AE" i="1"/>
                          <m:t>𝑖</m:t>
                        </m:r>
                      </m:sub>
                    </m:sSub>
                  </m:oMath>
                </a14:m>
                <a:r>
                  <a:rPr lang="ar-AE" dirty="0"/>
                  <a:t> </a:t>
                </a:r>
                <a:r>
                  <a:rPr lang="en-IN" dirty="0"/>
                  <a:t>following tag </a:t>
                </a:r>
                <a14:m>
                  <m:oMath xmlns:m="http://schemas.openxmlformats.org/officeDocument/2006/math">
                    <m:sSub>
                      <m:sSubPr>
                        <m:ctrlPr>
                          <a:rPr lang="ar-AE"/>
                        </m:ctrlPr>
                      </m:sSubPr>
                      <m:e>
                        <m:r>
                          <a:rPr lang="ar-AE" i="1"/>
                          <m:t>𝑡</m:t>
                        </m:r>
                      </m:e>
                      <m:sub>
                        <m:r>
                          <a:rPr lang="ar-AE" i="1"/>
                          <m:t>𝑖</m:t>
                        </m:r>
                        <m:r>
                          <a:rPr lang="ar-AE"/>
                          <m:t>−</m:t>
                        </m:r>
                        <m:r>
                          <a:rPr lang="ar-AE"/>
                          <m:t>1</m:t>
                        </m:r>
                      </m:sub>
                    </m:sSub>
                  </m:oMath>
                </a14:m>
                <a:r>
                  <a:rPr lang="ar-AE" dirty="0"/>
                  <a:t>.</a:t>
                </a:r>
              </a:p>
              <a:p>
                <a:r>
                  <a:rPr lang="en-IN" dirty="0"/>
                  <a:t>Emission probabilities:</a:t>
                </a:r>
              </a:p>
              <a:p>
                <a:pPr lvl="1"/>
                <a14:m>
                  <m:oMath xmlns:m="http://schemas.openxmlformats.org/officeDocument/2006/math">
                    <m:r>
                      <a:rPr lang="en-IN" i="1"/>
                      <m:t>𝑃</m:t>
                    </m:r>
                    <m:d>
                      <m:dPr>
                        <m:ctrlPr>
                          <a:rPr lang="ar-AE" i="1"/>
                        </m:ctrlPr>
                      </m:dPr>
                      <m:e>
                        <m:sSub>
                          <m:sSubPr>
                            <m:ctrlPr>
                              <a:rPr lang="ar-AE" i="1"/>
                            </m:ctrlPr>
                          </m:sSubPr>
                          <m:e>
                            <m:r>
                              <a:rPr lang="ar-AE" i="1"/>
                              <m:t>𝑤</m:t>
                            </m:r>
                          </m:e>
                          <m:sub>
                            <m:r>
                              <a:rPr lang="ar-AE" i="1"/>
                              <m:t>𝑖</m:t>
                            </m:r>
                          </m:sub>
                        </m:sSub>
                        <m:r>
                          <a:rPr lang="ar-AE"/>
                          <m:t>∣</m:t>
                        </m:r>
                        <m:sSub>
                          <m:sSubPr>
                            <m:ctrlPr>
                              <a:rPr lang="ar-AE" i="1"/>
                            </m:ctrlPr>
                          </m:sSubPr>
                          <m:e>
                            <m:r>
                              <a:rPr lang="ar-AE" i="1"/>
                              <m:t>𝑡</m:t>
                            </m:r>
                          </m:e>
                          <m:sub>
                            <m:r>
                              <a:rPr lang="ar-AE" i="1"/>
                              <m:t>𝑖</m:t>
                            </m:r>
                          </m:sub>
                        </m:sSub>
                      </m:e>
                    </m:d>
                  </m:oMath>
                </a14:m>
                <a:r>
                  <a:rPr lang="ar-AE" dirty="0"/>
                  <a:t> – </a:t>
                </a:r>
                <a:r>
                  <a:rPr lang="en-IN" dirty="0"/>
                  <a:t>likelihood of word </a:t>
                </a:r>
                <a14:m>
                  <m:oMath xmlns:m="http://schemas.openxmlformats.org/officeDocument/2006/math">
                    <m:sSub>
                      <m:sSubPr>
                        <m:ctrlPr>
                          <a:rPr lang="ar-AE"/>
                        </m:ctrlPr>
                      </m:sSubPr>
                      <m:e>
                        <m:r>
                          <a:rPr lang="ar-AE" i="1"/>
                          <m:t>𝑤</m:t>
                        </m:r>
                      </m:e>
                      <m:sub>
                        <m:r>
                          <a:rPr lang="ar-AE" i="1"/>
                          <m:t>𝑖</m:t>
                        </m:r>
                      </m:sub>
                    </m:sSub>
                  </m:oMath>
                </a14:m>
                <a:r>
                  <a:rPr lang="ar-AE" dirty="0"/>
                  <a:t> </a:t>
                </a:r>
                <a:r>
                  <a:rPr lang="en-IN" dirty="0"/>
                  <a:t>being generated by tag </a:t>
                </a:r>
                <a14:m>
                  <m:oMath xmlns:m="http://schemas.openxmlformats.org/officeDocument/2006/math">
                    <m:sSub>
                      <m:sSubPr>
                        <m:ctrlPr>
                          <a:rPr lang="ar-AE"/>
                        </m:ctrlPr>
                      </m:sSubPr>
                      <m:e>
                        <m:r>
                          <a:rPr lang="ar-AE" i="1"/>
                          <m:t>𝑡</m:t>
                        </m:r>
                      </m:e>
                      <m:sub>
                        <m:r>
                          <a:rPr lang="ar-AE" i="1"/>
                          <m:t>𝑖</m:t>
                        </m:r>
                      </m:sub>
                    </m:sSub>
                  </m:oMath>
                </a14:m>
                <a:r>
                  <a:rPr lang="ar-AE" dirty="0"/>
                  <a:t>.</a:t>
                </a:r>
              </a:p>
              <a:p>
                <a:r>
                  <a:rPr lang="en-IN" dirty="0"/>
                  <a:t>Initial probabilities:</a:t>
                </a:r>
              </a:p>
              <a:p>
                <a:pPr lvl="1"/>
                <a14:m>
                  <m:oMath xmlns:m="http://schemas.openxmlformats.org/officeDocument/2006/math">
                    <m:r>
                      <a:rPr lang="en-IN" i="1"/>
                      <m:t>𝑃</m:t>
                    </m:r>
                    <m:d>
                      <m:dPr>
                        <m:ctrlPr>
                          <a:rPr lang="ar-AE" i="1"/>
                        </m:ctrlPr>
                      </m:dPr>
                      <m:e>
                        <m:sSub>
                          <m:sSubPr>
                            <m:ctrlPr>
                              <a:rPr lang="ar-AE" i="1"/>
                            </m:ctrlPr>
                          </m:sSubPr>
                          <m:e>
                            <m:r>
                              <a:rPr lang="ar-AE" i="1"/>
                              <m:t>𝑡</m:t>
                            </m:r>
                          </m:e>
                          <m:sub>
                            <m:r>
                              <a:rPr lang="ar-AE"/>
                              <m:t>1</m:t>
                            </m:r>
                          </m:sub>
                        </m:sSub>
                      </m:e>
                    </m:d>
                  </m:oMath>
                </a14:m>
                <a:r>
                  <a:rPr lang="ar-AE" dirty="0"/>
                  <a:t> – </a:t>
                </a:r>
                <a:r>
                  <a:rPr lang="en-IN" dirty="0"/>
                  <a:t>likelihood of starting a sentence with tag </a:t>
                </a:r>
                <a14:m>
                  <m:oMath xmlns:m="http://schemas.openxmlformats.org/officeDocument/2006/math">
                    <m:sSub>
                      <m:sSubPr>
                        <m:ctrlPr>
                          <a:rPr lang="ar-AE"/>
                        </m:ctrlPr>
                      </m:sSubPr>
                      <m:e>
                        <m:r>
                          <a:rPr lang="ar-AE" i="1"/>
                          <m:t>𝑡</m:t>
                        </m:r>
                      </m:e>
                      <m:sub>
                        <m:r>
                          <a:rPr lang="ar-AE"/>
                          <m:t>1</m:t>
                        </m:r>
                      </m:sub>
                    </m:sSub>
                  </m:oMath>
                </a14:m>
                <a:r>
                  <a:rPr lang="ar-AE" dirty="0"/>
                  <a:t>.</a:t>
                </a:r>
              </a:p>
              <a:p>
                <a:r>
                  <a:rPr lang="en-IN" dirty="0"/>
                  <a:t>Goal: For a sentence </a:t>
                </a:r>
                <a14:m>
                  <m:oMath xmlns:m="http://schemas.openxmlformats.org/officeDocument/2006/math">
                    <m:sSub>
                      <m:sSubPr>
                        <m:ctrlPr>
                          <a:rPr lang="ar-AE"/>
                        </m:ctrlPr>
                      </m:sSubPr>
                      <m:e>
                        <m:r>
                          <a:rPr lang="ar-AE" i="1"/>
                          <m:t>𝑤</m:t>
                        </m:r>
                      </m:e>
                      <m:sub>
                        <m:r>
                          <a:rPr lang="ar-AE"/>
                          <m:t>1</m:t>
                        </m:r>
                      </m:sub>
                    </m:sSub>
                    <m:r>
                      <a:rPr lang="ar-AE"/>
                      <m:t>,...,</m:t>
                    </m:r>
                    <m:sSub>
                      <m:sSubPr>
                        <m:ctrlPr>
                          <a:rPr lang="ar-AE" i="1"/>
                        </m:ctrlPr>
                      </m:sSubPr>
                      <m:e>
                        <m:r>
                          <a:rPr lang="ar-AE" i="1"/>
                          <m:t>𝑤</m:t>
                        </m:r>
                      </m:e>
                      <m:sub>
                        <m:r>
                          <a:rPr lang="ar-AE" i="1"/>
                          <m:t>𝑛</m:t>
                        </m:r>
                      </m:sub>
                    </m:sSub>
                  </m:oMath>
                </a14:m>
                <a:r>
                  <a:rPr lang="ar-AE" dirty="0"/>
                  <a:t>, </a:t>
                </a:r>
                <a:r>
                  <a:rPr lang="en-IN" dirty="0"/>
                  <a:t>find the tag sequence </a:t>
                </a:r>
                <a14:m>
                  <m:oMath xmlns:m="http://schemas.openxmlformats.org/officeDocument/2006/math">
                    <m:sSub>
                      <m:sSubPr>
                        <m:ctrlPr>
                          <a:rPr lang="ar-AE"/>
                        </m:ctrlPr>
                      </m:sSubPr>
                      <m:e>
                        <m:r>
                          <a:rPr lang="ar-AE" i="1"/>
                          <m:t>𝑡</m:t>
                        </m:r>
                      </m:e>
                      <m:sub>
                        <m:r>
                          <a:rPr lang="ar-AE"/>
                          <m:t>1</m:t>
                        </m:r>
                      </m:sub>
                    </m:sSub>
                    <m:r>
                      <a:rPr lang="ar-AE"/>
                      <m:t>,...,</m:t>
                    </m:r>
                    <m:sSub>
                      <m:sSubPr>
                        <m:ctrlPr>
                          <a:rPr lang="ar-AE" i="1"/>
                        </m:ctrlPr>
                      </m:sSubPr>
                      <m:e>
                        <m:r>
                          <a:rPr lang="ar-AE" i="1"/>
                          <m:t>𝑡</m:t>
                        </m:r>
                      </m:e>
                      <m:sub>
                        <m:r>
                          <a:rPr lang="ar-AE" i="1"/>
                          <m:t>𝑛</m:t>
                        </m:r>
                      </m:sub>
                    </m:sSub>
                  </m:oMath>
                </a14:m>
                <a:r>
                  <a:rPr lang="ar-AE" dirty="0"/>
                  <a:t> </a:t>
                </a:r>
                <a:r>
                  <a:rPr lang="en-IN" dirty="0"/>
                  <a:t>that is most probable under this model.</a:t>
                </a:r>
              </a:p>
            </p:txBody>
          </p:sp>
        </mc:Choice>
        <mc:Fallback>
          <p:sp>
            <p:nvSpPr>
              <p:cNvPr id="3" name="Content Placeholder 2">
                <a:extLst>
                  <a:ext uri="{FF2B5EF4-FFF2-40B4-BE49-F238E27FC236}">
                    <a16:creationId xmlns:a16="http://schemas.microsoft.com/office/drawing/2014/main" id="{EB371CC1-4BF9-5BED-9456-5A41163656D9}"/>
                  </a:ext>
                </a:extLst>
              </p:cNvPr>
              <p:cNvSpPr>
                <a:spLocks noGrp="1" noRot="1" noChangeAspect="1" noMove="1" noResize="1" noEditPoints="1" noAdjustHandles="1" noChangeArrowheads="1" noChangeShapeType="1" noTextEdit="1"/>
              </p:cNvSpPr>
              <p:nvPr>
                <p:ph idx="1"/>
              </p:nvPr>
            </p:nvSpPr>
            <p:spPr>
              <a:xfrm>
                <a:off x="838200" y="1825624"/>
                <a:ext cx="10515600" cy="4556125"/>
              </a:xfrm>
              <a:blipFill>
                <a:blip r:embed="rId3"/>
                <a:stretch>
                  <a:fillRect l="-1043" t="-2941"/>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86B8262B-BE24-D7A1-EBC8-41847AC1F8DE}"/>
              </a:ext>
            </a:extLst>
          </p:cNvPr>
          <p:cNvSpPr>
            <a:spLocks noGrp="1"/>
          </p:cNvSpPr>
          <p:nvPr>
            <p:ph type="sldNum" sz="quarter" idx="12"/>
          </p:nvPr>
        </p:nvSpPr>
        <p:spPr/>
        <p:txBody>
          <a:bodyPr/>
          <a:lstStyle/>
          <a:p>
            <a:fld id="{D9AB36C4-4A00-4490-8C6E-D4776DE94668}" type="slidenum">
              <a:rPr lang="en-IN" smtClean="0"/>
              <a:t>8</a:t>
            </a:fld>
            <a:endParaRPr lang="en-IN"/>
          </a:p>
        </p:txBody>
      </p:sp>
    </p:spTree>
    <p:extLst>
      <p:ext uri="{BB962C8B-B14F-4D97-AF65-F5344CB8AC3E}">
        <p14:creationId xmlns:p14="http://schemas.microsoft.com/office/powerpoint/2010/main" val="1196000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AF892-4CF6-2B8C-8AC6-3B2352AF4DC1}"/>
              </a:ext>
            </a:extLst>
          </p:cNvPr>
          <p:cNvSpPr>
            <a:spLocks noGrp="1"/>
          </p:cNvSpPr>
          <p:nvPr>
            <p:ph type="title"/>
          </p:nvPr>
        </p:nvSpPr>
        <p:spPr/>
        <p:txBody>
          <a:bodyPr>
            <a:noAutofit/>
          </a:bodyPr>
          <a:lstStyle/>
          <a:p>
            <a:r>
              <a:rPr lang="en-IN" sz="3600" dirty="0"/>
              <a:t>Tagging Problem as Optimization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F27F47C-EB10-124C-0D8C-8AC88136C71C}"/>
                  </a:ext>
                </a:extLst>
              </p:cNvPr>
              <p:cNvSpPr>
                <a:spLocks noGrp="1"/>
              </p:cNvSpPr>
              <p:nvPr>
                <p:ph idx="1"/>
              </p:nvPr>
            </p:nvSpPr>
            <p:spPr>
              <a:xfrm>
                <a:off x="838200" y="1825625"/>
                <a:ext cx="10515600" cy="4832350"/>
              </a:xfrm>
            </p:spPr>
            <p:txBody>
              <a:bodyPr>
                <a:normAutofit fontScale="77500" lnSpcReduction="20000"/>
              </a:bodyPr>
              <a:lstStyle/>
              <a:p>
                <a:r>
                  <a:rPr lang="en-IN" dirty="0"/>
                  <a:t>Given words </a:t>
                </a:r>
                <a14:m>
                  <m:oMath xmlns:m="http://schemas.openxmlformats.org/officeDocument/2006/math">
                    <m:r>
                      <a:rPr lang="en-IN" i="1">
                        <a:latin typeface="Cambria Math" panose="02040503050406030204" pitchFamily="18" charset="0"/>
                      </a:rPr>
                      <m:t>𝑊</m:t>
                    </m:r>
                    <m:r>
                      <a:rPr lang="en-IN">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𝑤</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𝑤</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𝑤</m:t>
                        </m:r>
                      </m:e>
                      <m:sub>
                        <m:r>
                          <a:rPr lang="ar-AE" i="1">
                            <a:latin typeface="Cambria Math" panose="02040503050406030204" pitchFamily="18" charset="0"/>
                          </a:rPr>
                          <m:t>𝑛</m:t>
                        </m:r>
                      </m:sub>
                    </m:sSub>
                  </m:oMath>
                </a14:m>
                <a:r>
                  <a:rPr lang="ar-AE" dirty="0"/>
                  <a:t>, </a:t>
                </a:r>
                <a:r>
                  <a:rPr lang="en-IN" dirty="0"/>
                  <a:t>we want tags </a:t>
                </a:r>
                <a14:m>
                  <m:oMath xmlns:m="http://schemas.openxmlformats.org/officeDocument/2006/math">
                    <m:r>
                      <a:rPr lang="en-IN" i="1">
                        <a:latin typeface="Cambria Math" panose="02040503050406030204" pitchFamily="18" charset="0"/>
                      </a:rPr>
                      <m:t>𝑇</m:t>
                    </m:r>
                    <m:r>
                      <a:rPr lang="en-IN">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𝑛</m:t>
                        </m:r>
                      </m:sub>
                    </m:sSub>
                  </m:oMath>
                </a14:m>
                <a:r>
                  <a:rPr lang="ar-AE" dirty="0"/>
                  <a:t> </a:t>
                </a:r>
                <a:r>
                  <a:rPr lang="en-IN" dirty="0"/>
                  <a:t>that maximize</a:t>
                </a:r>
              </a:p>
              <a:p>
                <a:pPr marL="0" indent="0">
                  <a:buNone/>
                </a:pPr>
                <a:br>
                  <a:rPr lang="en-IN" dirty="0"/>
                </a:br>
                <a14:m>
                  <m:oMathPara xmlns:m="http://schemas.openxmlformats.org/officeDocument/2006/math">
                    <m:oMathParaPr>
                      <m:jc m:val="centerGroup"/>
                    </m:oMathParaPr>
                    <m:oMath xmlns:m="http://schemas.openxmlformats.org/officeDocument/2006/math">
                      <m:r>
                        <a:rPr lang="en-IN" i="1"/>
                        <m:t>𝑃</m:t>
                      </m:r>
                      <m:d>
                        <m:dPr>
                          <m:ctrlPr>
                            <a:rPr lang="ar-AE" i="1"/>
                          </m:ctrlPr>
                        </m:dPr>
                        <m:e>
                          <m:r>
                            <a:rPr lang="ar-AE" i="1"/>
                            <m:t>𝑇</m:t>
                          </m:r>
                          <m:r>
                            <a:rPr lang="ar-AE"/>
                            <m:t>∣</m:t>
                          </m:r>
                          <m:r>
                            <a:rPr lang="ar-AE" i="1"/>
                            <m:t>𝑊</m:t>
                          </m:r>
                        </m:e>
                      </m:d>
                      <m:r>
                        <a:rPr lang="ar-AE"/>
                        <m:t>=</m:t>
                      </m:r>
                      <m:f>
                        <m:fPr>
                          <m:ctrlPr>
                            <a:rPr lang="ar-AE" i="1"/>
                          </m:ctrlPr>
                        </m:fPr>
                        <m:num>
                          <m:r>
                            <a:rPr lang="ar-AE" i="1"/>
                            <m:t>𝑃</m:t>
                          </m:r>
                          <m:d>
                            <m:dPr>
                              <m:ctrlPr>
                                <a:rPr lang="ar-AE" i="1"/>
                              </m:ctrlPr>
                            </m:dPr>
                            <m:e>
                              <m:r>
                                <a:rPr lang="ar-AE" i="1"/>
                                <m:t>𝑊</m:t>
                              </m:r>
                              <m:r>
                                <a:rPr lang="ar-AE"/>
                                <m:t>∣</m:t>
                              </m:r>
                              <m:r>
                                <a:rPr lang="ar-AE" i="1"/>
                                <m:t>𝑇</m:t>
                              </m:r>
                            </m:e>
                          </m:d>
                          <m:r>
                            <a:rPr lang="ar-AE"/>
                            <m:t>⋅</m:t>
                          </m:r>
                          <m:r>
                            <a:rPr lang="ar-AE" i="1"/>
                            <m:t>𝑃</m:t>
                          </m:r>
                          <m:d>
                            <m:dPr>
                              <m:ctrlPr>
                                <a:rPr lang="ar-AE" i="1"/>
                              </m:ctrlPr>
                            </m:dPr>
                            <m:e>
                              <m:r>
                                <a:rPr lang="ar-AE" i="1"/>
                                <m:t>𝑇</m:t>
                              </m:r>
                            </m:e>
                          </m:d>
                        </m:num>
                        <m:den>
                          <m:r>
                            <a:rPr lang="ar-AE" i="1"/>
                            <m:t>𝑃</m:t>
                          </m:r>
                          <m:d>
                            <m:dPr>
                              <m:ctrlPr>
                                <a:rPr lang="ar-AE" i="1"/>
                              </m:ctrlPr>
                            </m:dPr>
                            <m:e>
                              <m:r>
                                <a:rPr lang="ar-AE" i="1"/>
                                <m:t>𝑊</m:t>
                              </m:r>
                            </m:e>
                          </m:d>
                        </m:den>
                      </m:f>
                    </m:oMath>
                  </m:oMathPara>
                </a14:m>
                <a:endParaRPr lang="en-IN" dirty="0"/>
              </a:p>
              <a:p>
                <a:pPr marL="0" indent="0">
                  <a:buNone/>
                </a:pPr>
                <a:endParaRPr lang="ar-AE" dirty="0"/>
              </a:p>
              <a:p>
                <a:pPr lvl="1"/>
                <a:r>
                  <a:rPr lang="en-IN" dirty="0"/>
                  <a:t>Since </a:t>
                </a:r>
                <a14:m>
                  <m:oMath xmlns:m="http://schemas.openxmlformats.org/officeDocument/2006/math">
                    <m:r>
                      <a:rPr lang="en-IN" i="1"/>
                      <m:t>𝑃</m:t>
                    </m:r>
                    <m:d>
                      <m:dPr>
                        <m:ctrlPr>
                          <a:rPr lang="ar-AE" i="1"/>
                        </m:ctrlPr>
                      </m:dPr>
                      <m:e>
                        <m:r>
                          <a:rPr lang="ar-AE" i="1"/>
                          <m:t>𝑊</m:t>
                        </m:r>
                      </m:e>
                    </m:d>
                  </m:oMath>
                </a14:m>
                <a:r>
                  <a:rPr lang="ar-AE" dirty="0"/>
                  <a:t> </a:t>
                </a:r>
                <a:r>
                  <a:rPr lang="en-IN" dirty="0"/>
                  <a:t>is constant across all possible sequences, we maximize:</a:t>
                </a:r>
                <a14:m>
                  <m:oMath xmlns:m="http://schemas.openxmlformats.org/officeDocument/2006/math">
                    <m:r>
                      <a:rPr lang="en-IN" sz="2600" b="0" i="0" smtClean="0">
                        <a:latin typeface="Cambria Math" panose="02040503050406030204" pitchFamily="18" charset="0"/>
                      </a:rPr>
                      <m:t> </m:t>
                    </m:r>
                    <m:r>
                      <a:rPr lang="en-IN" sz="2600" i="1"/>
                      <m:t>𝑃</m:t>
                    </m:r>
                    <m:d>
                      <m:dPr>
                        <m:ctrlPr>
                          <a:rPr lang="ar-AE" sz="2600" i="1"/>
                        </m:ctrlPr>
                      </m:dPr>
                      <m:e>
                        <m:r>
                          <a:rPr lang="ar-AE" sz="2600" i="1"/>
                          <m:t>𝑊</m:t>
                        </m:r>
                        <m:r>
                          <a:rPr lang="ar-AE" sz="2600"/>
                          <m:t>∣</m:t>
                        </m:r>
                        <m:r>
                          <a:rPr lang="ar-AE" sz="2600" i="1"/>
                          <m:t>𝑇</m:t>
                        </m:r>
                      </m:e>
                    </m:d>
                    <m:r>
                      <a:rPr lang="ar-AE" sz="2600"/>
                      <m:t>⋅</m:t>
                    </m:r>
                    <m:r>
                      <a:rPr lang="ar-AE" sz="2600" i="1"/>
                      <m:t>𝑃</m:t>
                    </m:r>
                    <m:d>
                      <m:dPr>
                        <m:ctrlPr>
                          <a:rPr lang="ar-AE" sz="2600" i="1"/>
                        </m:ctrlPr>
                      </m:dPr>
                      <m:e>
                        <m:r>
                          <a:rPr lang="ar-AE" sz="2600" i="1"/>
                          <m:t>𝑇</m:t>
                        </m:r>
                      </m:e>
                    </m:d>
                  </m:oMath>
                </a14:m>
                <a:endParaRPr lang="ar-AE" dirty="0"/>
              </a:p>
              <a:p>
                <a:r>
                  <a:rPr lang="en-IN" dirty="0"/>
                  <a:t>Using HMM structure:</a:t>
                </a:r>
                <a:br>
                  <a:rPr lang="en-IN" dirty="0"/>
                </a:br>
                <a14:m>
                  <m:oMath xmlns:m="http://schemas.openxmlformats.org/officeDocument/2006/math">
                    <m:r>
                      <a:rPr lang="en-IN" i="1"/>
                      <m:t>𝑃</m:t>
                    </m:r>
                    <m:d>
                      <m:dPr>
                        <m:ctrlPr>
                          <a:rPr lang="ar-AE" i="1"/>
                        </m:ctrlPr>
                      </m:dPr>
                      <m:e>
                        <m:r>
                          <a:rPr lang="ar-AE" i="1"/>
                          <m:t>𝑊</m:t>
                        </m:r>
                        <m:r>
                          <a:rPr lang="ar-AE"/>
                          <m:t>∣</m:t>
                        </m:r>
                        <m:r>
                          <a:rPr lang="ar-AE" i="1"/>
                          <m:t>𝑇</m:t>
                        </m:r>
                      </m:e>
                    </m:d>
                    <m:r>
                      <a:rPr lang="ar-AE"/>
                      <m:t>⋅</m:t>
                    </m:r>
                    <m:r>
                      <a:rPr lang="ar-AE" i="1"/>
                      <m:t>𝑃</m:t>
                    </m:r>
                    <m:d>
                      <m:dPr>
                        <m:ctrlPr>
                          <a:rPr lang="ar-AE" i="1"/>
                        </m:ctrlPr>
                      </m:dPr>
                      <m:e>
                        <m:r>
                          <a:rPr lang="ar-AE" i="1"/>
                          <m:t>𝑇</m:t>
                        </m:r>
                      </m:e>
                    </m:d>
                    <m:r>
                      <a:rPr lang="ar-AE"/>
                      <m:t>=</m:t>
                    </m:r>
                    <m:nary>
                      <m:naryPr>
                        <m:chr m:val="∏"/>
                        <m:limLoc m:val="subSup"/>
                        <m:grow m:val="on"/>
                        <m:ctrlPr>
                          <a:rPr lang="ar-AE" i="1"/>
                        </m:ctrlPr>
                      </m:naryPr>
                      <m:sub>
                        <m:r>
                          <a:rPr lang="ar-AE" i="1"/>
                          <m:t>𝑖</m:t>
                        </m:r>
                        <m:r>
                          <a:rPr lang="ar-AE"/>
                          <m:t>=</m:t>
                        </m:r>
                        <m:r>
                          <a:rPr lang="ar-AE"/>
                          <m:t>1</m:t>
                        </m:r>
                      </m:sub>
                      <m:sup>
                        <m:r>
                          <a:rPr lang="ar-AE" i="1"/>
                          <m:t>𝑛</m:t>
                        </m:r>
                      </m:sup>
                      <m:e>
                        <m:r>
                          <a:rPr lang="ar-AE" i="1"/>
                          <m:t>𝑃</m:t>
                        </m:r>
                      </m:e>
                    </m:nary>
                    <m:d>
                      <m:dPr>
                        <m:ctrlPr>
                          <a:rPr lang="ar-AE" i="1"/>
                        </m:ctrlPr>
                      </m:dPr>
                      <m:e>
                        <m:sSub>
                          <m:sSubPr>
                            <m:ctrlPr>
                              <a:rPr lang="ar-AE" i="1"/>
                            </m:ctrlPr>
                          </m:sSubPr>
                          <m:e>
                            <m:r>
                              <a:rPr lang="ar-AE" i="1"/>
                              <m:t>𝑤</m:t>
                            </m:r>
                          </m:e>
                          <m:sub>
                            <m:r>
                              <a:rPr lang="ar-AE" i="1"/>
                              <m:t>𝑖</m:t>
                            </m:r>
                          </m:sub>
                        </m:sSub>
                        <m:r>
                          <a:rPr lang="ar-AE"/>
                          <m:t>∣</m:t>
                        </m:r>
                        <m:sSub>
                          <m:sSubPr>
                            <m:ctrlPr>
                              <a:rPr lang="ar-AE" i="1"/>
                            </m:ctrlPr>
                          </m:sSubPr>
                          <m:e>
                            <m:r>
                              <a:rPr lang="ar-AE" i="1"/>
                              <m:t>𝑡</m:t>
                            </m:r>
                          </m:e>
                          <m:sub>
                            <m:r>
                              <a:rPr lang="ar-AE" i="1"/>
                              <m:t>𝑖</m:t>
                            </m:r>
                          </m:sub>
                        </m:sSub>
                      </m:e>
                    </m:d>
                    <m:r>
                      <a:rPr lang="ar-AE"/>
                      <m:t>⋅</m:t>
                    </m:r>
                    <m:nary>
                      <m:naryPr>
                        <m:chr m:val="∏"/>
                        <m:limLoc m:val="subSup"/>
                        <m:grow m:val="on"/>
                        <m:ctrlPr>
                          <a:rPr lang="ar-AE" i="1"/>
                        </m:ctrlPr>
                      </m:naryPr>
                      <m:sub>
                        <m:r>
                          <a:rPr lang="ar-AE" i="1"/>
                          <m:t>𝑖</m:t>
                        </m:r>
                        <m:r>
                          <a:rPr lang="ar-AE"/>
                          <m:t>=</m:t>
                        </m:r>
                        <m:r>
                          <a:rPr lang="ar-AE"/>
                          <m:t>1</m:t>
                        </m:r>
                      </m:sub>
                      <m:sup>
                        <m:r>
                          <a:rPr lang="ar-AE" i="1"/>
                          <m:t>𝑛</m:t>
                        </m:r>
                      </m:sup>
                      <m:e>
                        <m:r>
                          <a:rPr lang="ar-AE" i="1"/>
                          <m:t>𝑃</m:t>
                        </m:r>
                      </m:e>
                    </m:nary>
                    <m:d>
                      <m:dPr>
                        <m:ctrlPr>
                          <a:rPr lang="ar-AE" i="1"/>
                        </m:ctrlPr>
                      </m:dPr>
                      <m:e>
                        <m:sSub>
                          <m:sSubPr>
                            <m:ctrlPr>
                              <a:rPr lang="ar-AE" i="1"/>
                            </m:ctrlPr>
                          </m:sSubPr>
                          <m:e>
                            <m:r>
                              <a:rPr lang="ar-AE" i="1"/>
                              <m:t>𝑡</m:t>
                            </m:r>
                          </m:e>
                          <m:sub>
                            <m:r>
                              <a:rPr lang="ar-AE" i="1"/>
                              <m:t>𝑖</m:t>
                            </m:r>
                          </m:sub>
                        </m:sSub>
                        <m:r>
                          <a:rPr lang="ar-AE"/>
                          <m:t>∣</m:t>
                        </m:r>
                        <m:sSub>
                          <m:sSubPr>
                            <m:ctrlPr>
                              <a:rPr lang="ar-AE" i="1"/>
                            </m:ctrlPr>
                          </m:sSubPr>
                          <m:e>
                            <m:r>
                              <a:rPr lang="ar-AE" i="1"/>
                              <m:t>𝑡</m:t>
                            </m:r>
                          </m:e>
                          <m:sub>
                            <m:r>
                              <a:rPr lang="ar-AE" i="1"/>
                              <m:t>𝑖</m:t>
                            </m:r>
                            <m:r>
                              <a:rPr lang="ar-AE"/>
                              <m:t>−</m:t>
                            </m:r>
                            <m:r>
                              <a:rPr lang="ar-AE"/>
                              <m:t>1</m:t>
                            </m:r>
                          </m:sub>
                        </m:sSub>
                      </m:e>
                    </m:d>
                  </m:oMath>
                </a14:m>
                <a:endParaRPr lang="ar-AE" dirty="0"/>
              </a:p>
              <a:p>
                <a:pPr lvl="1"/>
                <a:r>
                  <a:rPr lang="en-IN" dirty="0"/>
                  <a:t>First product: </a:t>
                </a:r>
                <a:r>
                  <a:rPr lang="en-IN" b="1" dirty="0">
                    <a:solidFill>
                      <a:srgbClr val="00B050"/>
                    </a:solidFill>
                  </a:rPr>
                  <a:t>emission probabilities</a:t>
                </a:r>
                <a:r>
                  <a:rPr lang="en-IN" dirty="0"/>
                  <a:t>.</a:t>
                </a:r>
              </a:p>
              <a:p>
                <a:pPr lvl="1"/>
                <a:r>
                  <a:rPr lang="en-IN" dirty="0"/>
                  <a:t>Second product: </a:t>
                </a:r>
                <a:r>
                  <a:rPr lang="en-IN" b="1" dirty="0">
                    <a:solidFill>
                      <a:srgbClr val="00B050"/>
                    </a:solidFill>
                  </a:rPr>
                  <a:t>transition probabilities</a:t>
                </a:r>
                <a:r>
                  <a:rPr lang="en-IN" dirty="0"/>
                  <a:t>.</a:t>
                </a:r>
              </a:p>
              <a:p>
                <a:r>
                  <a:rPr lang="en-IN" dirty="0"/>
                  <a:t>Naive approach: Try all possible tag sequences. Problem – for </a:t>
                </a:r>
                <a14:m>
                  <m:oMath xmlns:m="http://schemas.openxmlformats.org/officeDocument/2006/math">
                    <m:r>
                      <a:rPr lang="en-IN" i="1"/>
                      <m:t>𝑛</m:t>
                    </m:r>
                  </m:oMath>
                </a14:m>
                <a:r>
                  <a:rPr lang="en-IN" dirty="0"/>
                  <a:t> words and </a:t>
                </a:r>
                <a14:m>
                  <m:oMath xmlns:m="http://schemas.openxmlformats.org/officeDocument/2006/math">
                    <m:r>
                      <a:rPr lang="en-IN" i="1"/>
                      <m:t>𝑘</m:t>
                    </m:r>
                  </m:oMath>
                </a14:m>
                <a:r>
                  <a:rPr lang="en-IN" dirty="0"/>
                  <a:t> possible tags, there are </a:t>
                </a:r>
                <a14:m>
                  <m:oMath xmlns:m="http://schemas.openxmlformats.org/officeDocument/2006/math">
                    <m:sSup>
                      <m:sSupPr>
                        <m:ctrlPr>
                          <a:rPr lang="ar-AE"/>
                        </m:ctrlPr>
                      </m:sSupPr>
                      <m:e>
                        <m:r>
                          <a:rPr lang="ar-AE" i="1"/>
                          <m:t>𝑘</m:t>
                        </m:r>
                      </m:e>
                      <m:sup>
                        <m:r>
                          <a:rPr lang="ar-AE" i="1"/>
                          <m:t>𝑛</m:t>
                        </m:r>
                      </m:sup>
                    </m:sSup>
                  </m:oMath>
                </a14:m>
                <a:r>
                  <a:rPr lang="ar-AE" dirty="0"/>
                  <a:t> </a:t>
                </a:r>
                <a:r>
                  <a:rPr lang="en-IN" dirty="0"/>
                  <a:t>sequences =&gt; </a:t>
                </a:r>
                <a:r>
                  <a:rPr lang="en-IN" b="1" i="1" dirty="0">
                    <a:solidFill>
                      <a:srgbClr val="FF0000"/>
                    </a:solidFill>
                  </a:rPr>
                  <a:t>Computationally impractical</a:t>
                </a:r>
                <a:r>
                  <a:rPr lang="en-IN" i="1" dirty="0"/>
                  <a:t>.</a:t>
                </a:r>
                <a:endParaRPr lang="en-IN" dirty="0"/>
              </a:p>
              <a:p>
                <a:r>
                  <a:rPr lang="en-IN" dirty="0"/>
                  <a:t>Better approach: Use dynamic programming (Viterbi algorithm) to find the best sequence time.</a:t>
                </a:r>
              </a:p>
              <a:p>
                <a:endParaRPr lang="en-IN" dirty="0"/>
              </a:p>
            </p:txBody>
          </p:sp>
        </mc:Choice>
        <mc:Fallback>
          <p:sp>
            <p:nvSpPr>
              <p:cNvPr id="3" name="Content Placeholder 2">
                <a:extLst>
                  <a:ext uri="{FF2B5EF4-FFF2-40B4-BE49-F238E27FC236}">
                    <a16:creationId xmlns:a16="http://schemas.microsoft.com/office/drawing/2014/main" id="{5F27F47C-EB10-124C-0D8C-8AC88136C71C}"/>
                  </a:ext>
                </a:extLst>
              </p:cNvPr>
              <p:cNvSpPr>
                <a:spLocks noGrp="1" noRot="1" noChangeAspect="1" noMove="1" noResize="1" noEditPoints="1" noAdjustHandles="1" noChangeArrowheads="1" noChangeShapeType="1" noTextEdit="1"/>
              </p:cNvSpPr>
              <p:nvPr>
                <p:ph idx="1"/>
              </p:nvPr>
            </p:nvSpPr>
            <p:spPr>
              <a:xfrm>
                <a:off x="838200" y="1825625"/>
                <a:ext cx="10515600" cy="4832350"/>
              </a:xfrm>
              <a:blipFill>
                <a:blip r:embed="rId3"/>
                <a:stretch>
                  <a:fillRect l="-696" t="-2648"/>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7835ABD9-F9D2-959A-F5FD-CAD3B2236D3E}"/>
              </a:ext>
            </a:extLst>
          </p:cNvPr>
          <p:cNvSpPr>
            <a:spLocks noGrp="1"/>
          </p:cNvSpPr>
          <p:nvPr>
            <p:ph type="sldNum" sz="quarter" idx="12"/>
          </p:nvPr>
        </p:nvSpPr>
        <p:spPr/>
        <p:txBody>
          <a:bodyPr/>
          <a:lstStyle/>
          <a:p>
            <a:fld id="{D9AB36C4-4A00-4490-8C6E-D4776DE94668}" type="slidenum">
              <a:rPr lang="en-IN" smtClean="0"/>
              <a:t>9</a:t>
            </a:fld>
            <a:endParaRPr lang="en-IN"/>
          </a:p>
        </p:txBody>
      </p:sp>
    </p:spTree>
    <p:extLst>
      <p:ext uri="{BB962C8B-B14F-4D97-AF65-F5344CB8AC3E}">
        <p14:creationId xmlns:p14="http://schemas.microsoft.com/office/powerpoint/2010/main" val="2657025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1726C-0C4E-9D9F-102B-9D79C438C60E}"/>
              </a:ext>
            </a:extLst>
          </p:cNvPr>
          <p:cNvSpPr>
            <a:spLocks noGrp="1"/>
          </p:cNvSpPr>
          <p:nvPr>
            <p:ph type="title"/>
          </p:nvPr>
        </p:nvSpPr>
        <p:spPr/>
        <p:txBody>
          <a:bodyPr/>
          <a:lstStyle/>
          <a:p>
            <a:r>
              <a:rPr lang="en-IN"/>
              <a:t>Viterbi Algorithm Intuition</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F0CE089-3378-D88D-7955-1BA88F14085F}"/>
                  </a:ext>
                </a:extLst>
              </p:cNvPr>
              <p:cNvSpPr>
                <a:spLocks noGrp="1"/>
              </p:cNvSpPr>
              <p:nvPr>
                <p:ph idx="1"/>
              </p:nvPr>
            </p:nvSpPr>
            <p:spPr>
              <a:xfrm>
                <a:off x="838200" y="1825625"/>
                <a:ext cx="10515600" cy="4351338"/>
              </a:xfrm>
            </p:spPr>
            <p:txBody>
              <a:bodyPr>
                <a:normAutofit fontScale="92500" lnSpcReduction="20000"/>
              </a:bodyPr>
              <a:lstStyle/>
              <a:p>
                <a:r>
                  <a:rPr lang="en-IN" dirty="0"/>
                  <a:t>Build a table with:</a:t>
                </a:r>
              </a:p>
              <a:p>
                <a:pPr lvl="1"/>
                <a:r>
                  <a:rPr lang="en-IN" dirty="0"/>
                  <a:t>Rows = positions </a:t>
                </a:r>
                <a14:m>
                  <m:oMath xmlns:m="http://schemas.openxmlformats.org/officeDocument/2006/math">
                    <m:r>
                      <a:rPr lang="en-IN">
                        <a:latin typeface="Cambria Math" panose="02040503050406030204" pitchFamily="18" charset="0"/>
                      </a:rPr>
                      <m:t>1</m:t>
                    </m:r>
                    <m:r>
                      <a:rPr lang="en-IN">
                        <a:latin typeface="Cambria Math" panose="02040503050406030204" pitchFamily="18" charset="0"/>
                      </a:rPr>
                      <m:t>,</m:t>
                    </m:r>
                    <m:r>
                      <a:rPr lang="en-IN">
                        <a:latin typeface="Cambria Math" panose="02040503050406030204" pitchFamily="18" charset="0"/>
                      </a:rPr>
                      <m:t>2</m:t>
                    </m:r>
                    <m:r>
                      <a:rPr lang="en-IN">
                        <a:latin typeface="Cambria Math" panose="02040503050406030204" pitchFamily="18" charset="0"/>
                      </a:rPr>
                      <m:t>,...,</m:t>
                    </m:r>
                    <m:r>
                      <a:rPr lang="en-IN" i="1">
                        <a:latin typeface="Cambria Math" panose="02040503050406030204" pitchFamily="18" charset="0"/>
                      </a:rPr>
                      <m:t>𝑛</m:t>
                    </m:r>
                  </m:oMath>
                </a14:m>
                <a:r>
                  <a:rPr lang="en-IN" dirty="0"/>
                  <a:t> in the sentence.</a:t>
                </a:r>
              </a:p>
              <a:p>
                <a:pPr lvl="1"/>
                <a:r>
                  <a:rPr lang="en-IN" dirty="0"/>
                  <a:t>Columns = possible POS tags.</a:t>
                </a:r>
              </a:p>
              <a:p>
                <a:r>
                  <a:rPr lang="en-IN" dirty="0"/>
                  <a:t>Each cell stores the highest probability of any path that:</a:t>
                </a:r>
              </a:p>
              <a:p>
                <a:pPr lvl="1"/>
                <a:r>
                  <a:rPr lang="en-IN" dirty="0"/>
                  <a:t>Ends at that word position, and</a:t>
                </a:r>
              </a:p>
              <a:p>
                <a:pPr lvl="1"/>
                <a:r>
                  <a:rPr lang="en-IN" dirty="0"/>
                  <a:t>Uses that tag at that position.</a:t>
                </a:r>
              </a:p>
              <a:p>
                <a:r>
                  <a:rPr lang="en-IN" dirty="0"/>
                  <a:t>Recursion idea:</a:t>
                </a:r>
              </a:p>
              <a:p>
                <a:pPr lvl="1"/>
                <a:r>
                  <a:rPr lang="en-IN" dirty="0"/>
                  <a:t>For each word position </a:t>
                </a:r>
                <a14:m>
                  <m:oMath xmlns:m="http://schemas.openxmlformats.org/officeDocument/2006/math">
                    <m:r>
                      <a:rPr lang="en-IN" i="1">
                        <a:latin typeface="Cambria Math" panose="02040503050406030204" pitchFamily="18" charset="0"/>
                      </a:rPr>
                      <m:t>𝑖</m:t>
                    </m:r>
                  </m:oMath>
                </a14:m>
                <a:r>
                  <a:rPr lang="en-IN" dirty="0"/>
                  <a:t> and tag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𝑖</m:t>
                        </m:r>
                      </m:sub>
                    </m:sSub>
                  </m:oMath>
                </a14:m>
                <a:r>
                  <a:rPr lang="ar-AE" dirty="0"/>
                  <a:t>:</a:t>
                </a:r>
              </a:p>
              <a:p>
                <a:pPr lvl="2"/>
                <a:r>
                  <a:rPr lang="en-IN" dirty="0"/>
                  <a:t>Look at all previous tags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𝑖</m:t>
                        </m:r>
                        <m:r>
                          <a:rPr lang="ar-AE">
                            <a:latin typeface="Cambria Math" panose="02040503050406030204" pitchFamily="18" charset="0"/>
                          </a:rPr>
                          <m:t>−</m:t>
                        </m:r>
                        <m:r>
                          <a:rPr lang="ar-AE">
                            <a:latin typeface="Cambria Math" panose="02040503050406030204" pitchFamily="18" charset="0"/>
                          </a:rPr>
                          <m:t>1</m:t>
                        </m:r>
                      </m:sub>
                    </m:sSub>
                  </m:oMath>
                </a14:m>
                <a:r>
                  <a:rPr lang="ar-AE" dirty="0"/>
                  <a:t>.</a:t>
                </a:r>
              </a:p>
              <a:p>
                <a:pPr lvl="2"/>
                <a:r>
                  <a:rPr lang="en-IN" dirty="0"/>
                  <a:t>Score = </a:t>
                </a:r>
                <a:r>
                  <a:rPr lang="en-IN" sz="2200" dirty="0"/>
                  <a:t>[best score for </a:t>
                </a:r>
                <a14:m>
                  <m:oMath xmlns:m="http://schemas.openxmlformats.org/officeDocument/2006/math">
                    <m:sSub>
                      <m:sSubPr>
                        <m:ctrlPr>
                          <a:rPr lang="ar-AE" sz="2200" i="1">
                            <a:latin typeface="Cambria Math" panose="02040503050406030204" pitchFamily="18" charset="0"/>
                          </a:rPr>
                        </m:ctrlPr>
                      </m:sSubPr>
                      <m:e>
                        <m:r>
                          <a:rPr lang="ar-AE" sz="2200" i="1">
                            <a:latin typeface="Cambria Math" panose="02040503050406030204" pitchFamily="18" charset="0"/>
                          </a:rPr>
                          <m:t>𝑡</m:t>
                        </m:r>
                      </m:e>
                      <m:sub>
                        <m:r>
                          <a:rPr lang="ar-AE" sz="2200" i="1">
                            <a:latin typeface="Cambria Math" panose="02040503050406030204" pitchFamily="18" charset="0"/>
                          </a:rPr>
                          <m:t>𝑖</m:t>
                        </m:r>
                        <m:r>
                          <a:rPr lang="ar-AE" sz="2200">
                            <a:latin typeface="Cambria Math" panose="02040503050406030204" pitchFamily="18" charset="0"/>
                          </a:rPr>
                          <m:t>−</m:t>
                        </m:r>
                        <m:r>
                          <a:rPr lang="ar-AE" sz="2200">
                            <a:latin typeface="Cambria Math" panose="02040503050406030204" pitchFamily="18" charset="0"/>
                          </a:rPr>
                          <m:t>1</m:t>
                        </m:r>
                      </m:sub>
                    </m:sSub>
                  </m:oMath>
                </a14:m>
                <a:r>
                  <a:rPr lang="en-IN" sz="2200" dirty="0"/>
                  <a:t>]</a:t>
                </a:r>
                <a:r>
                  <a:rPr lang="ar-AE" sz="2200" dirty="0"/>
                  <a:t>] × </a:t>
                </a:r>
                <a14:m>
                  <m:oMath xmlns:m="http://schemas.openxmlformats.org/officeDocument/2006/math">
                    <m:r>
                      <a:rPr lang="ar-AE" sz="2200" i="1">
                        <a:latin typeface="Cambria Math" panose="02040503050406030204" pitchFamily="18" charset="0"/>
                      </a:rPr>
                      <m:t>𝑃</m:t>
                    </m:r>
                    <m:d>
                      <m:dPr>
                        <m:ctrlPr>
                          <a:rPr lang="ar-AE" sz="2200" i="1">
                            <a:latin typeface="Cambria Math" panose="02040503050406030204" pitchFamily="18" charset="0"/>
                          </a:rPr>
                        </m:ctrlPr>
                      </m:dPr>
                      <m:e>
                        <m:sSub>
                          <m:sSubPr>
                            <m:ctrlPr>
                              <a:rPr lang="ar-AE" sz="2200" i="1">
                                <a:latin typeface="Cambria Math" panose="02040503050406030204" pitchFamily="18" charset="0"/>
                              </a:rPr>
                            </m:ctrlPr>
                          </m:sSubPr>
                          <m:e>
                            <m:r>
                              <a:rPr lang="ar-AE" sz="2200" i="1">
                                <a:latin typeface="Cambria Math" panose="02040503050406030204" pitchFamily="18" charset="0"/>
                              </a:rPr>
                              <m:t>𝑡</m:t>
                            </m:r>
                          </m:e>
                          <m:sub>
                            <m:r>
                              <a:rPr lang="ar-AE" sz="2200" i="1">
                                <a:latin typeface="Cambria Math" panose="02040503050406030204" pitchFamily="18" charset="0"/>
                              </a:rPr>
                              <m:t>𝑖</m:t>
                            </m:r>
                          </m:sub>
                        </m:sSub>
                        <m:r>
                          <a:rPr lang="ar-AE" sz="2200">
                            <a:latin typeface="Cambria Math" panose="02040503050406030204" pitchFamily="18" charset="0"/>
                          </a:rPr>
                          <m:t>∣</m:t>
                        </m:r>
                        <m:sSub>
                          <m:sSubPr>
                            <m:ctrlPr>
                              <a:rPr lang="ar-AE" sz="2200" i="1">
                                <a:latin typeface="Cambria Math" panose="02040503050406030204" pitchFamily="18" charset="0"/>
                              </a:rPr>
                            </m:ctrlPr>
                          </m:sSubPr>
                          <m:e>
                            <m:r>
                              <a:rPr lang="ar-AE" sz="2200" i="1">
                                <a:latin typeface="Cambria Math" panose="02040503050406030204" pitchFamily="18" charset="0"/>
                              </a:rPr>
                              <m:t>𝑡</m:t>
                            </m:r>
                          </m:e>
                          <m:sub>
                            <m:r>
                              <a:rPr lang="ar-AE" sz="2200" i="1">
                                <a:latin typeface="Cambria Math" panose="02040503050406030204" pitchFamily="18" charset="0"/>
                              </a:rPr>
                              <m:t>𝑖</m:t>
                            </m:r>
                            <m:r>
                              <a:rPr lang="ar-AE" sz="2200">
                                <a:latin typeface="Cambria Math" panose="02040503050406030204" pitchFamily="18" charset="0"/>
                              </a:rPr>
                              <m:t>−</m:t>
                            </m:r>
                            <m:r>
                              <a:rPr lang="ar-AE" sz="2200">
                                <a:latin typeface="Cambria Math" panose="02040503050406030204" pitchFamily="18" charset="0"/>
                              </a:rPr>
                              <m:t>1</m:t>
                            </m:r>
                          </m:sub>
                        </m:sSub>
                      </m:e>
                    </m:d>
                  </m:oMath>
                </a14:m>
                <a:r>
                  <a:rPr lang="ar-AE" sz="2200" dirty="0"/>
                  <a:t> × </a:t>
                </a:r>
                <a14:m>
                  <m:oMath xmlns:m="http://schemas.openxmlformats.org/officeDocument/2006/math">
                    <m:r>
                      <a:rPr lang="ar-AE" sz="2200" i="1">
                        <a:latin typeface="Cambria Math" panose="02040503050406030204" pitchFamily="18" charset="0"/>
                      </a:rPr>
                      <m:t>𝑃</m:t>
                    </m:r>
                    <m:d>
                      <m:dPr>
                        <m:ctrlPr>
                          <a:rPr lang="ar-AE" sz="2200" i="1">
                            <a:latin typeface="Cambria Math" panose="02040503050406030204" pitchFamily="18" charset="0"/>
                          </a:rPr>
                        </m:ctrlPr>
                      </m:dPr>
                      <m:e>
                        <m:sSub>
                          <m:sSubPr>
                            <m:ctrlPr>
                              <a:rPr lang="ar-AE" sz="2200" i="1">
                                <a:latin typeface="Cambria Math" panose="02040503050406030204" pitchFamily="18" charset="0"/>
                              </a:rPr>
                            </m:ctrlPr>
                          </m:sSubPr>
                          <m:e>
                            <m:r>
                              <a:rPr lang="ar-AE" sz="2200" i="1">
                                <a:latin typeface="Cambria Math" panose="02040503050406030204" pitchFamily="18" charset="0"/>
                              </a:rPr>
                              <m:t>𝑤</m:t>
                            </m:r>
                          </m:e>
                          <m:sub>
                            <m:r>
                              <a:rPr lang="ar-AE" sz="2200" i="1">
                                <a:latin typeface="Cambria Math" panose="02040503050406030204" pitchFamily="18" charset="0"/>
                              </a:rPr>
                              <m:t>𝑖</m:t>
                            </m:r>
                          </m:sub>
                        </m:sSub>
                        <m:r>
                          <a:rPr lang="ar-AE" sz="2200">
                            <a:latin typeface="Cambria Math" panose="02040503050406030204" pitchFamily="18" charset="0"/>
                          </a:rPr>
                          <m:t>∣</m:t>
                        </m:r>
                        <m:sSub>
                          <m:sSubPr>
                            <m:ctrlPr>
                              <a:rPr lang="ar-AE" sz="2200" i="1">
                                <a:latin typeface="Cambria Math" panose="02040503050406030204" pitchFamily="18" charset="0"/>
                              </a:rPr>
                            </m:ctrlPr>
                          </m:sSubPr>
                          <m:e>
                            <m:r>
                              <a:rPr lang="ar-AE" sz="2200" i="1">
                                <a:latin typeface="Cambria Math" panose="02040503050406030204" pitchFamily="18" charset="0"/>
                              </a:rPr>
                              <m:t>𝑡</m:t>
                            </m:r>
                          </m:e>
                          <m:sub>
                            <m:r>
                              <a:rPr lang="ar-AE" sz="2200" i="1">
                                <a:latin typeface="Cambria Math" panose="02040503050406030204" pitchFamily="18" charset="0"/>
                              </a:rPr>
                              <m:t>𝑖</m:t>
                            </m:r>
                          </m:sub>
                        </m:sSub>
                      </m:e>
                    </m:d>
                  </m:oMath>
                </a14:m>
                <a:r>
                  <a:rPr lang="en-IN" sz="2200" dirty="0"/>
                  <a:t>]</a:t>
                </a:r>
                <a:r>
                  <a:rPr lang="en-IN" dirty="0"/>
                  <a:t>.</a:t>
                </a:r>
                <a:endParaRPr lang="ar-AE" dirty="0"/>
              </a:p>
              <a:p>
                <a:pPr lvl="2"/>
                <a:r>
                  <a:rPr lang="en-IN" dirty="0"/>
                  <a:t>Keep the maximum over previous tags.</a:t>
                </a:r>
              </a:p>
              <a:p>
                <a:r>
                  <a:rPr lang="en-IN" dirty="0"/>
                  <a:t>After filling the table, backtrack from the best-scoring tag in the last column to recover the tag sequence.</a:t>
                </a:r>
              </a:p>
              <a:p>
                <a:endParaRPr lang="en-IN" dirty="0"/>
              </a:p>
            </p:txBody>
          </p:sp>
        </mc:Choice>
        <mc:Fallback>
          <p:sp>
            <p:nvSpPr>
              <p:cNvPr id="3" name="Content Placeholder 2">
                <a:extLst>
                  <a:ext uri="{FF2B5EF4-FFF2-40B4-BE49-F238E27FC236}">
                    <a16:creationId xmlns:a16="http://schemas.microsoft.com/office/drawing/2014/main" id="{7F0CE089-3378-D88D-7955-1BA88F14085F}"/>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3"/>
                <a:stretch>
                  <a:fillRect l="-928" t="-3501"/>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E254C0B3-885B-FC7B-7F59-5B1B4785CFF6}"/>
              </a:ext>
            </a:extLst>
          </p:cNvPr>
          <p:cNvSpPr>
            <a:spLocks noGrp="1"/>
          </p:cNvSpPr>
          <p:nvPr>
            <p:ph type="sldNum" sz="quarter" idx="12"/>
          </p:nvPr>
        </p:nvSpPr>
        <p:spPr/>
        <p:txBody>
          <a:bodyPr/>
          <a:lstStyle/>
          <a:p>
            <a:fld id="{D9AB36C4-4A00-4490-8C6E-D4776DE94668}" type="slidenum">
              <a:rPr lang="en-IN" smtClean="0"/>
              <a:t>10</a:t>
            </a:fld>
            <a:endParaRPr lang="en-IN"/>
          </a:p>
        </p:txBody>
      </p:sp>
    </p:spTree>
    <p:extLst>
      <p:ext uri="{BB962C8B-B14F-4D97-AF65-F5344CB8AC3E}">
        <p14:creationId xmlns:p14="http://schemas.microsoft.com/office/powerpoint/2010/main" val="523745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B3AC3-7A7B-5886-38DE-22CEDBA34867}"/>
              </a:ext>
            </a:extLst>
          </p:cNvPr>
          <p:cNvSpPr>
            <a:spLocks noGrp="1"/>
          </p:cNvSpPr>
          <p:nvPr>
            <p:ph type="title"/>
          </p:nvPr>
        </p:nvSpPr>
        <p:spPr/>
        <p:txBody>
          <a:bodyPr/>
          <a:lstStyle/>
          <a:p>
            <a:r>
              <a:rPr lang="en-IN" dirty="0"/>
              <a:t>Resolving ambiguity using Viterbi</a:t>
            </a:r>
          </a:p>
        </p:txBody>
      </p:sp>
      <p:sp>
        <p:nvSpPr>
          <p:cNvPr id="3" name="Content Placeholder 2">
            <a:extLst>
              <a:ext uri="{FF2B5EF4-FFF2-40B4-BE49-F238E27FC236}">
                <a16:creationId xmlns:a16="http://schemas.microsoft.com/office/drawing/2014/main" id="{523CE775-5FBB-AB03-8E5D-FD56E988A486}"/>
              </a:ext>
            </a:extLst>
          </p:cNvPr>
          <p:cNvSpPr>
            <a:spLocks noGrp="1"/>
          </p:cNvSpPr>
          <p:nvPr>
            <p:ph idx="1"/>
          </p:nvPr>
        </p:nvSpPr>
        <p:spPr>
          <a:xfrm>
            <a:off x="838200" y="1825625"/>
            <a:ext cx="10515600" cy="4667250"/>
          </a:xfrm>
        </p:spPr>
        <p:txBody>
          <a:bodyPr/>
          <a:lstStyle/>
          <a:p>
            <a:r>
              <a:rPr lang="en-IN" dirty="0"/>
              <a:t>Words like “man” or “flies” can be noun or verb.</a:t>
            </a:r>
          </a:p>
          <a:p>
            <a:r>
              <a:rPr lang="en-IN" dirty="0"/>
              <a:t>Example: “The old man the boat.”</a:t>
            </a:r>
          </a:p>
          <a:p>
            <a:pPr lvl="1"/>
            <a:r>
              <a:rPr lang="en-IN" dirty="0"/>
              <a:t>“man” as verb (“to staff/operate”) is less frequent overall.</a:t>
            </a:r>
          </a:p>
          <a:p>
            <a:pPr lvl="1"/>
            <a:r>
              <a:rPr lang="en-IN" dirty="0"/>
              <a:t>But the context Det → </a:t>
            </a:r>
            <a:r>
              <a:rPr lang="en-IN" dirty="0" err="1"/>
              <a:t>Adj</a:t>
            </a:r>
            <a:r>
              <a:rPr lang="en-IN" dirty="0"/>
              <a:t> → Verb → Det → Noun forms a plausible pattern.</a:t>
            </a:r>
          </a:p>
          <a:p>
            <a:r>
              <a:rPr lang="en-IN" dirty="0"/>
              <a:t>Viterbi combines:</a:t>
            </a:r>
          </a:p>
          <a:p>
            <a:pPr lvl="1"/>
            <a:r>
              <a:rPr lang="en-IN" dirty="0"/>
              <a:t>Emission probabilities: P(“man” | noun) vs P(“man” | verb).</a:t>
            </a:r>
          </a:p>
          <a:p>
            <a:pPr lvl="1"/>
            <a:r>
              <a:rPr lang="en-IN" dirty="0"/>
              <a:t>Transition probabilities: P(verb | adjective), P(det | verb), etc.</a:t>
            </a:r>
          </a:p>
          <a:p>
            <a:r>
              <a:rPr lang="en-IN" dirty="0"/>
              <a:t>The best tag sequence is the one where the </a:t>
            </a:r>
            <a:r>
              <a:rPr lang="en-IN" b="1" u="sng" dirty="0"/>
              <a:t>whole path has highest probability</a:t>
            </a:r>
            <a:r>
              <a:rPr lang="en-IN" dirty="0"/>
              <a:t>, not just each word individually.</a:t>
            </a:r>
          </a:p>
        </p:txBody>
      </p:sp>
      <p:sp>
        <p:nvSpPr>
          <p:cNvPr id="4" name="Slide Number Placeholder 3">
            <a:extLst>
              <a:ext uri="{FF2B5EF4-FFF2-40B4-BE49-F238E27FC236}">
                <a16:creationId xmlns:a16="http://schemas.microsoft.com/office/drawing/2014/main" id="{68AD36BE-2A6B-2857-4F60-82DF1D8E2854}"/>
              </a:ext>
            </a:extLst>
          </p:cNvPr>
          <p:cNvSpPr>
            <a:spLocks noGrp="1"/>
          </p:cNvSpPr>
          <p:nvPr>
            <p:ph type="sldNum" sz="quarter" idx="12"/>
          </p:nvPr>
        </p:nvSpPr>
        <p:spPr/>
        <p:txBody>
          <a:bodyPr/>
          <a:lstStyle/>
          <a:p>
            <a:fld id="{D9AB36C4-4A00-4490-8C6E-D4776DE94668}" type="slidenum">
              <a:rPr lang="en-IN" smtClean="0"/>
              <a:t>11</a:t>
            </a:fld>
            <a:endParaRPr lang="en-IN"/>
          </a:p>
        </p:txBody>
      </p:sp>
    </p:spTree>
    <p:extLst>
      <p:ext uri="{BB962C8B-B14F-4D97-AF65-F5344CB8AC3E}">
        <p14:creationId xmlns:p14="http://schemas.microsoft.com/office/powerpoint/2010/main" val="3150400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DF86C-C461-E244-0827-79610318B0A9}"/>
              </a:ext>
            </a:extLst>
          </p:cNvPr>
          <p:cNvSpPr>
            <a:spLocks noGrp="1"/>
          </p:cNvSpPr>
          <p:nvPr>
            <p:ph type="title"/>
          </p:nvPr>
        </p:nvSpPr>
        <p:spPr/>
        <p:txBody>
          <a:bodyPr/>
          <a:lstStyle/>
          <a:p>
            <a:r>
              <a:rPr lang="en-IN" dirty="0"/>
              <a:t>Training an HMM Tagger: Brown Corpus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0D3F506-1AA5-749D-11A0-681692D08636}"/>
                  </a:ext>
                </a:extLst>
              </p:cNvPr>
              <p:cNvSpPr>
                <a:spLocks noGrp="1"/>
              </p:cNvSpPr>
              <p:nvPr>
                <p:ph idx="1"/>
              </p:nvPr>
            </p:nvSpPr>
            <p:spPr/>
            <p:txBody>
              <a:bodyPr/>
              <a:lstStyle/>
              <a:p>
                <a:r>
                  <a:rPr lang="en-IN" dirty="0"/>
                  <a:t>Brown corpus:</a:t>
                </a:r>
              </a:p>
              <a:p>
                <a:pPr lvl="1"/>
                <a:r>
                  <a:rPr lang="en-IN" dirty="0"/>
                  <a:t>One of the earliest large, hand-tagged corpora of English.</a:t>
                </a:r>
              </a:p>
              <a:p>
                <a:pPr lvl="1"/>
                <a:r>
                  <a:rPr lang="en-IN" dirty="0"/>
                  <a:t>~1 million words, multiple genres, each token labelled with a POS tag.</a:t>
                </a:r>
              </a:p>
              <a:p>
                <a:r>
                  <a:rPr lang="en-IN" dirty="0"/>
                  <a:t>Training the HMM:</a:t>
                </a:r>
              </a:p>
              <a:p>
                <a:pPr lvl="1"/>
                <a:r>
                  <a:rPr lang="en-IN" dirty="0"/>
                  <a:t>From tagged sentences, estimate:</a:t>
                </a:r>
              </a:p>
              <a:p>
                <a:pPr lvl="2"/>
                <a:r>
                  <a:rPr lang="en-IN" dirty="0"/>
                  <a:t>Transition probabilities </a:t>
                </a:r>
                <a14:m>
                  <m:oMath xmlns:m="http://schemas.openxmlformats.org/officeDocument/2006/math">
                    <m:r>
                      <a:rPr lang="en-IN" i="1"/>
                      <m:t>𝑃</m:t>
                    </m:r>
                    <m:d>
                      <m:dPr>
                        <m:ctrlPr>
                          <a:rPr lang="ar-AE" i="1"/>
                        </m:ctrlPr>
                      </m:dPr>
                      <m:e>
                        <m:sSub>
                          <m:sSubPr>
                            <m:ctrlPr>
                              <a:rPr lang="ar-AE" i="1"/>
                            </m:ctrlPr>
                          </m:sSubPr>
                          <m:e>
                            <m:r>
                              <a:rPr lang="ar-AE" i="1"/>
                              <m:t>𝑡</m:t>
                            </m:r>
                          </m:e>
                          <m:sub>
                            <m:r>
                              <a:rPr lang="ar-AE" i="1"/>
                              <m:t>𝑖</m:t>
                            </m:r>
                          </m:sub>
                        </m:sSub>
                        <m:r>
                          <a:rPr lang="ar-AE"/>
                          <m:t>∣</m:t>
                        </m:r>
                        <m:sSub>
                          <m:sSubPr>
                            <m:ctrlPr>
                              <a:rPr lang="ar-AE" i="1"/>
                            </m:ctrlPr>
                          </m:sSubPr>
                          <m:e>
                            <m:r>
                              <a:rPr lang="ar-AE" i="1"/>
                              <m:t>𝑡</m:t>
                            </m:r>
                          </m:e>
                          <m:sub>
                            <m:r>
                              <a:rPr lang="ar-AE" i="1"/>
                              <m:t>𝑖</m:t>
                            </m:r>
                            <m:r>
                              <a:rPr lang="ar-AE"/>
                              <m:t>−</m:t>
                            </m:r>
                            <m:r>
                              <a:rPr lang="ar-AE"/>
                              <m:t>1</m:t>
                            </m:r>
                          </m:sub>
                        </m:sSub>
                      </m:e>
                    </m:d>
                  </m:oMath>
                </a14:m>
                <a:r>
                  <a:rPr lang="ar-AE" dirty="0"/>
                  <a:t> </a:t>
                </a:r>
                <a:r>
                  <a:rPr lang="en-IN" dirty="0"/>
                  <a:t>from tag bigram counts.</a:t>
                </a:r>
              </a:p>
              <a:p>
                <a:pPr lvl="2"/>
                <a:r>
                  <a:rPr lang="en-IN" dirty="0"/>
                  <a:t>Emission probabilities </a:t>
                </a:r>
                <a14:m>
                  <m:oMath xmlns:m="http://schemas.openxmlformats.org/officeDocument/2006/math">
                    <m:r>
                      <a:rPr lang="en-IN" i="1"/>
                      <m:t>𝑃</m:t>
                    </m:r>
                    <m:d>
                      <m:dPr>
                        <m:ctrlPr>
                          <a:rPr lang="ar-AE" i="1"/>
                        </m:ctrlPr>
                      </m:dPr>
                      <m:e>
                        <m:r>
                          <a:rPr lang="ar-AE" i="1"/>
                          <m:t>𝑤</m:t>
                        </m:r>
                        <m:r>
                          <a:rPr lang="ar-AE"/>
                          <m:t>∣</m:t>
                        </m:r>
                        <m:r>
                          <a:rPr lang="ar-AE" i="1"/>
                          <m:t>𝑡</m:t>
                        </m:r>
                      </m:e>
                    </m:d>
                  </m:oMath>
                </a14:m>
                <a:r>
                  <a:rPr lang="ar-AE" dirty="0"/>
                  <a:t> </a:t>
                </a:r>
                <a:r>
                  <a:rPr lang="en-IN" dirty="0"/>
                  <a:t>from word–tag counts.</a:t>
                </a:r>
              </a:p>
              <a:p>
                <a:pPr lvl="1"/>
                <a:r>
                  <a:rPr lang="en-IN" dirty="0"/>
                  <a:t>Apply smoothing so unseen events get small non-zero probability.</a:t>
                </a:r>
              </a:p>
              <a:p>
                <a:r>
                  <a:rPr lang="en-IN" dirty="0"/>
                  <a:t>Train–test split:</a:t>
                </a:r>
              </a:p>
              <a:p>
                <a:pPr lvl="1"/>
                <a:r>
                  <a:rPr lang="en-IN" dirty="0"/>
                  <a:t>Use a portion of Brown for training and a held-out portion for testing.</a:t>
                </a:r>
              </a:p>
              <a:p>
                <a:endParaRPr lang="en-IN" dirty="0"/>
              </a:p>
            </p:txBody>
          </p:sp>
        </mc:Choice>
        <mc:Fallback>
          <p:sp>
            <p:nvSpPr>
              <p:cNvPr id="3" name="Content Placeholder 2">
                <a:extLst>
                  <a:ext uri="{FF2B5EF4-FFF2-40B4-BE49-F238E27FC236}">
                    <a16:creationId xmlns:a16="http://schemas.microsoft.com/office/drawing/2014/main" id="{40D3F506-1AA5-749D-11A0-681692D08636}"/>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79A092A1-6790-79A7-F8AB-1230F130CA2C}"/>
              </a:ext>
            </a:extLst>
          </p:cNvPr>
          <p:cNvSpPr>
            <a:spLocks noGrp="1"/>
          </p:cNvSpPr>
          <p:nvPr>
            <p:ph type="sldNum" sz="quarter" idx="12"/>
          </p:nvPr>
        </p:nvSpPr>
        <p:spPr/>
        <p:txBody>
          <a:bodyPr/>
          <a:lstStyle/>
          <a:p>
            <a:fld id="{D9AB36C4-4A00-4490-8C6E-D4776DE94668}" type="slidenum">
              <a:rPr lang="en-IN" smtClean="0"/>
              <a:t>12</a:t>
            </a:fld>
            <a:endParaRPr lang="en-IN"/>
          </a:p>
        </p:txBody>
      </p:sp>
    </p:spTree>
    <p:extLst>
      <p:ext uri="{BB962C8B-B14F-4D97-AF65-F5344CB8AC3E}">
        <p14:creationId xmlns:p14="http://schemas.microsoft.com/office/powerpoint/2010/main" val="2669802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9CA07-48C3-18FC-610A-0D59E26E646B}"/>
              </a:ext>
            </a:extLst>
          </p:cNvPr>
          <p:cNvSpPr>
            <a:spLocks noGrp="1"/>
          </p:cNvSpPr>
          <p:nvPr>
            <p:ph type="title"/>
          </p:nvPr>
        </p:nvSpPr>
        <p:spPr/>
        <p:txBody>
          <a:bodyPr/>
          <a:lstStyle/>
          <a:p>
            <a:r>
              <a:rPr lang="en-IN" dirty="0"/>
              <a:t>Evaluating the tagger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2A2DA10-DAD7-9DFB-05E2-254FD6727C8F}"/>
                  </a:ext>
                </a:extLst>
              </p:cNvPr>
              <p:cNvSpPr>
                <a:spLocks noGrp="1"/>
              </p:cNvSpPr>
              <p:nvPr>
                <p:ph idx="1"/>
              </p:nvPr>
            </p:nvSpPr>
            <p:spPr/>
            <p:txBody>
              <a:bodyPr>
                <a:normAutofit fontScale="92500" lnSpcReduction="10000"/>
              </a:bodyPr>
              <a:lstStyle/>
              <a:p>
                <a:r>
                  <a:rPr lang="en-IN" dirty="0"/>
                  <a:t>We use the test set to measure accuracy:</a:t>
                </a:r>
              </a:p>
              <a:p>
                <a:endParaRPr lang="en-IN" sz="900" dirty="0"/>
              </a:p>
              <a:p>
                <a:pPr marL="0" indent="0" algn="ctr">
                  <a:buNone/>
                </a:pPr>
                <a14:m>
                  <m:oMathPara xmlns:m="http://schemas.openxmlformats.org/officeDocument/2006/math">
                    <m:oMathParaPr>
                      <m:jc m:val="centerGroup"/>
                    </m:oMathParaPr>
                    <m:oMath xmlns:m="http://schemas.openxmlformats.org/officeDocument/2006/math">
                      <m:r>
                        <a:rPr lang="en-IN" sz="2400" b="0" i="1" smtClean="0">
                          <a:latin typeface="Cambria Math" panose="02040503050406030204" pitchFamily="18" charset="0"/>
                        </a:rPr>
                        <m:t>𝐴𝑐𝑐𝑢𝑟𝑎𝑐𝑦</m:t>
                      </m:r>
                      <m:r>
                        <a:rPr lang="en-IN" sz="2400" b="0" i="1" smtClean="0">
                          <a:latin typeface="Cambria Math" panose="02040503050406030204" pitchFamily="18" charset="0"/>
                        </a:rPr>
                        <m:t>= </m:t>
                      </m:r>
                      <m:f>
                        <m:fPr>
                          <m:ctrlPr>
                            <a:rPr lang="en-IN" sz="2400" b="0" i="1" smtClean="0">
                              <a:latin typeface="Cambria Math" panose="02040503050406030204" pitchFamily="18" charset="0"/>
                            </a:rPr>
                          </m:ctrlPr>
                        </m:fPr>
                        <m:num>
                          <m:r>
                            <a:rPr lang="en-IN" sz="2400" b="0" i="1" smtClean="0">
                              <a:latin typeface="Cambria Math" panose="02040503050406030204" pitchFamily="18" charset="0"/>
                            </a:rPr>
                            <m:t>#</m:t>
                          </m:r>
                          <m:r>
                            <a:rPr lang="en-IN" sz="2400" b="0" i="1" smtClean="0">
                              <a:latin typeface="Cambria Math" panose="02040503050406030204" pitchFamily="18" charset="0"/>
                            </a:rPr>
                            <m:t>𝑐𝑜𝑟𝑟𝑒𝑐𝑡𝑙𝑦</m:t>
                          </m:r>
                          <m:r>
                            <a:rPr lang="en-IN" sz="2400" b="0" i="1" smtClean="0">
                              <a:latin typeface="Cambria Math" panose="02040503050406030204" pitchFamily="18" charset="0"/>
                            </a:rPr>
                            <m:t> </m:t>
                          </m:r>
                          <m:r>
                            <a:rPr lang="en-IN" sz="2400" b="0" i="1" smtClean="0">
                              <a:latin typeface="Cambria Math" panose="02040503050406030204" pitchFamily="18" charset="0"/>
                            </a:rPr>
                            <m:t>𝑡𝑎𝑔𝑔𝑒𝑑</m:t>
                          </m:r>
                          <m:r>
                            <a:rPr lang="en-IN" sz="2400" b="0" i="1" smtClean="0">
                              <a:latin typeface="Cambria Math" panose="02040503050406030204" pitchFamily="18" charset="0"/>
                            </a:rPr>
                            <m:t> </m:t>
                          </m:r>
                          <m:r>
                            <a:rPr lang="en-IN" sz="2400" b="0" i="1" smtClean="0">
                              <a:latin typeface="Cambria Math" panose="02040503050406030204" pitchFamily="18" charset="0"/>
                            </a:rPr>
                            <m:t>𝑤𝑜𝑟𝑑𝑠</m:t>
                          </m:r>
                        </m:num>
                        <m:den>
                          <m:r>
                            <a:rPr lang="en-IN" sz="2400" b="0" i="1" smtClean="0">
                              <a:latin typeface="Cambria Math" panose="02040503050406030204" pitchFamily="18" charset="0"/>
                            </a:rPr>
                            <m:t>#</m:t>
                          </m:r>
                          <m:r>
                            <a:rPr lang="en-IN" sz="2400" b="0" i="1" smtClean="0">
                              <a:latin typeface="Cambria Math" panose="02040503050406030204" pitchFamily="18" charset="0"/>
                            </a:rPr>
                            <m:t>𝑡𝑜𝑡𝑎𝑙</m:t>
                          </m:r>
                          <m:r>
                            <a:rPr lang="en-IN" sz="2400" b="0" i="1" smtClean="0">
                              <a:latin typeface="Cambria Math" panose="02040503050406030204" pitchFamily="18" charset="0"/>
                            </a:rPr>
                            <m:t> </m:t>
                          </m:r>
                          <m:r>
                            <a:rPr lang="en-IN" sz="2400" b="0" i="1" smtClean="0">
                              <a:latin typeface="Cambria Math" panose="02040503050406030204" pitchFamily="18" charset="0"/>
                            </a:rPr>
                            <m:t>𝑤𝑜𝑟𝑑𝑠</m:t>
                          </m:r>
                          <m:r>
                            <a:rPr lang="en-IN" sz="2400" b="0" i="1" smtClean="0">
                              <a:latin typeface="Cambria Math" panose="02040503050406030204" pitchFamily="18" charset="0"/>
                            </a:rPr>
                            <m:t> </m:t>
                          </m:r>
                          <m:r>
                            <a:rPr lang="en-IN" sz="2400" b="0" i="1" smtClean="0">
                              <a:latin typeface="Cambria Math" panose="02040503050406030204" pitchFamily="18" charset="0"/>
                            </a:rPr>
                            <m:t>𝑖𝑛</m:t>
                          </m:r>
                          <m:r>
                            <a:rPr lang="en-IN" sz="2400" b="0" i="1" smtClean="0">
                              <a:latin typeface="Cambria Math" panose="02040503050406030204" pitchFamily="18" charset="0"/>
                            </a:rPr>
                            <m:t> </m:t>
                          </m:r>
                          <m:r>
                            <a:rPr lang="en-IN" sz="2400" b="0" i="1" smtClean="0">
                              <a:latin typeface="Cambria Math" panose="02040503050406030204" pitchFamily="18" charset="0"/>
                            </a:rPr>
                            <m:t>𝑡𝑒𝑠𝑡</m:t>
                          </m:r>
                          <m:r>
                            <a:rPr lang="en-IN" sz="2400" b="0" i="1" smtClean="0">
                              <a:latin typeface="Cambria Math" panose="02040503050406030204" pitchFamily="18" charset="0"/>
                            </a:rPr>
                            <m:t> </m:t>
                          </m:r>
                          <m:r>
                            <a:rPr lang="en-IN" sz="2400" b="0" i="1" smtClean="0">
                              <a:latin typeface="Cambria Math" panose="02040503050406030204" pitchFamily="18" charset="0"/>
                            </a:rPr>
                            <m:t>𝑠𝑒𝑡</m:t>
                          </m:r>
                        </m:den>
                      </m:f>
                    </m:oMath>
                  </m:oMathPara>
                </a14:m>
                <a:endParaRPr lang="en-IN" dirty="0"/>
              </a:p>
              <a:p>
                <a:pPr marL="0" indent="0" algn="ctr">
                  <a:buNone/>
                </a:pPr>
                <a:endParaRPr lang="en-IN" sz="1500" dirty="0"/>
              </a:p>
              <a:p>
                <a:r>
                  <a:rPr lang="en-IN" dirty="0"/>
                  <a:t>Compare to simple baselines:</a:t>
                </a:r>
              </a:p>
              <a:p>
                <a:pPr lvl="1"/>
                <a:r>
                  <a:rPr lang="en-IN" dirty="0"/>
                  <a:t>Always assign the most frequent tag (e.g., NN).</a:t>
                </a:r>
              </a:p>
              <a:p>
                <a:pPr lvl="1"/>
                <a:r>
                  <a:rPr lang="en-IN" dirty="0"/>
                  <a:t>Unigram tagger: most common tag for each word.</a:t>
                </a:r>
              </a:p>
              <a:p>
                <a:r>
                  <a:rPr lang="en-IN" dirty="0"/>
                  <a:t>HMM / bigram tagger </a:t>
                </a:r>
                <a:r>
                  <a:rPr lang="en-IN" b="1" u="sng" dirty="0"/>
                  <a:t>usually</a:t>
                </a:r>
                <a:r>
                  <a:rPr lang="en-IN" dirty="0"/>
                  <a:t> improves accuracy by using context.</a:t>
                </a:r>
              </a:p>
              <a:p>
                <a:r>
                  <a:rPr lang="en-IN" dirty="0"/>
                  <a:t>Qualitative evaluation:</a:t>
                </a:r>
              </a:p>
              <a:p>
                <a:pPr lvl="1"/>
                <a:r>
                  <a:rPr lang="en-IN" dirty="0"/>
                  <a:t>Inspect sentences where the tagger makes mistakes.</a:t>
                </a:r>
              </a:p>
              <a:p>
                <a:pPr lvl="1"/>
                <a:r>
                  <a:rPr lang="en-IN" dirty="0"/>
                  <a:t>Common confusion between word forms can be resolved (as we will see later)</a:t>
                </a:r>
              </a:p>
            </p:txBody>
          </p:sp>
        </mc:Choice>
        <mc:Fallback>
          <p:sp>
            <p:nvSpPr>
              <p:cNvPr id="3" name="Content Placeholder 2">
                <a:extLst>
                  <a:ext uri="{FF2B5EF4-FFF2-40B4-BE49-F238E27FC236}">
                    <a16:creationId xmlns:a16="http://schemas.microsoft.com/office/drawing/2014/main" id="{02A2DA10-DAD7-9DFB-05E2-254FD6727C8F}"/>
                  </a:ext>
                </a:extLst>
              </p:cNvPr>
              <p:cNvSpPr>
                <a:spLocks noGrp="1" noRot="1" noChangeAspect="1" noMove="1" noResize="1" noEditPoints="1" noAdjustHandles="1" noChangeArrowheads="1" noChangeShapeType="1" noTextEdit="1"/>
              </p:cNvSpPr>
              <p:nvPr>
                <p:ph idx="1"/>
              </p:nvPr>
            </p:nvSpPr>
            <p:spPr>
              <a:blipFill>
                <a:blip r:embed="rId3"/>
                <a:stretch>
                  <a:fillRect l="-928" t="-2801"/>
                </a:stretch>
              </a:blipFill>
            </p:spPr>
            <p:txBody>
              <a:bodyPr/>
              <a:lstStyle/>
              <a:p>
                <a:r>
                  <a:rPr lang="en-IN">
                    <a:noFill/>
                  </a:rPr>
                  <a:t> </a:t>
                </a:r>
              </a:p>
            </p:txBody>
          </p:sp>
        </mc:Fallback>
      </mc:AlternateContent>
      <p:sp>
        <p:nvSpPr>
          <p:cNvPr id="8" name="Slide Number Placeholder 7">
            <a:extLst>
              <a:ext uri="{FF2B5EF4-FFF2-40B4-BE49-F238E27FC236}">
                <a16:creationId xmlns:a16="http://schemas.microsoft.com/office/drawing/2014/main" id="{8236FCA6-7CC2-F06C-6348-7BA95007D137}"/>
              </a:ext>
            </a:extLst>
          </p:cNvPr>
          <p:cNvSpPr>
            <a:spLocks noGrp="1"/>
          </p:cNvSpPr>
          <p:nvPr>
            <p:ph type="sldNum" sz="quarter" idx="12"/>
          </p:nvPr>
        </p:nvSpPr>
        <p:spPr/>
        <p:txBody>
          <a:bodyPr/>
          <a:lstStyle/>
          <a:p>
            <a:fld id="{D9AB36C4-4A00-4490-8C6E-D4776DE94668}" type="slidenum">
              <a:rPr lang="en-IN" smtClean="0"/>
              <a:t>13</a:t>
            </a:fld>
            <a:endParaRPr lang="en-IN"/>
          </a:p>
        </p:txBody>
      </p:sp>
    </p:spTree>
    <p:extLst>
      <p:ext uri="{BB962C8B-B14F-4D97-AF65-F5344CB8AC3E}">
        <p14:creationId xmlns:p14="http://schemas.microsoft.com/office/powerpoint/2010/main" val="1716862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AE3EE-62A8-211C-CD86-71904FCF5BF5}"/>
              </a:ext>
            </a:extLst>
          </p:cNvPr>
          <p:cNvSpPr>
            <a:spLocks noGrp="1"/>
          </p:cNvSpPr>
          <p:nvPr>
            <p:ph type="title"/>
          </p:nvPr>
        </p:nvSpPr>
        <p:spPr/>
        <p:txBody>
          <a:bodyPr/>
          <a:lstStyle/>
          <a:p>
            <a:r>
              <a:rPr lang="en-IN" dirty="0"/>
              <a:t>Zero Probability Problem in Language Models</a:t>
            </a:r>
          </a:p>
        </p:txBody>
      </p:sp>
      <p:sp>
        <p:nvSpPr>
          <p:cNvPr id="3" name="Content Placeholder 2">
            <a:extLst>
              <a:ext uri="{FF2B5EF4-FFF2-40B4-BE49-F238E27FC236}">
                <a16:creationId xmlns:a16="http://schemas.microsoft.com/office/drawing/2014/main" id="{ABAF04E9-5A25-D2A9-71E4-B704FC8465DF}"/>
              </a:ext>
            </a:extLst>
          </p:cNvPr>
          <p:cNvSpPr>
            <a:spLocks noGrp="1"/>
          </p:cNvSpPr>
          <p:nvPr>
            <p:ph idx="1"/>
          </p:nvPr>
        </p:nvSpPr>
        <p:spPr>
          <a:xfrm>
            <a:off x="838200" y="1690688"/>
            <a:ext cx="10515600" cy="4486275"/>
          </a:xfrm>
        </p:spPr>
        <p:txBody>
          <a:bodyPr>
            <a:normAutofit fontScale="70000" lnSpcReduction="20000"/>
          </a:bodyPr>
          <a:lstStyle/>
          <a:p>
            <a:pPr>
              <a:lnSpc>
                <a:spcPct val="170000"/>
              </a:lnSpc>
            </a:pPr>
            <a:r>
              <a:rPr lang="en-US" dirty="0"/>
              <a:t>Problem - </a:t>
            </a:r>
            <a:r>
              <a:rPr lang="en-US" b="1" u="sng" dirty="0"/>
              <a:t>Maximum Likelihood Estimation (MLE) assigns 0 probability to unseen events</a:t>
            </a:r>
          </a:p>
          <a:p>
            <a:pPr lvl="1"/>
            <a:r>
              <a:rPr lang="en-US" dirty="0"/>
              <a:t>If bigram "</a:t>
            </a:r>
            <a:r>
              <a:rPr lang="en-US" sz="2600" i="1" dirty="0"/>
              <a:t>W</a:t>
            </a:r>
            <a:r>
              <a:rPr lang="en-US" sz="2600" i="1" baseline="-25000" dirty="0"/>
              <a:t>1</a:t>
            </a:r>
            <a:r>
              <a:rPr lang="en-US" sz="2600" i="1" dirty="0"/>
              <a:t> → W</a:t>
            </a:r>
            <a:r>
              <a:rPr lang="en-US" sz="2600" i="1" baseline="-25000" dirty="0"/>
              <a:t>2</a:t>
            </a:r>
            <a:r>
              <a:rPr lang="en-US" dirty="0"/>
              <a:t>" never appears in training, </a:t>
            </a:r>
            <a:r>
              <a:rPr lang="en-US" sz="2600" i="1" dirty="0"/>
              <a:t>P(W</a:t>
            </a:r>
            <a:r>
              <a:rPr lang="en-US" sz="2600" i="1" baseline="-25000" dirty="0"/>
              <a:t>2</a:t>
            </a:r>
            <a:r>
              <a:rPr lang="en-US" sz="2600" i="1" dirty="0"/>
              <a:t> | W</a:t>
            </a:r>
            <a:r>
              <a:rPr lang="en-US" sz="2600" i="1" baseline="-25000" dirty="0"/>
              <a:t>1</a:t>
            </a:r>
            <a:r>
              <a:rPr lang="en-US" sz="2600" i="1" dirty="0"/>
              <a:t>) = 0/count = 0</a:t>
            </a:r>
          </a:p>
          <a:p>
            <a:pPr lvl="1"/>
            <a:r>
              <a:rPr lang="en-US" dirty="0"/>
              <a:t>Any sentence containing an unseen bigram gets </a:t>
            </a:r>
            <a:r>
              <a:rPr lang="en-US" sz="2600" i="1" dirty="0"/>
              <a:t>P(sentence) = 0</a:t>
            </a:r>
          </a:p>
          <a:p>
            <a:r>
              <a:rPr lang="en-US" dirty="0"/>
              <a:t>Why is zero probability bad? </a:t>
            </a:r>
          </a:p>
          <a:p>
            <a:pPr lvl="1"/>
            <a:r>
              <a:rPr lang="en-US" dirty="0"/>
              <a:t>Multiplying probabilities: </a:t>
            </a:r>
            <a:r>
              <a:rPr lang="en-US" sz="2600" i="1" dirty="0"/>
              <a:t>P(sentence) = P(w</a:t>
            </a:r>
            <a:r>
              <a:rPr lang="en-US" sz="2600" i="1" baseline="-25000" dirty="0"/>
              <a:t>1</a:t>
            </a:r>
            <a:r>
              <a:rPr lang="en-US" sz="2600" i="1" dirty="0"/>
              <a:t>) × P(w</a:t>
            </a:r>
            <a:r>
              <a:rPr lang="en-US" sz="2600" i="1" baseline="-25000" dirty="0"/>
              <a:t>2</a:t>
            </a:r>
            <a:r>
              <a:rPr lang="en-US" sz="2600" i="1" dirty="0"/>
              <a:t>|w</a:t>
            </a:r>
            <a:r>
              <a:rPr lang="en-US" sz="2600" i="1" baseline="-25000" dirty="0"/>
              <a:t>1</a:t>
            </a:r>
            <a:r>
              <a:rPr lang="en-US" sz="2600" i="1" dirty="0"/>
              <a:t>) × ... × P(w</a:t>
            </a:r>
            <a:r>
              <a:rPr lang="en-US" sz="2600" i="1" baseline="-25000" dirty="0"/>
              <a:t>n</a:t>
            </a:r>
            <a:r>
              <a:rPr lang="en-US" sz="2600" i="1" dirty="0"/>
              <a:t>|w</a:t>
            </a:r>
            <a:r>
              <a:rPr lang="en-US" sz="2600" i="1" baseline="-25000" dirty="0"/>
              <a:t>n-1</a:t>
            </a:r>
            <a:r>
              <a:rPr lang="en-US" sz="2600" i="1" dirty="0"/>
              <a:t>) </a:t>
            </a:r>
          </a:p>
          <a:p>
            <a:pPr lvl="1"/>
            <a:r>
              <a:rPr lang="en-US" dirty="0">
                <a:solidFill>
                  <a:srgbClr val="FF0000"/>
                </a:solidFill>
              </a:rPr>
              <a:t>One zero kills the entire product </a:t>
            </a:r>
          </a:p>
          <a:p>
            <a:pPr lvl="1"/>
            <a:r>
              <a:rPr lang="en-US" dirty="0"/>
              <a:t>Viterbi algorithm breaks: can't build valid tag sequences </a:t>
            </a:r>
          </a:p>
          <a:p>
            <a:r>
              <a:rPr lang="en-US" dirty="0"/>
              <a:t>Example from our data: </a:t>
            </a:r>
          </a:p>
          <a:p>
            <a:pPr lvl="1"/>
            <a:r>
              <a:rPr lang="en-US" dirty="0"/>
              <a:t>Training: "I like mathematics“</a:t>
            </a:r>
          </a:p>
          <a:p>
            <a:pPr lvl="1"/>
            <a:r>
              <a:rPr lang="en-US" dirty="0"/>
              <a:t>Test: "I like coding" </a:t>
            </a:r>
          </a:p>
          <a:p>
            <a:pPr lvl="1"/>
            <a:r>
              <a:rPr lang="en-US" dirty="0"/>
              <a:t>If "like → coding" never seen in training → probability = 0</a:t>
            </a:r>
          </a:p>
          <a:p>
            <a:pPr lvl="1"/>
            <a:r>
              <a:rPr lang="en-US" b="1" u="sng" dirty="0"/>
              <a:t>Model says the sentence isn’t possible even though it's perfectly fine.</a:t>
            </a:r>
          </a:p>
          <a:p>
            <a:r>
              <a:rPr lang="en-US" dirty="0"/>
              <a:t>Why does this happen? Language has infinite combinations; training data is finite – for instance, even with ~1M words (Brown corpus), most word/tag pairs are rare or absent.</a:t>
            </a:r>
          </a:p>
          <a:p>
            <a:r>
              <a:rPr lang="en-US" dirty="0"/>
              <a:t>This leads to something called </a:t>
            </a:r>
            <a:r>
              <a:rPr lang="en-US" b="1" dirty="0">
                <a:solidFill>
                  <a:srgbClr val="FF0000"/>
                </a:solidFill>
              </a:rPr>
              <a:t>Data Sparsity Problem</a:t>
            </a:r>
            <a:r>
              <a:rPr lang="en-US" dirty="0"/>
              <a:t>.</a:t>
            </a:r>
            <a:endParaRPr lang="en-IN" dirty="0"/>
          </a:p>
        </p:txBody>
      </p:sp>
      <p:sp>
        <p:nvSpPr>
          <p:cNvPr id="4" name="Slide Number Placeholder 3">
            <a:extLst>
              <a:ext uri="{FF2B5EF4-FFF2-40B4-BE49-F238E27FC236}">
                <a16:creationId xmlns:a16="http://schemas.microsoft.com/office/drawing/2014/main" id="{186A8B9C-2956-4C84-7DA7-DE5F8F19AF66}"/>
              </a:ext>
            </a:extLst>
          </p:cNvPr>
          <p:cNvSpPr>
            <a:spLocks noGrp="1"/>
          </p:cNvSpPr>
          <p:nvPr>
            <p:ph type="sldNum" sz="quarter" idx="12"/>
          </p:nvPr>
        </p:nvSpPr>
        <p:spPr/>
        <p:txBody>
          <a:bodyPr/>
          <a:lstStyle/>
          <a:p>
            <a:fld id="{D9AB36C4-4A00-4490-8C6E-D4776DE94668}" type="slidenum">
              <a:rPr lang="en-IN" smtClean="0"/>
              <a:t>14</a:t>
            </a:fld>
            <a:endParaRPr lang="en-IN"/>
          </a:p>
        </p:txBody>
      </p:sp>
    </p:spTree>
    <p:extLst>
      <p:ext uri="{BB962C8B-B14F-4D97-AF65-F5344CB8AC3E}">
        <p14:creationId xmlns:p14="http://schemas.microsoft.com/office/powerpoint/2010/main" val="633738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EB3A1-EF51-854D-4C4F-FD0642A6BF29}"/>
              </a:ext>
            </a:extLst>
          </p:cNvPr>
          <p:cNvSpPr>
            <a:spLocks noGrp="1"/>
          </p:cNvSpPr>
          <p:nvPr>
            <p:ph type="title"/>
          </p:nvPr>
        </p:nvSpPr>
        <p:spPr/>
        <p:txBody>
          <a:bodyPr/>
          <a:lstStyle/>
          <a:p>
            <a:r>
              <a:rPr lang="en-US" dirty="0"/>
              <a:t>Laplace (Add-1) Smoothing: The Solution</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A7B00D9-3546-2586-7CB0-89CF84E576FD}"/>
                  </a:ext>
                </a:extLst>
              </p:cNvPr>
              <p:cNvSpPr>
                <a:spLocks noGrp="1"/>
              </p:cNvSpPr>
              <p:nvPr>
                <p:ph idx="1"/>
              </p:nvPr>
            </p:nvSpPr>
            <p:spPr>
              <a:xfrm>
                <a:off x="361950" y="1644649"/>
                <a:ext cx="5734050" cy="4784726"/>
              </a:xfrm>
            </p:spPr>
            <p:txBody>
              <a:bodyPr>
                <a:normAutofit/>
              </a:bodyPr>
              <a:lstStyle/>
              <a:p>
                <a:r>
                  <a:rPr lang="en-IN" sz="2000" dirty="0"/>
                  <a:t>Core Idea: </a:t>
                </a:r>
                <a:r>
                  <a:rPr lang="en-IN" sz="1800" dirty="0"/>
                  <a:t>Add 1 to every possible n-gram count → Prevents zero probabilities for unseen word pairs</a:t>
                </a:r>
              </a:p>
              <a:p>
                <a:r>
                  <a:rPr lang="en-IN" sz="1800" dirty="0"/>
                  <a:t>Probability Formulation</a:t>
                </a:r>
                <a:endParaRPr lang="en-IN" sz="1600" dirty="0"/>
              </a:p>
              <a:p>
                <a:pPr lvl="1"/>
                <a:r>
                  <a:rPr lang="en-IN" sz="2000" dirty="0"/>
                  <a:t>MLE (No Smoothing):</a:t>
                </a:r>
                <a14:m>
                  <m:oMath xmlns:m="http://schemas.openxmlformats.org/officeDocument/2006/math">
                    <m:r>
                      <a:rPr lang="en-IN" sz="2000" b="0" i="0" smtClean="0">
                        <a:latin typeface="Cambria Math" panose="02040503050406030204" pitchFamily="18" charset="0"/>
                      </a:rPr>
                      <m:t> </m:t>
                    </m:r>
                    <m:r>
                      <a:rPr lang="en-IN" sz="2000" b="0" i="1" smtClean="0">
                        <a:latin typeface="Cambria Math" panose="02040503050406030204" pitchFamily="18" charset="0"/>
                      </a:rPr>
                      <m:t>𝑃</m:t>
                    </m:r>
                    <m:d>
                      <m:dPr>
                        <m:ctrlPr>
                          <a:rPr lang="ar-AE" sz="2000" i="1"/>
                        </m:ctrlPr>
                      </m:dPr>
                      <m:e>
                        <m:r>
                          <a:rPr lang="ar-AE" sz="2000" b="0" i="1" smtClean="0">
                            <a:latin typeface="Cambria Math" panose="02040503050406030204" pitchFamily="18" charset="0"/>
                          </a:rPr>
                          <m:t>𝑤</m:t>
                        </m:r>
                        <m:r>
                          <a:rPr lang="ar-AE" sz="2000" b="0" smtClean="0">
                            <a:latin typeface="Cambria Math" panose="02040503050406030204" pitchFamily="18" charset="0"/>
                          </a:rPr>
                          <m:t>∣</m:t>
                        </m:r>
                        <m:r>
                          <a:rPr lang="ar-AE" sz="2000" b="0" i="1" smtClean="0">
                            <a:latin typeface="Cambria Math" panose="02040503050406030204" pitchFamily="18" charset="0"/>
                          </a:rPr>
                          <m:t>𝑡</m:t>
                        </m:r>
                      </m:e>
                    </m:d>
                    <m:r>
                      <a:rPr lang="ar-AE" sz="2000" b="0" smtClean="0">
                        <a:latin typeface="Cambria Math" panose="02040503050406030204" pitchFamily="18" charset="0"/>
                      </a:rPr>
                      <m:t>=</m:t>
                    </m:r>
                    <m:f>
                      <m:fPr>
                        <m:ctrlPr>
                          <a:rPr lang="ar-AE" sz="2000" i="1"/>
                        </m:ctrlPr>
                      </m:fPr>
                      <m:num>
                        <m:r>
                          <m:rPr>
                            <m:nor/>
                          </m:rPr>
                          <a:rPr lang="en-IN" sz="2000" i="1"/>
                          <m:t>count</m:t>
                        </m:r>
                        <m:d>
                          <m:dPr>
                            <m:sepChr m:val=","/>
                            <m:ctrlPr>
                              <a:rPr lang="ar-AE" sz="2000" i="1"/>
                            </m:ctrlPr>
                          </m:dPr>
                          <m:e>
                            <m:r>
                              <a:rPr lang="ar-AE" sz="2000" b="0" i="1" smtClean="0">
                                <a:latin typeface="Cambria Math" panose="02040503050406030204" pitchFamily="18" charset="0"/>
                              </a:rPr>
                              <m:t>𝑤</m:t>
                            </m:r>
                          </m:e>
                          <m:e>
                            <m:r>
                              <a:rPr lang="ar-AE" sz="2000" b="0" i="1" smtClean="0">
                                <a:latin typeface="Cambria Math" panose="02040503050406030204" pitchFamily="18" charset="0"/>
                              </a:rPr>
                              <m:t>𝑡</m:t>
                            </m:r>
                          </m:e>
                        </m:d>
                      </m:num>
                      <m:den>
                        <m:r>
                          <m:rPr>
                            <m:nor/>
                          </m:rPr>
                          <a:rPr lang="en-IN" sz="2000" i="1"/>
                          <m:t>count</m:t>
                        </m:r>
                        <m:d>
                          <m:dPr>
                            <m:ctrlPr>
                              <a:rPr lang="ar-AE" sz="2000" i="1"/>
                            </m:ctrlPr>
                          </m:dPr>
                          <m:e>
                            <m:r>
                              <a:rPr lang="ar-AE" sz="2000" b="0" i="1" smtClean="0">
                                <a:latin typeface="Cambria Math" panose="02040503050406030204" pitchFamily="18" charset="0"/>
                              </a:rPr>
                              <m:t>𝑡</m:t>
                            </m:r>
                          </m:e>
                        </m:d>
                      </m:den>
                    </m:f>
                  </m:oMath>
                </a14:m>
                <a:endParaRPr lang="ar-AE" sz="1800" dirty="0"/>
              </a:p>
              <a:p>
                <a:pPr lvl="1"/>
                <a:r>
                  <a:rPr lang="en-IN" sz="2000" dirty="0"/>
                  <a:t>Laplace Smoothing:</a:t>
                </a:r>
                <a14:m>
                  <m:oMath xmlns:m="http://schemas.openxmlformats.org/officeDocument/2006/math">
                    <m:r>
                      <a:rPr lang="en-IN" sz="2000" b="0" i="0" smtClean="0">
                        <a:latin typeface="Cambria Math" panose="02040503050406030204" pitchFamily="18" charset="0"/>
                      </a:rPr>
                      <m:t> </m:t>
                    </m:r>
                    <m:r>
                      <a:rPr lang="en-IN" sz="2000" b="0" i="1" smtClean="0">
                        <a:latin typeface="Cambria Math" panose="02040503050406030204" pitchFamily="18" charset="0"/>
                      </a:rPr>
                      <m:t>𝑃</m:t>
                    </m:r>
                    <m:d>
                      <m:dPr>
                        <m:ctrlPr>
                          <a:rPr lang="ar-AE" sz="2000" i="1"/>
                        </m:ctrlPr>
                      </m:dPr>
                      <m:e>
                        <m:r>
                          <a:rPr lang="ar-AE" sz="2000" b="0" i="1" smtClean="0">
                            <a:latin typeface="Cambria Math" panose="02040503050406030204" pitchFamily="18" charset="0"/>
                          </a:rPr>
                          <m:t>𝑤</m:t>
                        </m:r>
                        <m:r>
                          <a:rPr lang="ar-AE" sz="2000" b="0" smtClean="0">
                            <a:latin typeface="Cambria Math" panose="02040503050406030204" pitchFamily="18" charset="0"/>
                          </a:rPr>
                          <m:t>∣</m:t>
                        </m:r>
                        <m:r>
                          <a:rPr lang="ar-AE" sz="2000" b="0" i="1" smtClean="0">
                            <a:latin typeface="Cambria Math" panose="02040503050406030204" pitchFamily="18" charset="0"/>
                          </a:rPr>
                          <m:t>𝑡</m:t>
                        </m:r>
                      </m:e>
                    </m:d>
                    <m:r>
                      <a:rPr lang="ar-AE" sz="2000" b="0" smtClean="0">
                        <a:latin typeface="Cambria Math" panose="02040503050406030204" pitchFamily="18" charset="0"/>
                      </a:rPr>
                      <m:t>=</m:t>
                    </m:r>
                    <m:f>
                      <m:fPr>
                        <m:ctrlPr>
                          <a:rPr lang="ar-AE" sz="2000" i="1"/>
                        </m:ctrlPr>
                      </m:fPr>
                      <m:num>
                        <m:r>
                          <m:rPr>
                            <m:nor/>
                          </m:rPr>
                          <a:rPr lang="en-IN" sz="2000" i="1"/>
                          <m:t>count</m:t>
                        </m:r>
                        <m:d>
                          <m:dPr>
                            <m:sepChr m:val=","/>
                            <m:ctrlPr>
                              <a:rPr lang="ar-AE" sz="2000" i="1"/>
                            </m:ctrlPr>
                          </m:dPr>
                          <m:e>
                            <m:r>
                              <a:rPr lang="ar-AE" sz="2000" b="0" i="1" smtClean="0">
                                <a:latin typeface="Cambria Math" panose="02040503050406030204" pitchFamily="18" charset="0"/>
                              </a:rPr>
                              <m:t>𝑤</m:t>
                            </m:r>
                          </m:e>
                          <m:e>
                            <m:r>
                              <a:rPr lang="ar-AE" sz="2000" b="0" i="1" smtClean="0">
                                <a:latin typeface="Cambria Math" panose="02040503050406030204" pitchFamily="18" charset="0"/>
                              </a:rPr>
                              <m:t>𝑡</m:t>
                            </m:r>
                          </m:e>
                        </m:d>
                        <m:r>
                          <a:rPr lang="ar-AE" sz="2000" b="0" smtClean="0">
                            <a:latin typeface="Cambria Math" panose="02040503050406030204" pitchFamily="18" charset="0"/>
                          </a:rPr>
                          <m:t>+</m:t>
                        </m:r>
                        <m:r>
                          <a:rPr lang="ar-AE" sz="2000" b="0" smtClean="0">
                            <a:latin typeface="Cambria Math" panose="02040503050406030204" pitchFamily="18" charset="0"/>
                          </a:rPr>
                          <m:t>1</m:t>
                        </m:r>
                      </m:num>
                      <m:den>
                        <m:r>
                          <m:rPr>
                            <m:nor/>
                          </m:rPr>
                          <a:rPr lang="en-IN" sz="2000" i="1"/>
                          <m:t>count</m:t>
                        </m:r>
                        <m:d>
                          <m:dPr>
                            <m:ctrlPr>
                              <a:rPr lang="ar-AE" sz="2000" i="1"/>
                            </m:ctrlPr>
                          </m:dPr>
                          <m:e>
                            <m:r>
                              <a:rPr lang="ar-AE" sz="2000" b="0" i="1" smtClean="0">
                                <a:latin typeface="Cambria Math" panose="02040503050406030204" pitchFamily="18" charset="0"/>
                              </a:rPr>
                              <m:t>𝑡</m:t>
                            </m:r>
                          </m:e>
                        </m:d>
                        <m:r>
                          <a:rPr lang="ar-AE" sz="2000" b="0" smtClean="0">
                            <a:latin typeface="Cambria Math" panose="02040503050406030204" pitchFamily="18" charset="0"/>
                          </a:rPr>
                          <m:t>+</m:t>
                        </m:r>
                        <m:r>
                          <a:rPr lang="ar-AE" sz="2000" b="0" i="1" smtClean="0">
                            <a:latin typeface="Cambria Math" panose="02040503050406030204" pitchFamily="18" charset="0"/>
                          </a:rPr>
                          <m:t>𝑉</m:t>
                        </m:r>
                      </m:den>
                    </m:f>
                  </m:oMath>
                </a14:m>
                <a:endParaRPr lang="ar-AE" sz="1400" dirty="0"/>
              </a:p>
              <a:p>
                <a:pPr marL="457200" lvl="1" indent="0">
                  <a:buNone/>
                </a:pPr>
                <a:r>
                  <a:rPr lang="en-IN" sz="1600" b="0" dirty="0"/>
                  <a:t>where </a:t>
                </a:r>
                <a14:m>
                  <m:oMath xmlns:m="http://schemas.openxmlformats.org/officeDocument/2006/math">
                    <m:r>
                      <a:rPr lang="ar-AE" sz="1600" b="0" i="1" smtClean="0">
                        <a:latin typeface="Cambria Math" panose="02040503050406030204" pitchFamily="18" charset="0"/>
                      </a:rPr>
                      <m:t>𝑉</m:t>
                    </m:r>
                  </m:oMath>
                </a14:m>
                <a:r>
                  <a:rPr lang="ar-AE" sz="1600" dirty="0"/>
                  <a:t>= </a:t>
                </a:r>
                <a:r>
                  <a:rPr lang="en-IN" sz="1600" dirty="0"/>
                  <a:t>vocabulary size (unique words)</a:t>
                </a:r>
                <a:endParaRPr lang="en-IN" sz="1800" dirty="0"/>
              </a:p>
              <a:p>
                <a:r>
                  <a:rPr lang="en-IN" sz="1800" dirty="0"/>
                  <a:t>Why It Works:</a:t>
                </a:r>
              </a:p>
              <a:p>
                <a:pPr lvl="1"/>
                <a:r>
                  <a:rPr lang="en-IN" sz="1600" b="1" u="sng" dirty="0"/>
                  <a:t>Unseen pairs get non-zero probability</a:t>
                </a:r>
              </a:p>
              <a:p>
                <a:pPr lvl="1"/>
                <a:r>
                  <a:rPr lang="en-IN" sz="1600" dirty="0"/>
                  <a:t>Seen pairs lose a small amount of probability mass</a:t>
                </a:r>
              </a:p>
              <a:p>
                <a:pPr lvl="1"/>
                <a:r>
                  <a:rPr lang="en-IN" sz="1600" dirty="0"/>
                  <a:t>Denominator adjustment keeps probabilities normalized</a:t>
                </a:r>
              </a:p>
              <a:p>
                <a:r>
                  <a:rPr lang="en-IN" sz="1800" dirty="0"/>
                  <a:t>Bigram Formula</a:t>
                </a:r>
              </a:p>
              <a:p>
                <a:pPr marL="457200" lvl="1" indent="0">
                  <a:buNone/>
                </a:pPr>
                <a14:m>
                  <m:oMathPara xmlns:m="http://schemas.openxmlformats.org/officeDocument/2006/math">
                    <m:oMathParaPr>
                      <m:jc m:val="centerGroup"/>
                    </m:oMathParaPr>
                    <m:oMath xmlns:m="http://schemas.openxmlformats.org/officeDocument/2006/math">
                      <m:sSub>
                        <m:sSubPr>
                          <m:ctrlPr>
                            <a:rPr lang="ar-AE" sz="1800"/>
                          </m:ctrlPr>
                        </m:sSubPr>
                        <m:e>
                          <m:r>
                            <a:rPr lang="ar-AE" sz="1800" b="0" i="1" smtClean="0">
                              <a:latin typeface="Cambria Math" panose="02040503050406030204" pitchFamily="18" charset="0"/>
                            </a:rPr>
                            <m:t>𝑃</m:t>
                          </m:r>
                        </m:e>
                        <m:sub>
                          <m:r>
                            <m:rPr>
                              <m:nor/>
                            </m:rPr>
                            <a:rPr lang="en-IN" sz="1800" i="1"/>
                            <m:t>Laplace</m:t>
                          </m:r>
                        </m:sub>
                      </m:sSub>
                      <m:d>
                        <m:dPr>
                          <m:ctrlPr>
                            <a:rPr lang="ar-AE" sz="1800" i="1"/>
                          </m:ctrlPr>
                        </m:dPr>
                        <m:e>
                          <m:sSub>
                            <m:sSubPr>
                              <m:ctrlPr>
                                <a:rPr lang="ar-AE" sz="1800" i="1"/>
                              </m:ctrlPr>
                            </m:sSubPr>
                            <m:e>
                              <m:r>
                                <a:rPr lang="ar-AE" sz="1800" b="0" i="1" smtClean="0">
                                  <a:latin typeface="Cambria Math" panose="02040503050406030204" pitchFamily="18" charset="0"/>
                                </a:rPr>
                                <m:t>𝑤</m:t>
                              </m:r>
                            </m:e>
                            <m:sub>
                              <m:r>
                                <a:rPr lang="ar-AE" sz="1800" b="0" i="1" smtClean="0">
                                  <a:latin typeface="Cambria Math" panose="02040503050406030204" pitchFamily="18" charset="0"/>
                                </a:rPr>
                                <m:t>𝑛</m:t>
                              </m:r>
                            </m:sub>
                          </m:sSub>
                          <m:r>
                            <a:rPr lang="ar-AE" sz="1800" b="0" smtClean="0">
                              <a:latin typeface="Cambria Math" panose="02040503050406030204" pitchFamily="18" charset="0"/>
                            </a:rPr>
                            <m:t>∣</m:t>
                          </m:r>
                          <m:sSub>
                            <m:sSubPr>
                              <m:ctrlPr>
                                <a:rPr lang="ar-AE" sz="1800" i="1"/>
                              </m:ctrlPr>
                            </m:sSubPr>
                            <m:e>
                              <m:r>
                                <a:rPr lang="ar-AE" sz="1800" b="0" i="1" smtClean="0">
                                  <a:latin typeface="Cambria Math" panose="02040503050406030204" pitchFamily="18" charset="0"/>
                                </a:rPr>
                                <m:t>𝑤</m:t>
                              </m:r>
                            </m:e>
                            <m:sub>
                              <m:r>
                                <a:rPr lang="ar-AE" sz="1800" b="0" i="1" smtClean="0">
                                  <a:latin typeface="Cambria Math" panose="02040503050406030204" pitchFamily="18" charset="0"/>
                                </a:rPr>
                                <m:t>𝑛</m:t>
                              </m:r>
                              <m:r>
                                <a:rPr lang="ar-AE" sz="1800" b="0" smtClean="0">
                                  <a:latin typeface="Cambria Math" panose="02040503050406030204" pitchFamily="18" charset="0"/>
                                </a:rPr>
                                <m:t>−</m:t>
                              </m:r>
                              <m:r>
                                <a:rPr lang="ar-AE" sz="1800" b="0" smtClean="0">
                                  <a:latin typeface="Cambria Math" panose="02040503050406030204" pitchFamily="18" charset="0"/>
                                </a:rPr>
                                <m:t>1</m:t>
                              </m:r>
                            </m:sub>
                          </m:sSub>
                        </m:e>
                      </m:d>
                      <m:r>
                        <a:rPr lang="ar-AE" sz="1800" b="0" smtClean="0">
                          <a:latin typeface="Cambria Math" panose="02040503050406030204" pitchFamily="18" charset="0"/>
                        </a:rPr>
                        <m:t>=</m:t>
                      </m:r>
                      <m:f>
                        <m:fPr>
                          <m:ctrlPr>
                            <a:rPr lang="ar-AE" sz="1800" i="1"/>
                          </m:ctrlPr>
                        </m:fPr>
                        <m:num>
                          <m:r>
                            <m:rPr>
                              <m:nor/>
                            </m:rPr>
                            <a:rPr lang="en-IN" sz="1800" i="1"/>
                            <m:t>count</m:t>
                          </m:r>
                          <m:d>
                            <m:dPr>
                              <m:sepChr m:val=","/>
                              <m:ctrlPr>
                                <a:rPr lang="ar-AE" sz="1800" i="1"/>
                              </m:ctrlPr>
                            </m:dPr>
                            <m:e>
                              <m:sSub>
                                <m:sSubPr>
                                  <m:ctrlPr>
                                    <a:rPr lang="ar-AE" sz="1800" i="1"/>
                                  </m:ctrlPr>
                                </m:sSubPr>
                                <m:e>
                                  <m:r>
                                    <a:rPr lang="ar-AE" sz="1800" b="0" i="1" smtClean="0">
                                      <a:latin typeface="Cambria Math" panose="02040503050406030204" pitchFamily="18" charset="0"/>
                                    </a:rPr>
                                    <m:t>𝑤</m:t>
                                  </m:r>
                                </m:e>
                                <m:sub>
                                  <m:r>
                                    <a:rPr lang="ar-AE" sz="1800" b="0" i="1" smtClean="0">
                                      <a:latin typeface="Cambria Math" panose="02040503050406030204" pitchFamily="18" charset="0"/>
                                    </a:rPr>
                                    <m:t>𝑛</m:t>
                                  </m:r>
                                  <m:r>
                                    <a:rPr lang="ar-AE" sz="1800" b="0" smtClean="0">
                                      <a:latin typeface="Cambria Math" panose="02040503050406030204" pitchFamily="18" charset="0"/>
                                    </a:rPr>
                                    <m:t>−</m:t>
                                  </m:r>
                                  <m:r>
                                    <a:rPr lang="ar-AE" sz="1800" b="0" smtClean="0">
                                      <a:latin typeface="Cambria Math" panose="02040503050406030204" pitchFamily="18" charset="0"/>
                                    </a:rPr>
                                    <m:t>1</m:t>
                                  </m:r>
                                </m:sub>
                              </m:sSub>
                            </m:e>
                            <m:e>
                              <m:sSub>
                                <m:sSubPr>
                                  <m:ctrlPr>
                                    <a:rPr lang="ar-AE" sz="1800" i="1"/>
                                  </m:ctrlPr>
                                </m:sSubPr>
                                <m:e>
                                  <m:r>
                                    <a:rPr lang="ar-AE" sz="1800" b="0" i="1" smtClean="0">
                                      <a:latin typeface="Cambria Math" panose="02040503050406030204" pitchFamily="18" charset="0"/>
                                    </a:rPr>
                                    <m:t>𝑤</m:t>
                                  </m:r>
                                </m:e>
                                <m:sub>
                                  <m:r>
                                    <a:rPr lang="ar-AE" sz="1800" b="0" i="1" smtClean="0">
                                      <a:latin typeface="Cambria Math" panose="02040503050406030204" pitchFamily="18" charset="0"/>
                                    </a:rPr>
                                    <m:t>𝑛</m:t>
                                  </m:r>
                                </m:sub>
                              </m:sSub>
                            </m:e>
                          </m:d>
                          <m:r>
                            <a:rPr lang="ar-AE" sz="1800" b="0" smtClean="0">
                              <a:latin typeface="Cambria Math" panose="02040503050406030204" pitchFamily="18" charset="0"/>
                            </a:rPr>
                            <m:t>+</m:t>
                          </m:r>
                          <m:r>
                            <a:rPr lang="ar-AE" sz="1800" b="0" smtClean="0">
                              <a:latin typeface="Cambria Math" panose="02040503050406030204" pitchFamily="18" charset="0"/>
                            </a:rPr>
                            <m:t>1</m:t>
                          </m:r>
                        </m:num>
                        <m:den>
                          <m:r>
                            <m:rPr>
                              <m:nor/>
                            </m:rPr>
                            <a:rPr lang="en-IN" sz="1800" i="1"/>
                            <m:t>count</m:t>
                          </m:r>
                          <m:d>
                            <m:dPr>
                              <m:ctrlPr>
                                <a:rPr lang="ar-AE" sz="1800" i="1"/>
                              </m:ctrlPr>
                            </m:dPr>
                            <m:e>
                              <m:sSub>
                                <m:sSubPr>
                                  <m:ctrlPr>
                                    <a:rPr lang="ar-AE" sz="1800" i="1"/>
                                  </m:ctrlPr>
                                </m:sSubPr>
                                <m:e>
                                  <m:r>
                                    <a:rPr lang="ar-AE" sz="1800" b="0" i="1" smtClean="0">
                                      <a:latin typeface="Cambria Math" panose="02040503050406030204" pitchFamily="18" charset="0"/>
                                    </a:rPr>
                                    <m:t>𝑤</m:t>
                                  </m:r>
                                </m:e>
                                <m:sub>
                                  <m:r>
                                    <a:rPr lang="ar-AE" sz="1800" b="0" i="1" smtClean="0">
                                      <a:latin typeface="Cambria Math" panose="02040503050406030204" pitchFamily="18" charset="0"/>
                                    </a:rPr>
                                    <m:t>𝑛</m:t>
                                  </m:r>
                                  <m:r>
                                    <a:rPr lang="ar-AE" sz="1800" b="0" smtClean="0">
                                      <a:latin typeface="Cambria Math" panose="02040503050406030204" pitchFamily="18" charset="0"/>
                                    </a:rPr>
                                    <m:t>−</m:t>
                                  </m:r>
                                  <m:r>
                                    <a:rPr lang="ar-AE" sz="1800" b="0" smtClean="0">
                                      <a:latin typeface="Cambria Math" panose="02040503050406030204" pitchFamily="18" charset="0"/>
                                    </a:rPr>
                                    <m:t>1</m:t>
                                  </m:r>
                                </m:sub>
                              </m:sSub>
                            </m:e>
                          </m:d>
                          <m:r>
                            <a:rPr lang="ar-AE" sz="1800" b="0" smtClean="0">
                              <a:latin typeface="Cambria Math" panose="02040503050406030204" pitchFamily="18" charset="0"/>
                            </a:rPr>
                            <m:t>+</m:t>
                          </m:r>
                          <m:r>
                            <a:rPr lang="ar-AE" sz="1800" b="0" i="1" smtClean="0">
                              <a:latin typeface="Cambria Math" panose="02040503050406030204" pitchFamily="18" charset="0"/>
                            </a:rPr>
                            <m:t>𝑉</m:t>
                          </m:r>
                        </m:den>
                      </m:f>
                    </m:oMath>
                  </m:oMathPara>
                </a14:m>
                <a:endParaRPr lang="ar-AE" sz="1800" dirty="0"/>
              </a:p>
            </p:txBody>
          </p:sp>
        </mc:Choice>
        <mc:Fallback>
          <p:sp>
            <p:nvSpPr>
              <p:cNvPr id="3" name="Content Placeholder 2">
                <a:extLst>
                  <a:ext uri="{FF2B5EF4-FFF2-40B4-BE49-F238E27FC236}">
                    <a16:creationId xmlns:a16="http://schemas.microsoft.com/office/drawing/2014/main" id="{5A7B00D9-3546-2586-7CB0-89CF84E576FD}"/>
                  </a:ext>
                </a:extLst>
              </p:cNvPr>
              <p:cNvSpPr>
                <a:spLocks noGrp="1" noRot="1" noChangeAspect="1" noMove="1" noResize="1" noEditPoints="1" noAdjustHandles="1" noChangeArrowheads="1" noChangeShapeType="1" noTextEdit="1"/>
              </p:cNvSpPr>
              <p:nvPr>
                <p:ph idx="1"/>
              </p:nvPr>
            </p:nvSpPr>
            <p:spPr>
              <a:xfrm>
                <a:off x="361950" y="1644649"/>
                <a:ext cx="5734050" cy="4784726"/>
              </a:xfrm>
              <a:blipFill>
                <a:blip r:embed="rId3"/>
                <a:stretch>
                  <a:fillRect l="-956" t="-1274"/>
                </a:stretch>
              </a:blipFill>
            </p:spPr>
            <p:txBody>
              <a:bodyPr/>
              <a:lstStyle/>
              <a:p>
                <a:r>
                  <a:rPr lang="en-IN">
                    <a:noFill/>
                  </a:rPr>
                  <a:t> </a:t>
                </a:r>
              </a:p>
            </p:txBody>
          </p:sp>
        </mc:Fallback>
      </mc:AlternateContent>
      <p:sp>
        <p:nvSpPr>
          <p:cNvPr id="4" name="Content Placeholder 2">
            <a:extLst>
              <a:ext uri="{FF2B5EF4-FFF2-40B4-BE49-F238E27FC236}">
                <a16:creationId xmlns:a16="http://schemas.microsoft.com/office/drawing/2014/main" id="{8F319F1C-4D23-AC11-A2D5-561F101E0E58}"/>
              </a:ext>
            </a:extLst>
          </p:cNvPr>
          <p:cNvSpPr txBox="1">
            <a:spLocks/>
          </p:cNvSpPr>
          <p:nvPr/>
        </p:nvSpPr>
        <p:spPr>
          <a:xfrm>
            <a:off x="6019800" y="1650998"/>
            <a:ext cx="5734050" cy="478472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000" b="1" u="sng" dirty="0"/>
              <a:t>Example</a:t>
            </a:r>
            <a:endParaRPr lang="en-IN" sz="2000" u="sng" dirty="0"/>
          </a:p>
          <a:p>
            <a:r>
              <a:rPr lang="en-IN" sz="2000" dirty="0"/>
              <a:t>Training Data:</a:t>
            </a:r>
          </a:p>
          <a:p>
            <a:pPr lvl="1"/>
            <a:r>
              <a:rPr lang="en-IN" sz="1600" dirty="0"/>
              <a:t>I like coding</a:t>
            </a:r>
          </a:p>
          <a:p>
            <a:pPr lvl="1"/>
            <a:r>
              <a:rPr lang="en-IN" sz="1600" dirty="0"/>
              <a:t>Prakriti likes mathematics</a:t>
            </a:r>
          </a:p>
          <a:p>
            <a:pPr lvl="1"/>
            <a:r>
              <a:rPr lang="en-IN" sz="1600" dirty="0"/>
              <a:t>She likes coding</a:t>
            </a:r>
          </a:p>
          <a:p>
            <a:r>
              <a:rPr lang="en-IN" sz="2000" dirty="0"/>
              <a:t>Test Sentence:</a:t>
            </a:r>
          </a:p>
          <a:p>
            <a:pPr lvl="1"/>
            <a:r>
              <a:rPr lang="en-IN" sz="1600" dirty="0"/>
              <a:t>I like mathematics</a:t>
            </a:r>
          </a:p>
          <a:p>
            <a:r>
              <a:rPr lang="en-IN" sz="2000" b="1" u="sng" dirty="0">
                <a:solidFill>
                  <a:srgbClr val="FF0000"/>
                </a:solidFill>
              </a:rPr>
              <a:t>Without Smoothing</a:t>
            </a:r>
            <a:r>
              <a:rPr lang="en-IN" sz="2000" dirty="0">
                <a:solidFill>
                  <a:srgbClr val="FF0000"/>
                </a:solidFill>
              </a:rPr>
              <a:t>: </a:t>
            </a:r>
            <a:r>
              <a:rPr lang="en-IN" sz="2000" dirty="0"/>
              <a:t>P(like → mathematics) = 0</a:t>
            </a:r>
          </a:p>
          <a:p>
            <a:r>
              <a:rPr lang="en-IN" sz="2000" b="1" u="sng" dirty="0">
                <a:solidFill>
                  <a:srgbClr val="00B050"/>
                </a:solidFill>
              </a:rPr>
              <a:t>With Laplace Smoothing</a:t>
            </a:r>
            <a:r>
              <a:rPr lang="en-IN" sz="2000" dirty="0"/>
              <a:t>:</a:t>
            </a:r>
            <a:br>
              <a:rPr lang="en-IN" sz="2000" dirty="0"/>
            </a:br>
            <a:r>
              <a:rPr lang="en-IN" sz="2000" dirty="0"/>
              <a:t>P(like → mathematics) = (0 + 1) / (3 + 9) = 1/12 ≈ 0.083 </a:t>
            </a:r>
            <a:r>
              <a:rPr lang="en-IN" sz="2000" u="sng" dirty="0"/>
              <a:t>(</a:t>
            </a:r>
            <a:r>
              <a:rPr lang="en-IN" sz="2000" u="sng" dirty="0">
                <a:solidFill>
                  <a:srgbClr val="FFC000"/>
                </a:solidFill>
              </a:rPr>
              <a:t>still very small, but non-zero</a:t>
            </a:r>
            <a:r>
              <a:rPr lang="en-IN" sz="2000" u="sng" dirty="0"/>
              <a:t>)</a:t>
            </a:r>
          </a:p>
          <a:p>
            <a:r>
              <a:rPr lang="en-IN" sz="2000" dirty="0"/>
              <a:t>Trade-offs</a:t>
            </a:r>
          </a:p>
          <a:p>
            <a:pPr lvl="1"/>
            <a:r>
              <a:rPr lang="en-IN" sz="1600" dirty="0"/>
              <a:t>Eliminates zero-probability issue</a:t>
            </a:r>
          </a:p>
          <a:p>
            <a:pPr lvl="1"/>
            <a:r>
              <a:rPr lang="en-IN" sz="1600" dirty="0"/>
              <a:t>Slightly underestimates probabilities of frequent events</a:t>
            </a:r>
          </a:p>
          <a:p>
            <a:pPr lvl="1"/>
            <a:r>
              <a:rPr lang="en-IN" sz="1600" dirty="0"/>
              <a:t>Improves performance on unseen data</a:t>
            </a:r>
          </a:p>
        </p:txBody>
      </p:sp>
      <p:sp>
        <p:nvSpPr>
          <p:cNvPr id="5" name="Slide Number Placeholder 4">
            <a:extLst>
              <a:ext uri="{FF2B5EF4-FFF2-40B4-BE49-F238E27FC236}">
                <a16:creationId xmlns:a16="http://schemas.microsoft.com/office/drawing/2014/main" id="{D1307F04-D80A-7AFB-C220-FACB4587C80C}"/>
              </a:ext>
            </a:extLst>
          </p:cNvPr>
          <p:cNvSpPr>
            <a:spLocks noGrp="1"/>
          </p:cNvSpPr>
          <p:nvPr>
            <p:ph type="sldNum" sz="quarter" idx="12"/>
          </p:nvPr>
        </p:nvSpPr>
        <p:spPr/>
        <p:txBody>
          <a:bodyPr/>
          <a:lstStyle/>
          <a:p>
            <a:fld id="{D9AB36C4-4A00-4490-8C6E-D4776DE94668}" type="slidenum">
              <a:rPr lang="en-IN" smtClean="0"/>
              <a:t>15</a:t>
            </a:fld>
            <a:endParaRPr lang="en-IN"/>
          </a:p>
        </p:txBody>
      </p:sp>
    </p:spTree>
    <p:extLst>
      <p:ext uri="{BB962C8B-B14F-4D97-AF65-F5344CB8AC3E}">
        <p14:creationId xmlns:p14="http://schemas.microsoft.com/office/powerpoint/2010/main" val="3295973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3F32-363E-4C14-B2B9-59938F50FEAE}"/>
              </a:ext>
            </a:extLst>
          </p:cNvPr>
          <p:cNvSpPr>
            <a:spLocks noGrp="1"/>
          </p:cNvSpPr>
          <p:nvPr>
            <p:ph type="title"/>
          </p:nvPr>
        </p:nvSpPr>
        <p:spPr/>
        <p:txBody>
          <a:bodyPr>
            <a:normAutofit/>
          </a:bodyPr>
          <a:lstStyle/>
          <a:p>
            <a:r>
              <a:rPr lang="en-IN" sz="3600" dirty="0"/>
              <a:t>Limitations of HMM Tagging and Modern Approaches</a:t>
            </a:r>
          </a:p>
        </p:txBody>
      </p:sp>
      <p:sp>
        <p:nvSpPr>
          <p:cNvPr id="3" name="Content Placeholder 2">
            <a:extLst>
              <a:ext uri="{FF2B5EF4-FFF2-40B4-BE49-F238E27FC236}">
                <a16:creationId xmlns:a16="http://schemas.microsoft.com/office/drawing/2014/main" id="{099EDACD-BBD9-0BD4-4579-45DBBCDAC368}"/>
              </a:ext>
            </a:extLst>
          </p:cNvPr>
          <p:cNvSpPr>
            <a:spLocks noGrp="1"/>
          </p:cNvSpPr>
          <p:nvPr>
            <p:ph idx="1"/>
          </p:nvPr>
        </p:nvSpPr>
        <p:spPr>
          <a:xfrm>
            <a:off x="838200" y="1749425"/>
            <a:ext cx="10515600" cy="4667250"/>
          </a:xfrm>
        </p:spPr>
        <p:txBody>
          <a:bodyPr>
            <a:normAutofit fontScale="85000" lnSpcReduction="10000"/>
          </a:bodyPr>
          <a:lstStyle/>
          <a:p>
            <a:pPr marL="514350" indent="-514350">
              <a:buFont typeface="+mj-lt"/>
              <a:buAutoNum type="arabicPeriod"/>
            </a:pPr>
            <a:r>
              <a:rPr lang="en-US" dirty="0"/>
              <a:t>Markov assumption: only previous tag (or previous 2 tags) influence the current tag.</a:t>
            </a:r>
          </a:p>
          <a:p>
            <a:pPr lvl="1"/>
            <a:r>
              <a:rPr lang="en-US" dirty="0"/>
              <a:t>Long-range dependencies are ignored.</a:t>
            </a:r>
          </a:p>
          <a:p>
            <a:pPr marL="514350" indent="-514350">
              <a:buFont typeface="+mj-lt"/>
              <a:buAutoNum type="arabicPeriod"/>
            </a:pPr>
            <a:r>
              <a:rPr lang="en-US" dirty="0"/>
              <a:t>Emission independence: word depends only on its tag, not on neighboring words.</a:t>
            </a:r>
          </a:p>
          <a:p>
            <a:pPr marL="514350" indent="-514350">
              <a:buFont typeface="+mj-lt"/>
              <a:buAutoNum type="arabicPeriod"/>
            </a:pPr>
            <a:r>
              <a:rPr lang="en-US" dirty="0"/>
              <a:t>Fixed </a:t>
            </a:r>
            <a:r>
              <a:rPr lang="en-US" dirty="0" err="1"/>
              <a:t>tagset</a:t>
            </a:r>
            <a:r>
              <a:rPr lang="en-US" dirty="0"/>
              <a:t> and vocabulary: struggles with unknown words.</a:t>
            </a:r>
          </a:p>
          <a:p>
            <a:pPr marL="0" indent="0">
              <a:buNone/>
            </a:pPr>
            <a:endParaRPr lang="en-US" dirty="0"/>
          </a:p>
          <a:p>
            <a:r>
              <a:rPr lang="en-US" dirty="0"/>
              <a:t>Modern sequence models:</a:t>
            </a:r>
          </a:p>
          <a:p>
            <a:pPr lvl="1"/>
            <a:r>
              <a:rPr lang="en-US" dirty="0"/>
              <a:t>Conditional Random Fields (CRFs) – richer features, relax independence assumptions.</a:t>
            </a:r>
          </a:p>
          <a:p>
            <a:pPr lvl="1"/>
            <a:r>
              <a:rPr lang="en-US" dirty="0"/>
              <a:t>Recurrent neural networks (RNNs) and transformers (BERT) – capture longer context.</a:t>
            </a:r>
          </a:p>
          <a:p>
            <a:r>
              <a:rPr lang="en-US" dirty="0"/>
              <a:t>HMMs are still useful for:</a:t>
            </a:r>
          </a:p>
          <a:p>
            <a:pPr lvl="1"/>
            <a:r>
              <a:rPr lang="en-US" dirty="0"/>
              <a:t>Teaching and understanding sequence modeling and dynamic programming.</a:t>
            </a:r>
          </a:p>
          <a:p>
            <a:pPr lvl="1"/>
            <a:r>
              <a:rPr lang="en-US" dirty="0"/>
              <a:t>Small data settings where large neural models are overkill.</a:t>
            </a:r>
          </a:p>
        </p:txBody>
      </p:sp>
      <p:sp>
        <p:nvSpPr>
          <p:cNvPr id="4" name="Slide Number Placeholder 3">
            <a:extLst>
              <a:ext uri="{FF2B5EF4-FFF2-40B4-BE49-F238E27FC236}">
                <a16:creationId xmlns:a16="http://schemas.microsoft.com/office/drawing/2014/main" id="{BFE2DBF2-797E-CFF1-5BD8-258843F86100}"/>
              </a:ext>
            </a:extLst>
          </p:cNvPr>
          <p:cNvSpPr>
            <a:spLocks noGrp="1"/>
          </p:cNvSpPr>
          <p:nvPr>
            <p:ph type="sldNum" sz="quarter" idx="12"/>
          </p:nvPr>
        </p:nvSpPr>
        <p:spPr/>
        <p:txBody>
          <a:bodyPr/>
          <a:lstStyle/>
          <a:p>
            <a:fld id="{D9AB36C4-4A00-4490-8C6E-D4776DE94668}" type="slidenum">
              <a:rPr lang="en-IN" smtClean="0"/>
              <a:t>16</a:t>
            </a:fld>
            <a:endParaRPr lang="en-IN"/>
          </a:p>
        </p:txBody>
      </p:sp>
    </p:spTree>
    <p:extLst>
      <p:ext uri="{BB962C8B-B14F-4D97-AF65-F5344CB8AC3E}">
        <p14:creationId xmlns:p14="http://schemas.microsoft.com/office/powerpoint/2010/main" val="2681907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26" name="Rectangle 4125">
            <a:extLst>
              <a:ext uri="{FF2B5EF4-FFF2-40B4-BE49-F238E27FC236}">
                <a16:creationId xmlns:a16="http://schemas.microsoft.com/office/drawing/2014/main" id="{F4F2FC05-7D27-410F-BDA9-ADF4831368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28" name="Rectangle 4127">
            <a:extLst>
              <a:ext uri="{FF2B5EF4-FFF2-40B4-BE49-F238E27FC236}">
                <a16:creationId xmlns:a16="http://schemas.microsoft.com/office/drawing/2014/main" id="{9080D120-BD54-46E1-BA37-82F5E8089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3" y="633619"/>
            <a:ext cx="5457817"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6C4292E-21AF-345C-ED9F-050385529DC7}"/>
              </a:ext>
            </a:extLst>
          </p:cNvPr>
          <p:cNvSpPr>
            <a:spLocks noGrp="1"/>
          </p:cNvSpPr>
          <p:nvPr>
            <p:ph type="title"/>
          </p:nvPr>
        </p:nvSpPr>
        <p:spPr>
          <a:xfrm>
            <a:off x="716888" y="722550"/>
            <a:ext cx="4607052" cy="1106424"/>
          </a:xfrm>
        </p:spPr>
        <p:txBody>
          <a:bodyPr vert="horz" lIns="91440" tIns="45720" rIns="91440" bIns="45720" rtlCol="0" anchor="ctr">
            <a:normAutofit/>
          </a:bodyPr>
          <a:lstStyle/>
          <a:p>
            <a:r>
              <a:rPr lang="en-US" sz="2900" kern="1200">
                <a:solidFill>
                  <a:schemeClr val="tx1"/>
                </a:solidFill>
                <a:latin typeface="+mj-lt"/>
                <a:ea typeface="+mj-ea"/>
                <a:cs typeface="+mj-cs"/>
              </a:rPr>
              <a:t>Code Demo</a:t>
            </a:r>
          </a:p>
        </p:txBody>
      </p:sp>
      <p:sp>
        <p:nvSpPr>
          <p:cNvPr id="4125" name="Rectangle 4124">
            <a:extLst>
              <a:ext uri="{FF2B5EF4-FFF2-40B4-BE49-F238E27FC236}">
                <a16:creationId xmlns:a16="http://schemas.microsoft.com/office/drawing/2014/main" id="{81D83946-74FA-498A-AC80-9926F041B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5" y="1181536"/>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127" name="Rectangle 4126">
            <a:extLst>
              <a:ext uri="{FF2B5EF4-FFF2-40B4-BE49-F238E27FC236}">
                <a16:creationId xmlns:a16="http://schemas.microsoft.com/office/drawing/2014/main" id="{5060D983-8B52-443A-8183-2A1DE0561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6" y="2185416"/>
            <a:ext cx="4446484"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71FD2E93-521B-D597-CC25-FFE6A581BF27}"/>
              </a:ext>
            </a:extLst>
          </p:cNvPr>
          <p:cNvSpPr>
            <a:spLocks noGrp="1"/>
          </p:cNvSpPr>
          <p:nvPr>
            <p:ph sz="half" idx="2"/>
          </p:nvPr>
        </p:nvSpPr>
        <p:spPr>
          <a:xfrm>
            <a:off x="555830" y="1589070"/>
            <a:ext cx="5457817" cy="2860929"/>
          </a:xfrm>
        </p:spPr>
        <p:txBody>
          <a:bodyPr vert="horz" lIns="91440" tIns="45720" rIns="91440" bIns="45720" rtlCol="0">
            <a:normAutofit/>
          </a:bodyPr>
          <a:lstStyle/>
          <a:p>
            <a:r>
              <a:rPr lang="en-US" sz="1600" dirty="0"/>
              <a:t>PROBLEM: Words have multiple meanings.​</a:t>
            </a:r>
          </a:p>
          <a:p>
            <a:r>
              <a:rPr lang="en-US" sz="1600" dirty="0"/>
              <a:t>57K sentences, 1.16M words, 12 POS tags in Brown (universal).​</a:t>
            </a:r>
          </a:p>
          <a:p>
            <a:r>
              <a:rPr lang="en-US" sz="1600" dirty="0"/>
              <a:t>Examples of ambiguity:</a:t>
            </a:r>
          </a:p>
          <a:p>
            <a:pPr lvl="1"/>
            <a:r>
              <a:rPr lang="en-US" sz="1600" dirty="0"/>
              <a:t>"like" → ADP, VERB, ADJ (highly skewed but clearly multi-tag).​</a:t>
            </a:r>
          </a:p>
        </p:txBody>
      </p:sp>
      <p:pic>
        <p:nvPicPr>
          <p:cNvPr id="4098" name="Picture 2" descr="A graph of multiple pos tags&#10;&#10;AI-generated content may be incorrect.">
            <a:extLst>
              <a:ext uri="{FF2B5EF4-FFF2-40B4-BE49-F238E27FC236}">
                <a16:creationId xmlns:a16="http://schemas.microsoft.com/office/drawing/2014/main" id="{ADDD1C3B-F726-C683-69D5-A25BDF82A6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 b="7349"/>
          <a:stretch>
            <a:fillRect/>
          </a:stretch>
        </p:blipFill>
        <p:spPr bwMode="auto">
          <a:xfrm>
            <a:off x="797172" y="3347118"/>
            <a:ext cx="4446483" cy="271910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F6976D6D-5F16-CAB2-6CB1-C0DB01F8DF21}"/>
              </a:ext>
            </a:extLst>
          </p:cNvPr>
          <p:cNvSpPr txBox="1"/>
          <p:nvPr/>
        </p:nvSpPr>
        <p:spPr>
          <a:xfrm>
            <a:off x="6021486" y="1073257"/>
            <a:ext cx="6096000" cy="2308324"/>
          </a:xfrm>
          <a:prstGeom prst="rect">
            <a:avLst/>
          </a:prstGeom>
          <a:noFill/>
        </p:spPr>
        <p:txBody>
          <a:bodyPr wrap="square">
            <a:spAutoFit/>
          </a:bodyPr>
          <a:lstStyle/>
          <a:p>
            <a:r>
              <a:rPr lang="en-US" dirty="0"/>
              <a:t>We will look at four models –</a:t>
            </a:r>
          </a:p>
          <a:p>
            <a:pPr marL="342900" indent="-342900">
              <a:buFont typeface="+mj-lt"/>
              <a:buAutoNum type="arabicPeriod"/>
            </a:pPr>
            <a:r>
              <a:rPr lang="en-IN" b="1" i="0" u="sng" dirty="0">
                <a:effectLst/>
                <a:latin typeface="fkGroteskNeue"/>
              </a:rPr>
              <a:t>Unigram Tagge</a:t>
            </a:r>
            <a:r>
              <a:rPr lang="en-IN" b="1" u="sng" dirty="0">
                <a:latin typeface="fkGroteskNeue"/>
              </a:rPr>
              <a:t>r</a:t>
            </a:r>
            <a:r>
              <a:rPr lang="en-IN" dirty="0">
                <a:latin typeface="fkGroteskNeue"/>
              </a:rPr>
              <a:t>: </a:t>
            </a:r>
            <a:r>
              <a:rPr lang="en-IN" b="0" i="0" dirty="0">
                <a:effectLst/>
                <a:latin typeface="fkGroteskNeue"/>
              </a:rPr>
              <a:t>Most frequent tag per word; no context</a:t>
            </a:r>
          </a:p>
          <a:p>
            <a:pPr algn="l">
              <a:buNone/>
            </a:pPr>
            <a:r>
              <a:rPr lang="en-IN" b="0" i="0" dirty="0">
                <a:effectLst/>
                <a:latin typeface="fkGroteskNeue"/>
              </a:rPr>
              <a:t>2. </a:t>
            </a:r>
            <a:r>
              <a:rPr lang="en-IN" b="1" i="0" u="sng" dirty="0">
                <a:effectLst/>
                <a:latin typeface="fkGroteskNeue"/>
              </a:rPr>
              <a:t>Bigram Tagger </a:t>
            </a:r>
            <a:r>
              <a:rPr lang="en-IN" b="0" i="0" dirty="0">
                <a:effectLst/>
                <a:latin typeface="fkGroteskNeue"/>
              </a:rPr>
              <a:t>(with backoff)</a:t>
            </a:r>
            <a:r>
              <a:rPr lang="en-IN" dirty="0">
                <a:latin typeface="fkGroteskNeue"/>
              </a:rPr>
              <a:t>: </a:t>
            </a:r>
            <a:r>
              <a:rPr lang="en-IN" b="0" i="0" dirty="0">
                <a:effectLst/>
                <a:latin typeface="fkGroteskNeue"/>
              </a:rPr>
              <a:t>Previous tag predicts current; backs off to unigram when sparse</a:t>
            </a:r>
          </a:p>
          <a:p>
            <a:pPr algn="l">
              <a:buNone/>
            </a:pPr>
            <a:r>
              <a:rPr lang="en-IN" b="0" i="0" dirty="0">
                <a:effectLst/>
                <a:latin typeface="fkGroteskNeue"/>
              </a:rPr>
              <a:t>3. </a:t>
            </a:r>
            <a:r>
              <a:rPr lang="en-IN" b="1" i="0" u="sng" dirty="0">
                <a:effectLst/>
                <a:latin typeface="fkGroteskNeue"/>
              </a:rPr>
              <a:t>HMM Tagger</a:t>
            </a:r>
            <a:r>
              <a:rPr lang="en-IN" b="0" i="0" dirty="0">
                <a:effectLst/>
                <a:latin typeface="fkGroteskNeue"/>
              </a:rPr>
              <a:t>: Full generative sequence model; uses Viterbi to find best path</a:t>
            </a:r>
          </a:p>
          <a:p>
            <a:pPr algn="l">
              <a:buNone/>
            </a:pPr>
            <a:r>
              <a:rPr lang="en-IN" b="0" i="0" dirty="0">
                <a:effectLst/>
                <a:latin typeface="fkGroteskNeue"/>
              </a:rPr>
              <a:t>4. </a:t>
            </a:r>
            <a:r>
              <a:rPr lang="en-IN" b="1" i="0" u="sng" dirty="0">
                <a:effectLst/>
                <a:latin typeface="fkGroteskNeue"/>
              </a:rPr>
              <a:t>Treebank </a:t>
            </a:r>
            <a:r>
              <a:rPr lang="en-IN" b="0" i="0" dirty="0">
                <a:effectLst/>
                <a:latin typeface="fkGroteskNeue"/>
              </a:rPr>
              <a:t>(Pre-trained baseline): Trained on Penn Treebank; external reference point</a:t>
            </a:r>
          </a:p>
        </p:txBody>
      </p:sp>
      <p:graphicFrame>
        <p:nvGraphicFramePr>
          <p:cNvPr id="16" name="Table 15">
            <a:extLst>
              <a:ext uri="{FF2B5EF4-FFF2-40B4-BE49-F238E27FC236}">
                <a16:creationId xmlns:a16="http://schemas.microsoft.com/office/drawing/2014/main" id="{1EE46EE1-4282-8B67-CE0B-B9AADF33E24B}"/>
              </a:ext>
            </a:extLst>
          </p:cNvPr>
          <p:cNvGraphicFramePr>
            <a:graphicFrameLocks noGrp="1"/>
          </p:cNvGraphicFramePr>
          <p:nvPr>
            <p:extLst>
              <p:ext uri="{D42A27DB-BD31-4B8C-83A1-F6EECF244321}">
                <p14:modId xmlns:p14="http://schemas.microsoft.com/office/powerpoint/2010/main" val="342761417"/>
              </p:ext>
            </p:extLst>
          </p:nvPr>
        </p:nvGraphicFramePr>
        <p:xfrm>
          <a:off x="6095999" y="3464145"/>
          <a:ext cx="5686428" cy="1767840"/>
        </p:xfrm>
        <a:graphic>
          <a:graphicData uri="http://schemas.openxmlformats.org/drawingml/2006/table">
            <a:tbl>
              <a:tblPr firstRow="1" bandRow="1">
                <a:tableStyleId>{5940675A-B579-460E-94D1-54222C63F5DA}</a:tableStyleId>
              </a:tblPr>
              <a:tblGrid>
                <a:gridCol w="1421607">
                  <a:extLst>
                    <a:ext uri="{9D8B030D-6E8A-4147-A177-3AD203B41FA5}">
                      <a16:colId xmlns:a16="http://schemas.microsoft.com/office/drawing/2014/main" val="1575113467"/>
                    </a:ext>
                  </a:extLst>
                </a:gridCol>
                <a:gridCol w="1421607">
                  <a:extLst>
                    <a:ext uri="{9D8B030D-6E8A-4147-A177-3AD203B41FA5}">
                      <a16:colId xmlns:a16="http://schemas.microsoft.com/office/drawing/2014/main" val="3185304218"/>
                    </a:ext>
                  </a:extLst>
                </a:gridCol>
                <a:gridCol w="1421607">
                  <a:extLst>
                    <a:ext uri="{9D8B030D-6E8A-4147-A177-3AD203B41FA5}">
                      <a16:colId xmlns:a16="http://schemas.microsoft.com/office/drawing/2014/main" val="3109245883"/>
                    </a:ext>
                  </a:extLst>
                </a:gridCol>
                <a:gridCol w="1421607">
                  <a:extLst>
                    <a:ext uri="{9D8B030D-6E8A-4147-A177-3AD203B41FA5}">
                      <a16:colId xmlns:a16="http://schemas.microsoft.com/office/drawing/2014/main" val="1277164627"/>
                    </a:ext>
                  </a:extLst>
                </a:gridCol>
              </a:tblGrid>
              <a:tr h="291401">
                <a:tc>
                  <a:txBody>
                    <a:bodyPr/>
                    <a:lstStyle/>
                    <a:p>
                      <a:pPr algn="ctr" fontAlgn="t" latinLnBrk="0">
                        <a:buNone/>
                      </a:pPr>
                      <a:r>
                        <a:rPr lang="en-IN" sz="1400" b="0" dirty="0">
                          <a:effectLst/>
                        </a:rPr>
                        <a:t>Model</a:t>
                      </a:r>
                    </a:p>
                  </a:txBody>
                  <a:tcPr marL="60960" marR="60960" marT="60960" marB="60960">
                    <a:solidFill>
                      <a:schemeClr val="bg1">
                        <a:lumMod val="85000"/>
                        <a:lumOff val="15000"/>
                      </a:schemeClr>
                    </a:solidFill>
                  </a:tcPr>
                </a:tc>
                <a:tc>
                  <a:txBody>
                    <a:bodyPr/>
                    <a:lstStyle/>
                    <a:p>
                      <a:pPr algn="ctr" fontAlgn="t" latinLnBrk="0">
                        <a:buNone/>
                      </a:pPr>
                      <a:r>
                        <a:rPr lang="en-IN" sz="1400" b="0" dirty="0">
                          <a:effectLst/>
                        </a:rPr>
                        <a:t>Complexity</a:t>
                      </a:r>
                    </a:p>
                  </a:txBody>
                  <a:tcPr marL="60960" marR="60960" marT="60960" marB="60960">
                    <a:solidFill>
                      <a:schemeClr val="bg1">
                        <a:lumMod val="85000"/>
                        <a:lumOff val="15000"/>
                      </a:schemeClr>
                    </a:solidFill>
                  </a:tcPr>
                </a:tc>
                <a:tc>
                  <a:txBody>
                    <a:bodyPr/>
                    <a:lstStyle/>
                    <a:p>
                      <a:pPr algn="ctr" fontAlgn="t" latinLnBrk="0">
                        <a:buNone/>
                      </a:pPr>
                      <a:r>
                        <a:rPr lang="en-IN" sz="1400" b="0" dirty="0">
                          <a:effectLst/>
                        </a:rPr>
                        <a:t>Context</a:t>
                      </a:r>
                    </a:p>
                  </a:txBody>
                  <a:tcPr marL="60960" marR="60960" marT="60960" marB="60960">
                    <a:solidFill>
                      <a:schemeClr val="bg1">
                        <a:lumMod val="85000"/>
                        <a:lumOff val="15000"/>
                      </a:schemeClr>
                    </a:solidFill>
                  </a:tcPr>
                </a:tc>
                <a:tc>
                  <a:txBody>
                    <a:bodyPr/>
                    <a:lstStyle/>
                    <a:p>
                      <a:pPr algn="ctr" fontAlgn="t" latinLnBrk="0">
                        <a:buNone/>
                      </a:pPr>
                      <a:r>
                        <a:rPr lang="en-IN" sz="1400" b="0" dirty="0">
                          <a:effectLst/>
                        </a:rPr>
                        <a:t>Training Data</a:t>
                      </a:r>
                    </a:p>
                  </a:txBody>
                  <a:tcPr marL="60960" marR="60960" marT="60960" marB="60960">
                    <a:solidFill>
                      <a:schemeClr val="bg1">
                        <a:lumMod val="85000"/>
                        <a:lumOff val="15000"/>
                      </a:schemeClr>
                    </a:solidFill>
                  </a:tcPr>
                </a:tc>
                <a:extLst>
                  <a:ext uri="{0D108BD9-81ED-4DB2-BD59-A6C34878D82A}">
                    <a16:rowId xmlns:a16="http://schemas.microsoft.com/office/drawing/2014/main" val="611735404"/>
                  </a:ext>
                </a:extLst>
              </a:tr>
              <a:tr h="264910">
                <a:tc>
                  <a:txBody>
                    <a:bodyPr/>
                    <a:lstStyle/>
                    <a:p>
                      <a:pPr algn="ctr" fontAlgn="base" latinLnBrk="0">
                        <a:buNone/>
                      </a:pPr>
                      <a:r>
                        <a:rPr lang="en-IN" sz="1400">
                          <a:effectLst/>
                        </a:rPr>
                        <a:t>Unigram</a:t>
                      </a:r>
                    </a:p>
                  </a:txBody>
                  <a:tcPr marL="60960" marR="60960" anchor="ctr"/>
                </a:tc>
                <a:tc>
                  <a:txBody>
                    <a:bodyPr/>
                    <a:lstStyle/>
                    <a:p>
                      <a:pPr algn="ctr" fontAlgn="base" latinLnBrk="0">
                        <a:buNone/>
                      </a:pPr>
                      <a:r>
                        <a:rPr lang="en-IN" sz="1400">
                          <a:effectLst/>
                        </a:rPr>
                        <a:t>Low</a:t>
                      </a:r>
                    </a:p>
                  </a:txBody>
                  <a:tcPr marL="60960" marR="60960" anchor="ctr"/>
                </a:tc>
                <a:tc>
                  <a:txBody>
                    <a:bodyPr/>
                    <a:lstStyle/>
                    <a:p>
                      <a:pPr algn="ctr" fontAlgn="base" latinLnBrk="0">
                        <a:buNone/>
                      </a:pPr>
                      <a:r>
                        <a:rPr lang="en-IN" sz="1400">
                          <a:effectLst/>
                        </a:rPr>
                        <a:t>None</a:t>
                      </a:r>
                    </a:p>
                  </a:txBody>
                  <a:tcPr marL="60960" marR="60960" anchor="ctr"/>
                </a:tc>
                <a:tc>
                  <a:txBody>
                    <a:bodyPr/>
                    <a:lstStyle/>
                    <a:p>
                      <a:pPr algn="ctr" fontAlgn="base" latinLnBrk="0">
                        <a:buNone/>
                      </a:pPr>
                      <a:r>
                        <a:rPr lang="en-IN" sz="1400">
                          <a:effectLst/>
                        </a:rPr>
                        <a:t>Brown only</a:t>
                      </a:r>
                    </a:p>
                  </a:txBody>
                  <a:tcPr marL="60960" marR="60960" anchor="ctr"/>
                </a:tc>
                <a:extLst>
                  <a:ext uri="{0D108BD9-81ED-4DB2-BD59-A6C34878D82A}">
                    <a16:rowId xmlns:a16="http://schemas.microsoft.com/office/drawing/2014/main" val="1086977816"/>
                  </a:ext>
                </a:extLst>
              </a:tr>
              <a:tr h="264910">
                <a:tc>
                  <a:txBody>
                    <a:bodyPr/>
                    <a:lstStyle/>
                    <a:p>
                      <a:pPr algn="ctr" fontAlgn="base" latinLnBrk="0">
                        <a:buNone/>
                      </a:pPr>
                      <a:r>
                        <a:rPr lang="en-IN" sz="1400">
                          <a:effectLst/>
                        </a:rPr>
                        <a:t>Bigram</a:t>
                      </a:r>
                    </a:p>
                  </a:txBody>
                  <a:tcPr marL="60960" marR="60960" anchor="ctr"/>
                </a:tc>
                <a:tc>
                  <a:txBody>
                    <a:bodyPr/>
                    <a:lstStyle/>
                    <a:p>
                      <a:pPr algn="ctr" fontAlgn="base" latinLnBrk="0">
                        <a:buNone/>
                      </a:pPr>
                      <a:r>
                        <a:rPr lang="en-IN" sz="1400">
                          <a:effectLst/>
                        </a:rPr>
                        <a:t>Low</a:t>
                      </a:r>
                    </a:p>
                  </a:txBody>
                  <a:tcPr marL="60960" marR="60960" anchor="ctr"/>
                </a:tc>
                <a:tc>
                  <a:txBody>
                    <a:bodyPr/>
                    <a:lstStyle/>
                    <a:p>
                      <a:pPr algn="ctr" fontAlgn="base" latinLnBrk="0">
                        <a:buNone/>
                      </a:pPr>
                      <a:r>
                        <a:rPr lang="en-IN" sz="1400">
                          <a:effectLst/>
                        </a:rPr>
                        <a:t>Yes (1 step)</a:t>
                      </a:r>
                    </a:p>
                  </a:txBody>
                  <a:tcPr marL="60960" marR="60960" anchor="ctr"/>
                </a:tc>
                <a:tc>
                  <a:txBody>
                    <a:bodyPr/>
                    <a:lstStyle/>
                    <a:p>
                      <a:pPr algn="ctr" fontAlgn="base" latinLnBrk="0">
                        <a:buNone/>
                      </a:pPr>
                      <a:r>
                        <a:rPr lang="en-IN" sz="1400">
                          <a:effectLst/>
                        </a:rPr>
                        <a:t>Brown only</a:t>
                      </a:r>
                    </a:p>
                  </a:txBody>
                  <a:tcPr marL="60960" marR="60960" anchor="ctr"/>
                </a:tc>
                <a:extLst>
                  <a:ext uri="{0D108BD9-81ED-4DB2-BD59-A6C34878D82A}">
                    <a16:rowId xmlns:a16="http://schemas.microsoft.com/office/drawing/2014/main" val="304843446"/>
                  </a:ext>
                </a:extLst>
              </a:tr>
              <a:tr h="264910">
                <a:tc>
                  <a:txBody>
                    <a:bodyPr/>
                    <a:lstStyle/>
                    <a:p>
                      <a:pPr algn="ctr" fontAlgn="base" latinLnBrk="0">
                        <a:buNone/>
                      </a:pPr>
                      <a:r>
                        <a:rPr lang="en-IN" sz="1400">
                          <a:effectLst/>
                        </a:rPr>
                        <a:t>HMM</a:t>
                      </a:r>
                    </a:p>
                  </a:txBody>
                  <a:tcPr marL="60960" marR="60960" anchor="ctr"/>
                </a:tc>
                <a:tc>
                  <a:txBody>
                    <a:bodyPr/>
                    <a:lstStyle/>
                    <a:p>
                      <a:pPr algn="ctr" fontAlgn="base" latinLnBrk="0">
                        <a:buNone/>
                      </a:pPr>
                      <a:r>
                        <a:rPr lang="en-IN" sz="1400">
                          <a:effectLst/>
                        </a:rPr>
                        <a:t>High</a:t>
                      </a:r>
                    </a:p>
                  </a:txBody>
                  <a:tcPr marL="60960" marR="60960" anchor="ctr"/>
                </a:tc>
                <a:tc>
                  <a:txBody>
                    <a:bodyPr/>
                    <a:lstStyle/>
                    <a:p>
                      <a:pPr algn="ctr" fontAlgn="base" latinLnBrk="0">
                        <a:buNone/>
                      </a:pPr>
                      <a:r>
                        <a:rPr lang="en-IN" sz="1400">
                          <a:effectLst/>
                        </a:rPr>
                        <a:t>Yes (full)</a:t>
                      </a:r>
                    </a:p>
                  </a:txBody>
                  <a:tcPr marL="60960" marR="60960" anchor="ctr"/>
                </a:tc>
                <a:tc>
                  <a:txBody>
                    <a:bodyPr/>
                    <a:lstStyle/>
                    <a:p>
                      <a:pPr algn="ctr" fontAlgn="base" latinLnBrk="0">
                        <a:buNone/>
                      </a:pPr>
                      <a:r>
                        <a:rPr lang="en-IN" sz="1400">
                          <a:effectLst/>
                        </a:rPr>
                        <a:t>Brown only</a:t>
                      </a:r>
                    </a:p>
                  </a:txBody>
                  <a:tcPr marL="60960" marR="60960" anchor="ctr"/>
                </a:tc>
                <a:extLst>
                  <a:ext uri="{0D108BD9-81ED-4DB2-BD59-A6C34878D82A}">
                    <a16:rowId xmlns:a16="http://schemas.microsoft.com/office/drawing/2014/main" val="2416887767"/>
                  </a:ext>
                </a:extLst>
              </a:tr>
              <a:tr h="450348">
                <a:tc>
                  <a:txBody>
                    <a:bodyPr/>
                    <a:lstStyle/>
                    <a:p>
                      <a:pPr algn="ctr" fontAlgn="base" latinLnBrk="0">
                        <a:buNone/>
                      </a:pPr>
                      <a:r>
                        <a:rPr lang="en-IN" sz="1400">
                          <a:effectLst/>
                        </a:rPr>
                        <a:t>Treebank</a:t>
                      </a:r>
                    </a:p>
                  </a:txBody>
                  <a:tcPr marL="60960" marR="60960" anchor="ctr"/>
                </a:tc>
                <a:tc>
                  <a:txBody>
                    <a:bodyPr/>
                    <a:lstStyle/>
                    <a:p>
                      <a:pPr algn="ctr" fontAlgn="base" latinLnBrk="0">
                        <a:buNone/>
                      </a:pPr>
                      <a:r>
                        <a:rPr lang="en-IN" sz="1400" dirty="0">
                          <a:effectLst/>
                        </a:rPr>
                        <a:t>Very High</a:t>
                      </a:r>
                    </a:p>
                  </a:txBody>
                  <a:tcPr marL="60960" marR="60960" anchor="ctr"/>
                </a:tc>
                <a:tc>
                  <a:txBody>
                    <a:bodyPr/>
                    <a:lstStyle/>
                    <a:p>
                      <a:pPr algn="ctr" fontAlgn="base" latinLnBrk="0">
                        <a:buNone/>
                      </a:pPr>
                      <a:r>
                        <a:rPr lang="en-IN" sz="1400">
                          <a:effectLst/>
                        </a:rPr>
                        <a:t>Complex features</a:t>
                      </a:r>
                    </a:p>
                  </a:txBody>
                  <a:tcPr marL="60960" marR="60960" anchor="ctr"/>
                </a:tc>
                <a:tc>
                  <a:txBody>
                    <a:bodyPr/>
                    <a:lstStyle/>
                    <a:p>
                      <a:pPr algn="ctr" fontAlgn="base" latinLnBrk="0">
                        <a:buNone/>
                      </a:pPr>
                      <a:r>
                        <a:rPr lang="en-IN" sz="1400" dirty="0">
                          <a:effectLst/>
                        </a:rPr>
                        <a:t>Penn Treebank</a:t>
                      </a:r>
                    </a:p>
                  </a:txBody>
                  <a:tcPr marL="60960" marR="60960" anchor="ctr"/>
                </a:tc>
                <a:extLst>
                  <a:ext uri="{0D108BD9-81ED-4DB2-BD59-A6C34878D82A}">
                    <a16:rowId xmlns:a16="http://schemas.microsoft.com/office/drawing/2014/main" val="786384769"/>
                  </a:ext>
                </a:extLst>
              </a:tr>
            </a:tbl>
          </a:graphicData>
        </a:graphic>
      </p:graphicFrame>
      <p:sp>
        <p:nvSpPr>
          <p:cNvPr id="18" name="TextBox 17">
            <a:extLst>
              <a:ext uri="{FF2B5EF4-FFF2-40B4-BE49-F238E27FC236}">
                <a16:creationId xmlns:a16="http://schemas.microsoft.com/office/drawing/2014/main" id="{040B4423-A4DB-54BD-BA9C-BDA436EBE8DD}"/>
              </a:ext>
            </a:extLst>
          </p:cNvPr>
          <p:cNvSpPr txBox="1"/>
          <p:nvPr/>
        </p:nvSpPr>
        <p:spPr>
          <a:xfrm>
            <a:off x="5981695" y="5222460"/>
            <a:ext cx="6096000" cy="1631216"/>
          </a:xfrm>
          <a:prstGeom prst="rect">
            <a:avLst/>
          </a:prstGeom>
          <a:noFill/>
        </p:spPr>
        <p:txBody>
          <a:bodyPr wrap="square">
            <a:spAutoFit/>
          </a:bodyPr>
          <a:lstStyle/>
          <a:p>
            <a:pPr algn="ctr"/>
            <a:r>
              <a:rPr lang="en-US" sz="2000" b="1" i="0" u="sng" dirty="0">
                <a:solidFill>
                  <a:srgbClr val="FFC000"/>
                </a:solidFill>
                <a:effectLst/>
                <a:latin typeface="berkeleyMono"/>
              </a:rPr>
              <a:t>Key Questions: </a:t>
            </a:r>
          </a:p>
          <a:p>
            <a:pPr marL="457200" indent="-457200">
              <a:buFont typeface="+mj-lt"/>
              <a:buAutoNum type="arabicPeriod"/>
            </a:pPr>
            <a:r>
              <a:rPr lang="en-US" sz="2000" b="1" u="sng" dirty="0">
                <a:solidFill>
                  <a:srgbClr val="FFC000"/>
                </a:solidFill>
              </a:rPr>
              <a:t>How do different models resolve this ambiguity using context?</a:t>
            </a:r>
          </a:p>
          <a:p>
            <a:pPr marL="457200" indent="-457200">
              <a:buFont typeface="+mj-lt"/>
              <a:buAutoNum type="arabicPeriod"/>
            </a:pPr>
            <a:r>
              <a:rPr lang="en-US" sz="2000" b="1" i="0" u="sng" dirty="0">
                <a:solidFill>
                  <a:srgbClr val="FFC000"/>
                </a:solidFill>
                <a:effectLst/>
                <a:latin typeface="berkeleyMono"/>
              </a:rPr>
              <a:t>Does more model complexity → higher accuracy?</a:t>
            </a:r>
          </a:p>
          <a:p>
            <a:pPr algn="ctr"/>
            <a:endParaRPr lang="en-IN" sz="2000" b="1" u="sng" dirty="0">
              <a:solidFill>
                <a:srgbClr val="FFC000"/>
              </a:solidFill>
            </a:endParaRPr>
          </a:p>
        </p:txBody>
      </p:sp>
      <p:sp>
        <p:nvSpPr>
          <p:cNvPr id="19" name="Slide Number Placeholder 18">
            <a:extLst>
              <a:ext uri="{FF2B5EF4-FFF2-40B4-BE49-F238E27FC236}">
                <a16:creationId xmlns:a16="http://schemas.microsoft.com/office/drawing/2014/main" id="{8FD6AEC0-538A-4EE1-2F95-182216E62C87}"/>
              </a:ext>
            </a:extLst>
          </p:cNvPr>
          <p:cNvSpPr>
            <a:spLocks noGrp="1"/>
          </p:cNvSpPr>
          <p:nvPr>
            <p:ph type="sldNum" sz="quarter" idx="12"/>
          </p:nvPr>
        </p:nvSpPr>
        <p:spPr/>
        <p:txBody>
          <a:bodyPr/>
          <a:lstStyle/>
          <a:p>
            <a:fld id="{D9AB36C4-4A00-4490-8C6E-D4776DE94668}" type="slidenum">
              <a:rPr lang="en-IN" smtClean="0"/>
              <a:t>17</a:t>
            </a:fld>
            <a:endParaRPr lang="en-IN"/>
          </a:p>
        </p:txBody>
      </p:sp>
    </p:spTree>
    <p:extLst>
      <p:ext uri="{BB962C8B-B14F-4D97-AF65-F5344CB8AC3E}">
        <p14:creationId xmlns:p14="http://schemas.microsoft.com/office/powerpoint/2010/main" val="3670683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86FD8-2A45-C7E1-7170-A78F5B9B682B}"/>
              </a:ext>
            </a:extLst>
          </p:cNvPr>
          <p:cNvSpPr>
            <a:spLocks noGrp="1"/>
          </p:cNvSpPr>
          <p:nvPr>
            <p:ph type="title"/>
          </p:nvPr>
        </p:nvSpPr>
        <p:spPr/>
        <p:txBody>
          <a:bodyPr/>
          <a:lstStyle/>
          <a:p>
            <a:r>
              <a:rPr lang="en-IN"/>
              <a:t>Preparing Brown Corpus data</a:t>
            </a:r>
            <a:endParaRPr lang="en-IN" dirty="0"/>
          </a:p>
        </p:txBody>
      </p:sp>
      <p:pic>
        <p:nvPicPr>
          <p:cNvPr id="6" name="Content Placeholder 5" descr="A computer code with many colored text&#10;&#10;AI-generated content may be incorrect.">
            <a:extLst>
              <a:ext uri="{FF2B5EF4-FFF2-40B4-BE49-F238E27FC236}">
                <a16:creationId xmlns:a16="http://schemas.microsoft.com/office/drawing/2014/main" id="{CC9C0673-8463-4C63-67B0-5969D5DFDE42}"/>
              </a:ext>
            </a:extLst>
          </p:cNvPr>
          <p:cNvPicPr>
            <a:picLocks noGrp="1" noChangeAspect="1"/>
          </p:cNvPicPr>
          <p:nvPr>
            <p:ph sz="half" idx="1"/>
          </p:nvPr>
        </p:nvPicPr>
        <p:blipFill>
          <a:blip r:embed="rId3"/>
          <a:stretch>
            <a:fillRect/>
          </a:stretch>
        </p:blipFill>
        <p:spPr>
          <a:xfrm>
            <a:off x="489298" y="1825625"/>
            <a:ext cx="5879403" cy="1955800"/>
          </a:xfrm>
          <a:prstGeom prst="rect">
            <a:avLst/>
          </a:prstGeom>
        </p:spPr>
      </p:pic>
      <p:sp>
        <p:nvSpPr>
          <p:cNvPr id="4" name="Content Placeholder 3">
            <a:extLst>
              <a:ext uri="{FF2B5EF4-FFF2-40B4-BE49-F238E27FC236}">
                <a16:creationId xmlns:a16="http://schemas.microsoft.com/office/drawing/2014/main" id="{A53D505D-4558-6EE2-98E9-DCD1865BBF54}"/>
              </a:ext>
            </a:extLst>
          </p:cNvPr>
          <p:cNvSpPr>
            <a:spLocks noGrp="1"/>
          </p:cNvSpPr>
          <p:nvPr>
            <p:ph sz="half" idx="2"/>
          </p:nvPr>
        </p:nvSpPr>
        <p:spPr>
          <a:xfrm>
            <a:off x="6448425" y="1825625"/>
            <a:ext cx="5181600" cy="4351338"/>
          </a:xfrm>
        </p:spPr>
        <p:txBody>
          <a:bodyPr>
            <a:normAutofit fontScale="77500" lnSpcReduction="20000"/>
          </a:bodyPr>
          <a:lstStyle/>
          <a:p>
            <a:r>
              <a:rPr lang="en-IN"/>
              <a:t>brown.tagged_sents(tagset='universal') loads pre-tagged Brown corpus, converts fine-grained tags to 12 universal POS tags</a:t>
            </a:r>
          </a:p>
          <a:p>
            <a:r>
              <a:rPr lang="en-IN"/>
              <a:t>train_size = int(0.9 * len(...)) splits 90% train, 10% test; ensures no data leakage</a:t>
            </a:r>
          </a:p>
          <a:p>
            <a:r>
              <a:rPr lang="en-IN"/>
              <a:t>word_tag_freq is nested dict: for each word, count how many times it appears with each tag</a:t>
            </a:r>
          </a:p>
          <a:p>
            <a:r>
              <a:rPr lang="en-IN"/>
              <a:t>Loop iterates every (word, tag) pair in training, increments the count</a:t>
            </a:r>
          </a:p>
          <a:p>
            <a:r>
              <a:rPr lang="en-IN"/>
              <a:t>ambiguous = {w: tags for w, tags in ... if len(tags) &gt; 1} filters only words with multiple possible tags</a:t>
            </a:r>
            <a:endParaRPr lang="en-IN" dirty="0"/>
          </a:p>
        </p:txBody>
      </p:sp>
      <p:pic>
        <p:nvPicPr>
          <p:cNvPr id="8" name="Picture 7" descr="A black text on a white background&#10;&#10;AI-generated content may be incorrect.">
            <a:extLst>
              <a:ext uri="{FF2B5EF4-FFF2-40B4-BE49-F238E27FC236}">
                <a16:creationId xmlns:a16="http://schemas.microsoft.com/office/drawing/2014/main" id="{668AF6AE-F5AF-A2F9-960A-6AB60C6AB9E6}"/>
              </a:ext>
            </a:extLst>
          </p:cNvPr>
          <p:cNvPicPr>
            <a:picLocks noChangeAspect="1"/>
          </p:cNvPicPr>
          <p:nvPr/>
        </p:nvPicPr>
        <p:blipFill>
          <a:blip r:embed="rId4"/>
          <a:stretch>
            <a:fillRect/>
          </a:stretch>
        </p:blipFill>
        <p:spPr>
          <a:xfrm>
            <a:off x="1629752" y="4077493"/>
            <a:ext cx="3597708" cy="1246981"/>
          </a:xfrm>
          <a:prstGeom prst="rect">
            <a:avLst/>
          </a:prstGeom>
        </p:spPr>
      </p:pic>
      <p:sp>
        <p:nvSpPr>
          <p:cNvPr id="9" name="Slide Number Placeholder 8">
            <a:extLst>
              <a:ext uri="{FF2B5EF4-FFF2-40B4-BE49-F238E27FC236}">
                <a16:creationId xmlns:a16="http://schemas.microsoft.com/office/drawing/2014/main" id="{F318A979-EFB2-CCFF-11A8-EEB6D3D17148}"/>
              </a:ext>
            </a:extLst>
          </p:cNvPr>
          <p:cNvSpPr>
            <a:spLocks noGrp="1"/>
          </p:cNvSpPr>
          <p:nvPr>
            <p:ph type="sldNum" sz="quarter" idx="12"/>
          </p:nvPr>
        </p:nvSpPr>
        <p:spPr/>
        <p:txBody>
          <a:bodyPr/>
          <a:lstStyle/>
          <a:p>
            <a:fld id="{D9AB36C4-4A00-4490-8C6E-D4776DE94668}" type="slidenum">
              <a:rPr lang="en-IN" smtClean="0"/>
              <a:t>18</a:t>
            </a:fld>
            <a:endParaRPr lang="en-IN"/>
          </a:p>
        </p:txBody>
      </p:sp>
    </p:spTree>
    <p:extLst>
      <p:ext uri="{BB962C8B-B14F-4D97-AF65-F5344CB8AC3E}">
        <p14:creationId xmlns:p14="http://schemas.microsoft.com/office/powerpoint/2010/main" val="3227008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99359-A430-9E23-8C18-6E42410A9A27}"/>
              </a:ext>
            </a:extLst>
          </p:cNvPr>
          <p:cNvSpPr>
            <a:spLocks noGrp="1"/>
          </p:cNvSpPr>
          <p:nvPr>
            <p:ph type="title"/>
          </p:nvPr>
        </p:nvSpPr>
        <p:spPr/>
        <p:txBody>
          <a:bodyPr/>
          <a:lstStyle/>
          <a:p>
            <a:r>
              <a:rPr lang="en-IN" dirty="0"/>
              <a:t>Laplace Smoothing Setup</a:t>
            </a:r>
          </a:p>
        </p:txBody>
      </p:sp>
      <p:sp>
        <p:nvSpPr>
          <p:cNvPr id="3" name="Content Placeholder 2">
            <a:extLst>
              <a:ext uri="{FF2B5EF4-FFF2-40B4-BE49-F238E27FC236}">
                <a16:creationId xmlns:a16="http://schemas.microsoft.com/office/drawing/2014/main" id="{1A0418EB-E37C-C3EF-D2B9-D67E9428EFA4}"/>
              </a:ext>
            </a:extLst>
          </p:cNvPr>
          <p:cNvSpPr>
            <a:spLocks noGrp="1"/>
          </p:cNvSpPr>
          <p:nvPr>
            <p:ph sz="half" idx="1"/>
          </p:nvPr>
        </p:nvSpPr>
        <p:spPr/>
        <p:txBody>
          <a:bodyPr>
            <a:normAutofit fontScale="62500" lnSpcReduction="20000"/>
          </a:bodyPr>
          <a:lstStyle/>
          <a:p>
            <a:endParaRPr lang="en-IN"/>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D46FB8A8-0EA4-6E98-A2D8-6122952F23A4}"/>
                  </a:ext>
                </a:extLst>
              </p:cNvPr>
              <p:cNvSpPr>
                <a:spLocks noGrp="1"/>
              </p:cNvSpPr>
              <p:nvPr>
                <p:ph sz="half" idx="2"/>
              </p:nvPr>
            </p:nvSpPr>
            <p:spPr>
              <a:xfrm>
                <a:off x="6105524" y="1825625"/>
                <a:ext cx="5953126" cy="4351338"/>
              </a:xfrm>
            </p:spPr>
            <p:txBody>
              <a:bodyPr>
                <a:normAutofit fontScale="62500" lnSpcReduction="20000"/>
              </a:bodyPr>
              <a:lstStyle/>
              <a:p>
                <a:r>
                  <a:rPr lang="en-IN" dirty="0" err="1"/>
                  <a:t>transition_counts</a:t>
                </a:r>
                <a:r>
                  <a:rPr lang="en-IN" dirty="0"/>
                  <a:t> creates a nested dictionary where every unseen (</a:t>
                </a:r>
                <a:r>
                  <a:rPr lang="en-IN" dirty="0" err="1"/>
                  <a:t>prev_tag</a:t>
                </a:r>
                <a:r>
                  <a:rPr lang="en-IN" dirty="0"/>
                  <a:t>, tag) pair starts at count 0, so you can safely increment without </a:t>
                </a:r>
                <a:r>
                  <a:rPr lang="en-IN" dirty="0" err="1"/>
                  <a:t>KeyError</a:t>
                </a:r>
                <a:r>
                  <a:rPr lang="en-IN" dirty="0"/>
                  <a:t>.​</a:t>
                </a:r>
              </a:p>
              <a:p>
                <a:r>
                  <a:rPr lang="en-IN" dirty="0"/>
                  <a:t>Inside the loop over </a:t>
                </a:r>
                <a:r>
                  <a:rPr lang="en-IN" dirty="0" err="1"/>
                  <a:t>brown_train</a:t>
                </a:r>
                <a:r>
                  <a:rPr lang="en-IN" dirty="0"/>
                  <a:t>, </a:t>
                </a:r>
                <a:r>
                  <a:rPr lang="en-IN" dirty="0" err="1"/>
                  <a:t>prev_tag</a:t>
                </a:r>
                <a:r>
                  <a:rPr lang="en-IN" dirty="0"/>
                  <a:t> = 'START' initializes a special start symbol before each sentence; for every (word, tag) we increment </a:t>
                </a:r>
                <a:r>
                  <a:rPr lang="en-IN" dirty="0" err="1"/>
                  <a:t>transition_counts</a:t>
                </a:r>
                <a:r>
                  <a:rPr lang="en-IN" dirty="0"/>
                  <a:t> and </a:t>
                </a:r>
                <a:r>
                  <a:rPr lang="en-IN" dirty="0" err="1"/>
                  <a:t>tag_counts_start</a:t>
                </a:r>
                <a:r>
                  <a:rPr lang="en-IN" dirty="0"/>
                  <a:t>, which together are the numerator and denominator for </a:t>
                </a:r>
                <a14:m>
                  <m:oMath xmlns:m="http://schemas.openxmlformats.org/officeDocument/2006/math">
                    <m:r>
                      <a:rPr lang="en-IN" i="1"/>
                      <m:t>𝑃</m:t>
                    </m:r>
                    <m:d>
                      <m:dPr>
                        <m:ctrlPr>
                          <a:rPr lang="ar-AE" i="1"/>
                        </m:ctrlPr>
                      </m:dPr>
                      <m:e>
                        <m:sSub>
                          <m:sSubPr>
                            <m:ctrlPr>
                              <a:rPr lang="ar-AE" i="1"/>
                            </m:ctrlPr>
                          </m:sSubPr>
                          <m:e>
                            <m:r>
                              <a:rPr lang="ar-AE" i="1"/>
                              <m:t>𝑡</m:t>
                            </m:r>
                          </m:e>
                          <m:sub>
                            <m:r>
                              <a:rPr lang="ar-AE" i="1"/>
                              <m:t>𝑖</m:t>
                            </m:r>
                          </m:sub>
                        </m:sSub>
                        <m:r>
                          <a:rPr lang="ar-AE"/>
                          <m:t>∣</m:t>
                        </m:r>
                        <m:sSub>
                          <m:sSubPr>
                            <m:ctrlPr>
                              <a:rPr lang="ar-AE" i="1"/>
                            </m:ctrlPr>
                          </m:sSubPr>
                          <m:e>
                            <m:r>
                              <a:rPr lang="ar-AE" i="1"/>
                              <m:t>𝑡</m:t>
                            </m:r>
                          </m:e>
                          <m:sub>
                            <m:r>
                              <a:rPr lang="ar-AE" i="1"/>
                              <m:t>𝑖</m:t>
                            </m:r>
                            <m:r>
                              <a:rPr lang="ar-AE"/>
                              <m:t>−</m:t>
                            </m:r>
                            <m:r>
                              <a:rPr lang="ar-AE"/>
                              <m:t>1</m:t>
                            </m:r>
                          </m:sub>
                        </m:sSub>
                      </m:e>
                    </m:d>
                  </m:oMath>
                </a14:m>
                <a:r>
                  <a:rPr lang="ar-AE" dirty="0"/>
                  <a:t>.​</a:t>
                </a:r>
              </a:p>
              <a:p>
                <a:r>
                  <a:rPr lang="en-IN" dirty="0" err="1"/>
                  <a:t>emission_counts</a:t>
                </a:r>
                <a:r>
                  <a:rPr lang="en-IN" dirty="0"/>
                  <a:t> and </a:t>
                </a:r>
                <a:r>
                  <a:rPr lang="en-IN" dirty="0" err="1"/>
                  <a:t>tag_word_counts</a:t>
                </a:r>
                <a:r>
                  <a:rPr lang="en-IN" dirty="0"/>
                  <a:t> play the same role for emissions: they store how many times each word appears with each tag, and the total number of words emitted by that tag.​</a:t>
                </a:r>
              </a:p>
              <a:p>
                <a:r>
                  <a:rPr lang="en-IN" dirty="0" err="1"/>
                  <a:t>all_tags</a:t>
                </a:r>
                <a:r>
                  <a:rPr lang="en-IN" dirty="0"/>
                  <a:t> and </a:t>
                </a:r>
                <a:r>
                  <a:rPr lang="en-IN" dirty="0" err="1"/>
                  <a:t>V_tags</a:t>
                </a:r>
                <a:r>
                  <a:rPr lang="en-IN" dirty="0"/>
                  <a:t> compute the size of the tag vocabulary, while </a:t>
                </a:r>
                <a:r>
                  <a:rPr lang="en-IN" dirty="0" err="1"/>
                  <a:t>all_words</a:t>
                </a:r>
                <a:r>
                  <a:rPr lang="en-IN" dirty="0"/>
                  <a:t> and </a:t>
                </a:r>
                <a:r>
                  <a:rPr lang="en-IN" dirty="0" err="1"/>
                  <a:t>V_words</a:t>
                </a:r>
                <a:r>
                  <a:rPr lang="en-IN" dirty="0"/>
                  <a:t> do the same for words; these </a:t>
                </a:r>
                <a:r>
                  <a:rPr lang="en-IN" dirty="0" err="1"/>
                  <a:t>V_tags</a:t>
                </a:r>
                <a:r>
                  <a:rPr lang="en-IN" dirty="0"/>
                  <a:t> and </a:t>
                </a:r>
                <a:r>
                  <a:rPr lang="en-IN" dirty="0" err="1"/>
                  <a:t>V_words</a:t>
                </a:r>
                <a:r>
                  <a:rPr lang="en-IN" dirty="0"/>
                  <a:t> terms are exactly what go into the Laplace denominators (count + V).​</a:t>
                </a:r>
              </a:p>
              <a:p>
                <a:pPr marL="0" indent="0">
                  <a:buNone/>
                </a:pPr>
                <a:endParaRPr lang="en-IN" dirty="0"/>
              </a:p>
            </p:txBody>
          </p:sp>
        </mc:Choice>
        <mc:Fallback>
          <p:sp>
            <p:nvSpPr>
              <p:cNvPr id="4" name="Content Placeholder 3">
                <a:extLst>
                  <a:ext uri="{FF2B5EF4-FFF2-40B4-BE49-F238E27FC236}">
                    <a16:creationId xmlns:a16="http://schemas.microsoft.com/office/drawing/2014/main" id="{D46FB8A8-0EA4-6E98-A2D8-6122952F23A4}"/>
                  </a:ext>
                </a:extLst>
              </p:cNvPr>
              <p:cNvSpPr>
                <a:spLocks noGrp="1" noRot="1" noChangeAspect="1" noMove="1" noResize="1" noEditPoints="1" noAdjustHandles="1" noChangeArrowheads="1" noChangeShapeType="1" noTextEdit="1"/>
              </p:cNvSpPr>
              <p:nvPr>
                <p:ph sz="half" idx="2"/>
              </p:nvPr>
            </p:nvSpPr>
            <p:spPr>
              <a:xfrm>
                <a:off x="6105524" y="1825625"/>
                <a:ext cx="5953126" cy="4351338"/>
              </a:xfrm>
              <a:blipFill>
                <a:blip r:embed="rId3"/>
                <a:stretch>
                  <a:fillRect l="-717" t="-2101"/>
                </a:stretch>
              </a:blipFill>
            </p:spPr>
            <p:txBody>
              <a:bodyPr/>
              <a:lstStyle/>
              <a:p>
                <a:r>
                  <a:rPr lang="en-IN">
                    <a:noFill/>
                  </a:rPr>
                  <a:t> </a:t>
                </a:r>
              </a:p>
            </p:txBody>
          </p:sp>
        </mc:Fallback>
      </mc:AlternateContent>
      <p:sp>
        <p:nvSpPr>
          <p:cNvPr id="7" name="Slide Number Placeholder 6">
            <a:extLst>
              <a:ext uri="{FF2B5EF4-FFF2-40B4-BE49-F238E27FC236}">
                <a16:creationId xmlns:a16="http://schemas.microsoft.com/office/drawing/2014/main" id="{3001B992-26A9-887F-3B9F-0F2F20809D99}"/>
              </a:ext>
            </a:extLst>
          </p:cNvPr>
          <p:cNvSpPr>
            <a:spLocks noGrp="1"/>
          </p:cNvSpPr>
          <p:nvPr>
            <p:ph type="sldNum" sz="quarter" idx="12"/>
          </p:nvPr>
        </p:nvSpPr>
        <p:spPr/>
        <p:txBody>
          <a:bodyPr/>
          <a:lstStyle/>
          <a:p>
            <a:fld id="{D9AB36C4-4A00-4490-8C6E-D4776DE94668}" type="slidenum">
              <a:rPr lang="en-IN" smtClean="0"/>
              <a:t>19</a:t>
            </a:fld>
            <a:endParaRPr lang="en-IN"/>
          </a:p>
        </p:txBody>
      </p:sp>
      <p:pic>
        <p:nvPicPr>
          <p:cNvPr id="9" name="Picture 8" descr="A computer screen shot of a computer code&#10;&#10;AI-generated content may be incorrect.">
            <a:extLst>
              <a:ext uri="{FF2B5EF4-FFF2-40B4-BE49-F238E27FC236}">
                <a16:creationId xmlns:a16="http://schemas.microsoft.com/office/drawing/2014/main" id="{457B4E86-9ECE-7423-CABC-4D75A898D90C}"/>
              </a:ext>
            </a:extLst>
          </p:cNvPr>
          <p:cNvPicPr>
            <a:picLocks noChangeAspect="1"/>
          </p:cNvPicPr>
          <p:nvPr/>
        </p:nvPicPr>
        <p:blipFill>
          <a:blip r:embed="rId4"/>
          <a:stretch>
            <a:fillRect/>
          </a:stretch>
        </p:blipFill>
        <p:spPr>
          <a:xfrm>
            <a:off x="295002" y="1825625"/>
            <a:ext cx="5953126" cy="3054641"/>
          </a:xfrm>
          <a:prstGeom prst="rect">
            <a:avLst/>
          </a:prstGeom>
        </p:spPr>
      </p:pic>
    </p:spTree>
    <p:extLst>
      <p:ext uri="{BB962C8B-B14F-4D97-AF65-F5344CB8AC3E}">
        <p14:creationId xmlns:p14="http://schemas.microsoft.com/office/powerpoint/2010/main" val="1642984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87798-0D22-4179-77CA-6D37165A8AC7}"/>
              </a:ext>
            </a:extLst>
          </p:cNvPr>
          <p:cNvSpPr>
            <a:spLocks noGrp="1"/>
          </p:cNvSpPr>
          <p:nvPr>
            <p:ph type="title"/>
          </p:nvPr>
        </p:nvSpPr>
        <p:spPr/>
        <p:txBody>
          <a:bodyPr/>
          <a:lstStyle/>
          <a:p>
            <a:r>
              <a:rPr lang="en-IN" dirty="0"/>
              <a:t>Transition and Emission within Laplace</a:t>
            </a:r>
          </a:p>
        </p:txBody>
      </p:sp>
      <p:pic>
        <p:nvPicPr>
          <p:cNvPr id="6" name="Content Placeholder 5" descr="A screenshot of a computer program&#10;&#10;AI-generated content may be incorrect.">
            <a:extLst>
              <a:ext uri="{FF2B5EF4-FFF2-40B4-BE49-F238E27FC236}">
                <a16:creationId xmlns:a16="http://schemas.microsoft.com/office/drawing/2014/main" id="{55F24AED-76B1-3C96-44B3-E2522FBC8851}"/>
              </a:ext>
            </a:extLst>
          </p:cNvPr>
          <p:cNvPicPr>
            <a:picLocks noGrp="1" noChangeAspect="1"/>
          </p:cNvPicPr>
          <p:nvPr>
            <p:ph sz="half" idx="1"/>
          </p:nvPr>
        </p:nvPicPr>
        <p:blipFill>
          <a:blip r:embed="rId3"/>
          <a:stretch>
            <a:fillRect/>
          </a:stretch>
        </p:blipFill>
        <p:spPr>
          <a:xfrm>
            <a:off x="838200" y="1858463"/>
            <a:ext cx="5181600" cy="4285662"/>
          </a:xfrm>
          <a:prstGeom prst="rect">
            <a:avLst/>
          </a:prstGeom>
        </p:spPr>
      </p:pic>
      <p:sp>
        <p:nvSpPr>
          <p:cNvPr id="4" name="Content Placeholder 3">
            <a:extLst>
              <a:ext uri="{FF2B5EF4-FFF2-40B4-BE49-F238E27FC236}">
                <a16:creationId xmlns:a16="http://schemas.microsoft.com/office/drawing/2014/main" id="{1BCD0EE2-36FE-9D98-3102-B2838EB06A78}"/>
              </a:ext>
            </a:extLst>
          </p:cNvPr>
          <p:cNvSpPr>
            <a:spLocks noGrp="1"/>
          </p:cNvSpPr>
          <p:nvPr>
            <p:ph sz="half" idx="2"/>
          </p:nvPr>
        </p:nvSpPr>
        <p:spPr/>
        <p:txBody>
          <a:bodyPr>
            <a:normAutofit fontScale="70000" lnSpcReduction="20000"/>
          </a:bodyPr>
          <a:lstStyle/>
          <a:p>
            <a:r>
              <a:rPr lang="en-US" dirty="0"/>
              <a:t>Transition counts looks at how often </a:t>
            </a:r>
            <a:r>
              <a:rPr lang="en-US" dirty="0" err="1"/>
              <a:t>prev_tag</a:t>
            </a:r>
            <a:r>
              <a:rPr lang="en-US" dirty="0"/>
              <a:t> is followed by tag in training</a:t>
            </a:r>
          </a:p>
          <a:p>
            <a:pPr lvl="1"/>
            <a:r>
              <a:rPr lang="en-US" dirty="0"/>
              <a:t>Example: how many times does DET precede NOUN?</a:t>
            </a:r>
          </a:p>
          <a:p>
            <a:pPr lvl="1"/>
            <a:r>
              <a:rPr lang="en-US" dirty="0"/>
              <a:t>Initialize with 'START' symbol to mark sentence beginnings</a:t>
            </a:r>
          </a:p>
          <a:p>
            <a:r>
              <a:rPr lang="en-US" dirty="0"/>
              <a:t>Emission counts looks at how often tag generates that word</a:t>
            </a:r>
          </a:p>
          <a:p>
            <a:pPr lvl="1"/>
            <a:r>
              <a:rPr lang="en-US" dirty="0"/>
              <a:t>Example: how many times does NOUN generate "dog"?</a:t>
            </a:r>
          </a:p>
          <a:p>
            <a:pPr lvl="1"/>
            <a:r>
              <a:rPr lang="en-US" dirty="0"/>
              <a:t>Track total words per tag in </a:t>
            </a:r>
            <a:r>
              <a:rPr lang="en-US" dirty="0" err="1"/>
              <a:t>tag_word_counts</a:t>
            </a:r>
            <a:r>
              <a:rPr lang="en-US" dirty="0"/>
              <a:t>[tag] (for denominator)</a:t>
            </a:r>
          </a:p>
          <a:p>
            <a:r>
              <a:rPr lang="en-US" dirty="0"/>
              <a:t>Vocab sizes: </a:t>
            </a:r>
            <a:r>
              <a:rPr lang="en-US" dirty="0" err="1"/>
              <a:t>V_tags</a:t>
            </a:r>
            <a:r>
              <a:rPr lang="en-US" dirty="0"/>
              <a:t> = 12, </a:t>
            </a:r>
            <a:r>
              <a:rPr lang="en-US" dirty="0" err="1"/>
              <a:t>V_words</a:t>
            </a:r>
            <a:r>
              <a:rPr lang="en-US" dirty="0"/>
              <a:t> ≈ 50K</a:t>
            </a:r>
          </a:p>
          <a:p>
            <a:pPr lvl="1"/>
            <a:r>
              <a:rPr lang="en-US" dirty="0"/>
              <a:t>Used in Laplace smoothing: unseen events get probability 1/V</a:t>
            </a:r>
          </a:p>
          <a:p>
            <a:r>
              <a:rPr lang="en-US" dirty="0"/>
              <a:t>These dictionaries are </a:t>
            </a:r>
            <a:r>
              <a:rPr lang="en-US" b="1" dirty="0"/>
              <a:t>frequency tables, not probabilities yet</a:t>
            </a:r>
            <a:r>
              <a:rPr lang="en-US" dirty="0"/>
              <a:t>; the next step is normalization + smoothing</a:t>
            </a:r>
          </a:p>
          <a:p>
            <a:pPr marL="0" indent="0">
              <a:buNone/>
            </a:pPr>
            <a:endParaRPr lang="en-IN" dirty="0"/>
          </a:p>
        </p:txBody>
      </p:sp>
      <p:sp>
        <p:nvSpPr>
          <p:cNvPr id="9" name="Slide Number Placeholder 8">
            <a:extLst>
              <a:ext uri="{FF2B5EF4-FFF2-40B4-BE49-F238E27FC236}">
                <a16:creationId xmlns:a16="http://schemas.microsoft.com/office/drawing/2014/main" id="{B2619437-B798-2BA6-F2EC-FE903A0DBD83}"/>
              </a:ext>
            </a:extLst>
          </p:cNvPr>
          <p:cNvSpPr>
            <a:spLocks noGrp="1"/>
          </p:cNvSpPr>
          <p:nvPr>
            <p:ph type="sldNum" sz="quarter" idx="12"/>
          </p:nvPr>
        </p:nvSpPr>
        <p:spPr/>
        <p:txBody>
          <a:bodyPr/>
          <a:lstStyle/>
          <a:p>
            <a:fld id="{D9AB36C4-4A00-4490-8C6E-D4776DE94668}" type="slidenum">
              <a:rPr lang="en-IN" smtClean="0"/>
              <a:t>20</a:t>
            </a:fld>
            <a:endParaRPr lang="en-IN"/>
          </a:p>
        </p:txBody>
      </p:sp>
    </p:spTree>
    <p:extLst>
      <p:ext uri="{BB962C8B-B14F-4D97-AF65-F5344CB8AC3E}">
        <p14:creationId xmlns:p14="http://schemas.microsoft.com/office/powerpoint/2010/main" val="27182583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B26A2-507C-B1B5-F80A-A6677349C4F8}"/>
              </a:ext>
            </a:extLst>
          </p:cNvPr>
          <p:cNvSpPr>
            <a:spLocks noGrp="1"/>
          </p:cNvSpPr>
          <p:nvPr>
            <p:ph type="title"/>
          </p:nvPr>
        </p:nvSpPr>
        <p:spPr/>
        <p:txBody>
          <a:bodyPr/>
          <a:lstStyle/>
          <a:p>
            <a:r>
              <a:rPr lang="en-IN" dirty="0"/>
              <a:t>Smoothing Results</a:t>
            </a:r>
          </a:p>
        </p:txBody>
      </p:sp>
      <p:sp>
        <p:nvSpPr>
          <p:cNvPr id="4" name="Content Placeholder 3">
            <a:extLst>
              <a:ext uri="{FF2B5EF4-FFF2-40B4-BE49-F238E27FC236}">
                <a16:creationId xmlns:a16="http://schemas.microsoft.com/office/drawing/2014/main" id="{AFF09415-9371-32B2-B197-B8D231353C12}"/>
              </a:ext>
            </a:extLst>
          </p:cNvPr>
          <p:cNvSpPr>
            <a:spLocks noGrp="1"/>
          </p:cNvSpPr>
          <p:nvPr>
            <p:ph sz="half" idx="2"/>
          </p:nvPr>
        </p:nvSpPr>
        <p:spPr>
          <a:xfrm>
            <a:off x="6172200" y="1825625"/>
            <a:ext cx="5181600" cy="4667250"/>
          </a:xfrm>
        </p:spPr>
        <p:txBody>
          <a:bodyPr>
            <a:normAutofit/>
          </a:bodyPr>
          <a:lstStyle/>
          <a:p>
            <a:r>
              <a:rPr lang="en-IN" sz="1800" dirty="0"/>
              <a:t>MLE (raw): P(tag | </a:t>
            </a:r>
            <a:r>
              <a:rPr lang="en-IN" sz="1800" dirty="0" err="1"/>
              <a:t>prev_tag</a:t>
            </a:r>
            <a:r>
              <a:rPr lang="en-IN" sz="1800" dirty="0"/>
              <a:t>) = count / </a:t>
            </a:r>
            <a:r>
              <a:rPr lang="en-IN" sz="1800" dirty="0" err="1"/>
              <a:t>total_count</a:t>
            </a:r>
            <a:endParaRPr lang="en-IN" sz="1800" dirty="0"/>
          </a:p>
          <a:p>
            <a:pPr lvl="1"/>
            <a:r>
              <a:rPr lang="en-IN" sz="1600" dirty="0"/>
              <a:t>If count=0 (unseen) → probability = 0 </a:t>
            </a:r>
          </a:p>
          <a:p>
            <a:pPr lvl="1"/>
            <a:r>
              <a:rPr lang="en-IN" sz="1600" dirty="0"/>
              <a:t>This breaks Viterbi</a:t>
            </a:r>
          </a:p>
          <a:p>
            <a:r>
              <a:rPr lang="en-IN" sz="1800" dirty="0"/>
              <a:t>Laplace smoothing: P(tag | </a:t>
            </a:r>
            <a:r>
              <a:rPr lang="en-IN" sz="1800" dirty="0" err="1"/>
              <a:t>prev_tag</a:t>
            </a:r>
            <a:r>
              <a:rPr lang="en-IN" sz="1800" dirty="0"/>
              <a:t>) = (count + 1) / (</a:t>
            </a:r>
            <a:r>
              <a:rPr lang="en-IN" sz="1800" dirty="0" err="1"/>
              <a:t>total_count</a:t>
            </a:r>
            <a:r>
              <a:rPr lang="en-IN" sz="1800" dirty="0"/>
              <a:t> + </a:t>
            </a:r>
            <a:r>
              <a:rPr lang="en-IN" sz="1800" dirty="0" err="1"/>
              <a:t>V_tags</a:t>
            </a:r>
            <a:r>
              <a:rPr lang="en-IN" sz="1800" dirty="0"/>
              <a:t>)</a:t>
            </a:r>
          </a:p>
          <a:p>
            <a:pPr lvl="1"/>
            <a:r>
              <a:rPr lang="en-IN" sz="1600" dirty="0"/>
              <a:t>Add 1 to numerator (pretend we saw it once)</a:t>
            </a:r>
          </a:p>
          <a:p>
            <a:pPr lvl="1"/>
            <a:r>
              <a:rPr lang="en-IN" sz="1600" dirty="0"/>
              <a:t>Add </a:t>
            </a:r>
            <a:r>
              <a:rPr lang="en-IN" sz="1600" dirty="0" err="1"/>
              <a:t>V_tags</a:t>
            </a:r>
            <a:r>
              <a:rPr lang="en-IN" sz="1600" dirty="0"/>
              <a:t> to denominator (account for all possible tags)</a:t>
            </a:r>
          </a:p>
          <a:p>
            <a:pPr lvl="1"/>
            <a:r>
              <a:rPr lang="en-IN" sz="1600" dirty="0"/>
              <a:t>Unseen gets tiny but non-zero: 1 / (total + </a:t>
            </a:r>
            <a:r>
              <a:rPr lang="en-IN" sz="1600" dirty="0" err="1"/>
              <a:t>V_tags</a:t>
            </a:r>
            <a:r>
              <a:rPr lang="en-IN" sz="1600" dirty="0"/>
              <a:t>) </a:t>
            </a:r>
          </a:p>
          <a:p>
            <a:r>
              <a:rPr lang="en-IN" sz="1800" dirty="0"/>
              <a:t>Emission same logic: P(word | tag) = (count + 1) / (</a:t>
            </a:r>
            <a:r>
              <a:rPr lang="en-IN" sz="1800" dirty="0" err="1"/>
              <a:t>tag_total</a:t>
            </a:r>
            <a:r>
              <a:rPr lang="en-IN" sz="1800" dirty="0"/>
              <a:t> + </a:t>
            </a:r>
            <a:r>
              <a:rPr lang="en-IN" sz="1800" dirty="0" err="1"/>
              <a:t>V_words</a:t>
            </a:r>
            <a:r>
              <a:rPr lang="en-IN" sz="1800" dirty="0"/>
              <a:t>)</a:t>
            </a:r>
          </a:p>
          <a:p>
            <a:pPr lvl="1"/>
            <a:r>
              <a:rPr lang="en-IN" sz="1600" dirty="0" err="1"/>
              <a:t>V_words</a:t>
            </a:r>
            <a:r>
              <a:rPr lang="en-IN" sz="1600" dirty="0"/>
              <a:t> is huge → smoothed emission is very small for unseen words (OOV)</a:t>
            </a:r>
          </a:p>
          <a:p>
            <a:r>
              <a:rPr lang="en-IN" sz="2000" b="1" dirty="0">
                <a:solidFill>
                  <a:srgbClr val="FFC000"/>
                </a:solidFill>
              </a:rPr>
              <a:t>Trade-off: Frequent events lose a bit of mass → unseen events get rescued</a:t>
            </a:r>
          </a:p>
        </p:txBody>
      </p:sp>
      <p:pic>
        <p:nvPicPr>
          <p:cNvPr id="8" name="Picture 7" descr="A screenshot of a computer&#10;&#10;AI-generated content may be incorrect.">
            <a:extLst>
              <a:ext uri="{FF2B5EF4-FFF2-40B4-BE49-F238E27FC236}">
                <a16:creationId xmlns:a16="http://schemas.microsoft.com/office/drawing/2014/main" id="{397D973C-1F2E-3D04-2C68-4F4F33A8D6B6}"/>
              </a:ext>
            </a:extLst>
          </p:cNvPr>
          <p:cNvPicPr>
            <a:picLocks noChangeAspect="1"/>
          </p:cNvPicPr>
          <p:nvPr/>
        </p:nvPicPr>
        <p:blipFill>
          <a:blip r:embed="rId3"/>
          <a:stretch>
            <a:fillRect/>
          </a:stretch>
        </p:blipFill>
        <p:spPr>
          <a:xfrm>
            <a:off x="814889" y="1825625"/>
            <a:ext cx="5204911" cy="3696020"/>
          </a:xfrm>
          <a:prstGeom prst="rect">
            <a:avLst/>
          </a:prstGeom>
        </p:spPr>
      </p:pic>
      <p:sp>
        <p:nvSpPr>
          <p:cNvPr id="7" name="Slide Number Placeholder 6">
            <a:extLst>
              <a:ext uri="{FF2B5EF4-FFF2-40B4-BE49-F238E27FC236}">
                <a16:creationId xmlns:a16="http://schemas.microsoft.com/office/drawing/2014/main" id="{3485B6AA-B4E9-4C16-FFAF-8AAA8537A991}"/>
              </a:ext>
            </a:extLst>
          </p:cNvPr>
          <p:cNvSpPr>
            <a:spLocks noGrp="1"/>
          </p:cNvSpPr>
          <p:nvPr>
            <p:ph type="sldNum" sz="quarter" idx="12"/>
          </p:nvPr>
        </p:nvSpPr>
        <p:spPr/>
        <p:txBody>
          <a:bodyPr/>
          <a:lstStyle/>
          <a:p>
            <a:fld id="{D9AB36C4-4A00-4490-8C6E-D4776DE94668}" type="slidenum">
              <a:rPr lang="en-IN" smtClean="0"/>
              <a:t>21</a:t>
            </a:fld>
            <a:endParaRPr lang="en-IN"/>
          </a:p>
        </p:txBody>
      </p:sp>
    </p:spTree>
    <p:extLst>
      <p:ext uri="{BB962C8B-B14F-4D97-AF65-F5344CB8AC3E}">
        <p14:creationId xmlns:p14="http://schemas.microsoft.com/office/powerpoint/2010/main" val="15605236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64A1A-E7B8-10FD-AEE5-43FCC8C7A297}"/>
              </a:ext>
            </a:extLst>
          </p:cNvPr>
          <p:cNvSpPr>
            <a:spLocks noGrp="1"/>
          </p:cNvSpPr>
          <p:nvPr>
            <p:ph type="title"/>
          </p:nvPr>
        </p:nvSpPr>
        <p:spPr/>
        <p:txBody>
          <a:bodyPr/>
          <a:lstStyle/>
          <a:p>
            <a:r>
              <a:rPr lang="en-IN" dirty="0"/>
              <a:t>Transition Probability Matrix (visualized)</a:t>
            </a:r>
          </a:p>
        </p:txBody>
      </p:sp>
      <p:sp>
        <p:nvSpPr>
          <p:cNvPr id="4" name="Content Placeholder 3">
            <a:extLst>
              <a:ext uri="{FF2B5EF4-FFF2-40B4-BE49-F238E27FC236}">
                <a16:creationId xmlns:a16="http://schemas.microsoft.com/office/drawing/2014/main" id="{67314F3A-7211-D6C3-8682-082807FD4718}"/>
              </a:ext>
            </a:extLst>
          </p:cNvPr>
          <p:cNvSpPr>
            <a:spLocks noGrp="1"/>
          </p:cNvSpPr>
          <p:nvPr>
            <p:ph sz="half" idx="2"/>
          </p:nvPr>
        </p:nvSpPr>
        <p:spPr>
          <a:xfrm>
            <a:off x="6170697" y="2417762"/>
            <a:ext cx="5181600" cy="3032125"/>
          </a:xfrm>
        </p:spPr>
        <p:txBody>
          <a:bodyPr>
            <a:normAutofit/>
          </a:bodyPr>
          <a:lstStyle/>
          <a:p>
            <a:r>
              <a:rPr lang="en-IN" sz="2000" dirty="0"/>
              <a:t>Dark red shows high-probability transitions (e.g., NOUN→DET, VERB→PRON)</a:t>
            </a:r>
          </a:p>
          <a:p>
            <a:r>
              <a:rPr lang="en-IN" sz="2000" dirty="0"/>
              <a:t>Light yellow shows rare/unlikely transitions</a:t>
            </a:r>
          </a:p>
          <a:p>
            <a:r>
              <a:rPr lang="en-IN" sz="2000" dirty="0"/>
              <a:t>This structure guides the Viterbi algorithm to prefer plausible tag sequences</a:t>
            </a:r>
          </a:p>
          <a:p>
            <a:r>
              <a:rPr lang="en-IN" sz="2000" dirty="0"/>
              <a:t>Symmetry breaks because POS sequence patterns are directional (determiners precede nouns, not vice versa)</a:t>
            </a:r>
          </a:p>
          <a:p>
            <a:pPr marL="0" indent="0">
              <a:buNone/>
            </a:pPr>
            <a:endParaRPr lang="en-IN" sz="2000" dirty="0"/>
          </a:p>
        </p:txBody>
      </p:sp>
      <p:pic>
        <p:nvPicPr>
          <p:cNvPr id="5122" name="Picture 2">
            <a:extLst>
              <a:ext uri="{FF2B5EF4-FFF2-40B4-BE49-F238E27FC236}">
                <a16:creationId xmlns:a16="http://schemas.microsoft.com/office/drawing/2014/main" id="{8DDA2476-C515-17B6-1D10-A35C17D45774}"/>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839703" y="1690688"/>
            <a:ext cx="5180098" cy="4486275"/>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D6B64DC8-84AA-94CD-117A-1C293A71E4F1}"/>
              </a:ext>
            </a:extLst>
          </p:cNvPr>
          <p:cNvSpPr>
            <a:spLocks noGrp="1"/>
          </p:cNvSpPr>
          <p:nvPr>
            <p:ph type="sldNum" sz="quarter" idx="12"/>
          </p:nvPr>
        </p:nvSpPr>
        <p:spPr/>
        <p:txBody>
          <a:bodyPr/>
          <a:lstStyle/>
          <a:p>
            <a:fld id="{D9AB36C4-4A00-4490-8C6E-D4776DE94668}" type="slidenum">
              <a:rPr lang="en-IN" smtClean="0"/>
              <a:t>22</a:t>
            </a:fld>
            <a:endParaRPr lang="en-IN"/>
          </a:p>
        </p:txBody>
      </p:sp>
    </p:spTree>
    <p:extLst>
      <p:ext uri="{BB962C8B-B14F-4D97-AF65-F5344CB8AC3E}">
        <p14:creationId xmlns:p14="http://schemas.microsoft.com/office/powerpoint/2010/main" val="2701119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88D5E-DAC1-4A90-F09B-90E26D3E14F1}"/>
              </a:ext>
            </a:extLst>
          </p:cNvPr>
          <p:cNvSpPr>
            <a:spLocks noGrp="1"/>
          </p:cNvSpPr>
          <p:nvPr>
            <p:ph type="title"/>
          </p:nvPr>
        </p:nvSpPr>
        <p:spPr/>
        <p:txBody>
          <a:bodyPr/>
          <a:lstStyle/>
          <a:p>
            <a:r>
              <a:rPr lang="en-IN" dirty="0"/>
              <a:t>Models Comparison</a:t>
            </a:r>
          </a:p>
        </p:txBody>
      </p:sp>
      <p:pic>
        <p:nvPicPr>
          <p:cNvPr id="6" name="Content Placeholder 5" descr="A screen shot of a computer code&#10;&#10;AI-generated content may be incorrect.">
            <a:extLst>
              <a:ext uri="{FF2B5EF4-FFF2-40B4-BE49-F238E27FC236}">
                <a16:creationId xmlns:a16="http://schemas.microsoft.com/office/drawing/2014/main" id="{3EEFDA89-DC69-8023-C3E7-1AAB2A6A52C2}"/>
              </a:ext>
            </a:extLst>
          </p:cNvPr>
          <p:cNvPicPr>
            <a:picLocks noGrp="1" noChangeAspect="1"/>
          </p:cNvPicPr>
          <p:nvPr>
            <p:ph sz="half" idx="1"/>
          </p:nvPr>
        </p:nvPicPr>
        <p:blipFill>
          <a:blip r:embed="rId3"/>
          <a:stretch>
            <a:fillRect/>
          </a:stretch>
        </p:blipFill>
        <p:spPr>
          <a:xfrm>
            <a:off x="725717" y="2162176"/>
            <a:ext cx="4562724" cy="3104148"/>
          </a:xfrm>
          <a:prstGeom prst="rect">
            <a:avLst/>
          </a:prstGeom>
        </p:spPr>
      </p:pic>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6CDC21C2-432B-80F3-4D9E-E07E4D363224}"/>
                  </a:ext>
                </a:extLst>
              </p:cNvPr>
              <p:cNvSpPr>
                <a:spLocks noGrp="1"/>
              </p:cNvSpPr>
              <p:nvPr>
                <p:ph sz="half" idx="2"/>
              </p:nvPr>
            </p:nvSpPr>
            <p:spPr>
              <a:xfrm>
                <a:off x="5743575" y="1825625"/>
                <a:ext cx="6038849" cy="4351338"/>
              </a:xfrm>
            </p:spPr>
            <p:txBody>
              <a:bodyPr>
                <a:noAutofit/>
              </a:bodyPr>
              <a:lstStyle/>
              <a:p>
                <a:r>
                  <a:rPr lang="en-IN" sz="1600" dirty="0">
                    <a:solidFill>
                      <a:schemeClr val="tx1"/>
                    </a:solidFill>
                  </a:rPr>
                  <a:t>Unigram tagger: </a:t>
                </a:r>
              </a:p>
              <a:p>
                <a:pPr lvl="1"/>
                <a:r>
                  <a:rPr lang="en-IN" sz="1600" dirty="0">
                    <a:solidFill>
                      <a:schemeClr val="tx1"/>
                    </a:solidFill>
                  </a:rPr>
                  <a:t>learns </a:t>
                </a:r>
                <a14:m>
                  <m:oMath xmlns:m="http://schemas.openxmlformats.org/officeDocument/2006/math">
                    <m:r>
                      <a:rPr lang="en-IN" sz="1600" i="1">
                        <a:solidFill>
                          <a:schemeClr val="tx1"/>
                        </a:solidFill>
                        <a:latin typeface="Cambria Math" panose="02040503050406030204" pitchFamily="18" charset="0"/>
                      </a:rPr>
                      <m:t>𝑃</m:t>
                    </m:r>
                    <m:d>
                      <m:dPr>
                        <m:ctrlPr>
                          <a:rPr lang="ar-AE" sz="1600" i="1">
                            <a:solidFill>
                              <a:schemeClr val="tx1"/>
                            </a:solidFill>
                            <a:latin typeface="Cambria Math" panose="02040503050406030204" pitchFamily="18" charset="0"/>
                          </a:rPr>
                        </m:ctrlPr>
                      </m:dPr>
                      <m:e>
                        <m:r>
                          <m:rPr>
                            <m:nor/>
                          </m:rPr>
                          <a:rPr lang="en-IN" sz="1600" i="1">
                            <a:solidFill>
                              <a:schemeClr val="tx1"/>
                            </a:solidFill>
                          </a:rPr>
                          <m:t>tag</m:t>
                        </m:r>
                        <m:r>
                          <a:rPr lang="en-IN" sz="1600">
                            <a:solidFill>
                              <a:schemeClr val="tx1"/>
                            </a:solidFill>
                            <a:latin typeface="Cambria Math" panose="02040503050406030204" pitchFamily="18" charset="0"/>
                          </a:rPr>
                          <m:t>∣</m:t>
                        </m:r>
                        <m:r>
                          <m:rPr>
                            <m:nor/>
                          </m:rPr>
                          <a:rPr lang="en-IN" sz="1600" i="1">
                            <a:solidFill>
                              <a:schemeClr val="tx1"/>
                            </a:solidFill>
                          </a:rPr>
                          <m:t>word</m:t>
                        </m:r>
                      </m:e>
                    </m:d>
                  </m:oMath>
                </a14:m>
                <a:r>
                  <a:rPr lang="ar-AE" sz="1600" dirty="0">
                    <a:solidFill>
                      <a:schemeClr val="tx1"/>
                    </a:solidFill>
                  </a:rPr>
                  <a:t>.</a:t>
                </a:r>
              </a:p>
              <a:p>
                <a:pPr lvl="1"/>
                <a:r>
                  <a:rPr lang="en-IN" sz="1600" dirty="0">
                    <a:solidFill>
                      <a:schemeClr val="tx1"/>
                    </a:solidFill>
                  </a:rPr>
                  <a:t>Uses only the current word.</a:t>
                </a:r>
              </a:p>
              <a:p>
                <a:pPr lvl="1"/>
                <a:r>
                  <a:rPr lang="en-IN" sz="1600" dirty="0">
                    <a:solidFill>
                      <a:schemeClr val="tx1"/>
                    </a:solidFill>
                  </a:rPr>
                  <a:t>Simple and robust.</a:t>
                </a:r>
              </a:p>
              <a:p>
                <a:pPr lvl="1"/>
                <a:r>
                  <a:rPr lang="en-IN" sz="1600" dirty="0">
                    <a:solidFill>
                      <a:schemeClr val="tx1"/>
                    </a:solidFill>
                  </a:rPr>
                  <a:t>Ignores sequence structure.</a:t>
                </a:r>
              </a:p>
              <a:p>
                <a:r>
                  <a:rPr lang="en-IN" sz="1600" dirty="0">
                    <a:solidFill>
                      <a:schemeClr val="tx1"/>
                    </a:solidFill>
                  </a:rPr>
                  <a:t>Bigram tagger with backoff: </a:t>
                </a:r>
              </a:p>
              <a:p>
                <a:pPr lvl="1"/>
                <a:r>
                  <a:rPr lang="en-IN" sz="1600" dirty="0">
                    <a:solidFill>
                      <a:schemeClr val="tx1"/>
                    </a:solidFill>
                  </a:rPr>
                  <a:t>learns </a:t>
                </a:r>
                <a14:m>
                  <m:oMath xmlns:m="http://schemas.openxmlformats.org/officeDocument/2006/math">
                    <m:r>
                      <a:rPr lang="en-IN" sz="1600" i="1">
                        <a:solidFill>
                          <a:schemeClr val="tx1"/>
                        </a:solidFill>
                        <a:latin typeface="Cambria Math" panose="02040503050406030204" pitchFamily="18" charset="0"/>
                      </a:rPr>
                      <m:t>𝑃</m:t>
                    </m:r>
                    <m:d>
                      <m:dPr>
                        <m:ctrlPr>
                          <a:rPr lang="ar-AE" sz="1600" i="1">
                            <a:solidFill>
                              <a:schemeClr val="tx1"/>
                            </a:solidFill>
                            <a:latin typeface="Cambria Math" panose="02040503050406030204" pitchFamily="18" charset="0"/>
                          </a:rPr>
                        </m:ctrlPr>
                      </m:dPr>
                      <m:e>
                        <m:sSub>
                          <m:sSubPr>
                            <m:ctrlPr>
                              <a:rPr lang="ar-AE" sz="1600" i="1">
                                <a:solidFill>
                                  <a:schemeClr val="tx1"/>
                                </a:solidFill>
                                <a:latin typeface="Cambria Math" panose="02040503050406030204" pitchFamily="18" charset="0"/>
                              </a:rPr>
                            </m:ctrlPr>
                          </m:sSubPr>
                          <m:e>
                            <m:r>
                              <m:rPr>
                                <m:nor/>
                              </m:rPr>
                              <a:rPr lang="en-IN" sz="1600" i="1">
                                <a:solidFill>
                                  <a:schemeClr val="tx1"/>
                                </a:solidFill>
                              </a:rPr>
                              <m:t>tag</m:t>
                            </m:r>
                          </m:e>
                          <m:sub>
                            <m:r>
                              <a:rPr lang="ar-AE" sz="1600" i="1">
                                <a:solidFill>
                                  <a:schemeClr val="tx1"/>
                                </a:solidFill>
                                <a:latin typeface="Cambria Math" panose="02040503050406030204" pitchFamily="18" charset="0"/>
                              </a:rPr>
                              <m:t>𝑖</m:t>
                            </m:r>
                          </m:sub>
                        </m:sSub>
                        <m:r>
                          <a:rPr lang="ar-AE" sz="1600">
                            <a:solidFill>
                              <a:schemeClr val="tx1"/>
                            </a:solidFill>
                            <a:latin typeface="Cambria Math" panose="02040503050406030204" pitchFamily="18" charset="0"/>
                          </a:rPr>
                          <m:t>∣</m:t>
                        </m:r>
                        <m:sSub>
                          <m:sSubPr>
                            <m:ctrlPr>
                              <a:rPr lang="ar-AE" sz="1600" i="1">
                                <a:solidFill>
                                  <a:schemeClr val="tx1"/>
                                </a:solidFill>
                                <a:latin typeface="Cambria Math" panose="02040503050406030204" pitchFamily="18" charset="0"/>
                              </a:rPr>
                            </m:ctrlPr>
                          </m:sSubPr>
                          <m:e>
                            <m:r>
                              <m:rPr>
                                <m:nor/>
                              </m:rPr>
                              <a:rPr lang="en-IN" sz="1600" i="1">
                                <a:solidFill>
                                  <a:schemeClr val="tx1"/>
                                </a:solidFill>
                              </a:rPr>
                              <m:t>tag</m:t>
                            </m:r>
                          </m:e>
                          <m:sub>
                            <m:r>
                              <a:rPr lang="ar-AE" sz="1600" i="1">
                                <a:solidFill>
                                  <a:schemeClr val="tx1"/>
                                </a:solidFill>
                                <a:latin typeface="Cambria Math" panose="02040503050406030204" pitchFamily="18" charset="0"/>
                              </a:rPr>
                              <m:t>𝑖</m:t>
                            </m:r>
                            <m:r>
                              <a:rPr lang="ar-AE" sz="1600">
                                <a:solidFill>
                                  <a:schemeClr val="tx1"/>
                                </a:solidFill>
                                <a:latin typeface="Cambria Math" panose="02040503050406030204" pitchFamily="18" charset="0"/>
                              </a:rPr>
                              <m:t>−</m:t>
                            </m:r>
                            <m:r>
                              <a:rPr lang="ar-AE" sz="1600">
                                <a:solidFill>
                                  <a:schemeClr val="tx1"/>
                                </a:solidFill>
                                <a:latin typeface="Cambria Math" panose="02040503050406030204" pitchFamily="18" charset="0"/>
                              </a:rPr>
                              <m:t>1</m:t>
                            </m:r>
                          </m:sub>
                        </m:sSub>
                      </m:e>
                    </m:d>
                  </m:oMath>
                </a14:m>
                <a:r>
                  <a:rPr lang="ar-AE" sz="1600" dirty="0">
                    <a:solidFill>
                      <a:schemeClr val="tx1"/>
                    </a:solidFill>
                  </a:rPr>
                  <a:t>, </a:t>
                </a:r>
                <a:r>
                  <a:rPr lang="en-IN" sz="1600" dirty="0">
                    <a:solidFill>
                      <a:schemeClr val="tx1"/>
                    </a:solidFill>
                  </a:rPr>
                  <a:t>but if the bigram is unseen it falls back to the unigram tagger.</a:t>
                </a:r>
              </a:p>
              <a:p>
                <a:pPr lvl="1"/>
                <a:r>
                  <a:rPr lang="en-IN" sz="1600" dirty="0">
                    <a:solidFill>
                      <a:schemeClr val="tx1"/>
                    </a:solidFill>
                  </a:rPr>
                  <a:t>Uses context when it is reliable.</a:t>
                </a:r>
              </a:p>
              <a:p>
                <a:pPr lvl="1"/>
                <a:r>
                  <a:rPr lang="en-IN" sz="1600" dirty="0">
                    <a:solidFill>
                      <a:schemeClr val="tx1"/>
                    </a:solidFill>
                  </a:rPr>
                  <a:t>Avoids zero probability by backing off.</a:t>
                </a:r>
              </a:p>
              <a:p>
                <a:r>
                  <a:rPr lang="en-IN" sz="1600" dirty="0">
                    <a:solidFill>
                      <a:schemeClr val="tx1"/>
                    </a:solidFill>
                  </a:rPr>
                  <a:t>HMM tagger: </a:t>
                </a:r>
              </a:p>
              <a:p>
                <a:pPr lvl="1"/>
                <a:r>
                  <a:rPr lang="en-IN" sz="1600" dirty="0">
                    <a:solidFill>
                      <a:schemeClr val="tx1"/>
                    </a:solidFill>
                  </a:rPr>
                  <a:t>combines </a:t>
                </a:r>
                <a14:m>
                  <m:oMath xmlns:m="http://schemas.openxmlformats.org/officeDocument/2006/math">
                    <m:r>
                      <a:rPr lang="en-IN" sz="1600" i="1">
                        <a:solidFill>
                          <a:schemeClr val="tx1"/>
                        </a:solidFill>
                        <a:latin typeface="Cambria Math" panose="02040503050406030204" pitchFamily="18" charset="0"/>
                      </a:rPr>
                      <m:t>𝑃</m:t>
                    </m:r>
                    <m:d>
                      <m:dPr>
                        <m:ctrlPr>
                          <a:rPr lang="ar-AE" sz="1600" i="1">
                            <a:solidFill>
                              <a:schemeClr val="tx1"/>
                            </a:solidFill>
                            <a:latin typeface="Cambria Math" panose="02040503050406030204" pitchFamily="18" charset="0"/>
                          </a:rPr>
                        </m:ctrlPr>
                      </m:dPr>
                      <m:e>
                        <m:sSub>
                          <m:sSubPr>
                            <m:ctrlPr>
                              <a:rPr lang="ar-AE" sz="1600" i="1">
                                <a:solidFill>
                                  <a:schemeClr val="tx1"/>
                                </a:solidFill>
                                <a:latin typeface="Cambria Math" panose="02040503050406030204" pitchFamily="18" charset="0"/>
                              </a:rPr>
                            </m:ctrlPr>
                          </m:sSubPr>
                          <m:e>
                            <m:r>
                              <m:rPr>
                                <m:nor/>
                              </m:rPr>
                              <a:rPr lang="en-IN" sz="1600" i="1">
                                <a:solidFill>
                                  <a:schemeClr val="tx1"/>
                                </a:solidFill>
                              </a:rPr>
                              <m:t>tag</m:t>
                            </m:r>
                          </m:e>
                          <m:sub>
                            <m:r>
                              <a:rPr lang="ar-AE" sz="1600" i="1">
                                <a:solidFill>
                                  <a:schemeClr val="tx1"/>
                                </a:solidFill>
                                <a:latin typeface="Cambria Math" panose="02040503050406030204" pitchFamily="18" charset="0"/>
                              </a:rPr>
                              <m:t>𝑖</m:t>
                            </m:r>
                          </m:sub>
                        </m:sSub>
                        <m:r>
                          <a:rPr lang="ar-AE" sz="1600">
                            <a:solidFill>
                              <a:schemeClr val="tx1"/>
                            </a:solidFill>
                            <a:latin typeface="Cambria Math" panose="02040503050406030204" pitchFamily="18" charset="0"/>
                          </a:rPr>
                          <m:t>∣</m:t>
                        </m:r>
                        <m:sSub>
                          <m:sSubPr>
                            <m:ctrlPr>
                              <a:rPr lang="ar-AE" sz="1600" i="1">
                                <a:solidFill>
                                  <a:schemeClr val="tx1"/>
                                </a:solidFill>
                                <a:latin typeface="Cambria Math" panose="02040503050406030204" pitchFamily="18" charset="0"/>
                              </a:rPr>
                            </m:ctrlPr>
                          </m:sSubPr>
                          <m:e>
                            <m:r>
                              <m:rPr>
                                <m:nor/>
                              </m:rPr>
                              <a:rPr lang="en-IN" sz="1600" i="1">
                                <a:solidFill>
                                  <a:schemeClr val="tx1"/>
                                </a:solidFill>
                              </a:rPr>
                              <m:t>tag</m:t>
                            </m:r>
                          </m:e>
                          <m:sub>
                            <m:r>
                              <a:rPr lang="ar-AE" sz="1600" i="1">
                                <a:solidFill>
                                  <a:schemeClr val="tx1"/>
                                </a:solidFill>
                                <a:latin typeface="Cambria Math" panose="02040503050406030204" pitchFamily="18" charset="0"/>
                              </a:rPr>
                              <m:t>𝑖</m:t>
                            </m:r>
                            <m:r>
                              <a:rPr lang="ar-AE" sz="1600">
                                <a:solidFill>
                                  <a:schemeClr val="tx1"/>
                                </a:solidFill>
                                <a:latin typeface="Cambria Math" panose="02040503050406030204" pitchFamily="18" charset="0"/>
                              </a:rPr>
                              <m:t>−</m:t>
                            </m:r>
                            <m:r>
                              <a:rPr lang="ar-AE" sz="1600">
                                <a:solidFill>
                                  <a:schemeClr val="tx1"/>
                                </a:solidFill>
                                <a:latin typeface="Cambria Math" panose="02040503050406030204" pitchFamily="18" charset="0"/>
                              </a:rPr>
                              <m:t>1</m:t>
                            </m:r>
                          </m:sub>
                        </m:sSub>
                      </m:e>
                    </m:d>
                  </m:oMath>
                </a14:m>
                <a:r>
                  <a:rPr lang="ar-AE" sz="1600" dirty="0">
                    <a:solidFill>
                      <a:schemeClr val="tx1"/>
                    </a:solidFill>
                  </a:rPr>
                  <a:t> </a:t>
                </a:r>
                <a:r>
                  <a:rPr lang="en-IN" sz="1600" dirty="0">
                    <a:solidFill>
                      <a:schemeClr val="tx1"/>
                    </a:solidFill>
                  </a:rPr>
                  <a:t>and </a:t>
                </a:r>
                <a14:m>
                  <m:oMath xmlns:m="http://schemas.openxmlformats.org/officeDocument/2006/math">
                    <m:r>
                      <a:rPr lang="en-IN" sz="1600" i="1">
                        <a:solidFill>
                          <a:schemeClr val="tx1"/>
                        </a:solidFill>
                        <a:latin typeface="Cambria Math" panose="02040503050406030204" pitchFamily="18" charset="0"/>
                      </a:rPr>
                      <m:t>𝑃</m:t>
                    </m:r>
                    <m:d>
                      <m:dPr>
                        <m:ctrlPr>
                          <a:rPr lang="ar-AE" sz="1600" i="1">
                            <a:solidFill>
                              <a:schemeClr val="tx1"/>
                            </a:solidFill>
                            <a:latin typeface="Cambria Math" panose="02040503050406030204" pitchFamily="18" charset="0"/>
                          </a:rPr>
                        </m:ctrlPr>
                      </m:dPr>
                      <m:e>
                        <m:sSub>
                          <m:sSubPr>
                            <m:ctrlPr>
                              <a:rPr lang="ar-AE" sz="1600" i="1">
                                <a:solidFill>
                                  <a:schemeClr val="tx1"/>
                                </a:solidFill>
                                <a:latin typeface="Cambria Math" panose="02040503050406030204" pitchFamily="18" charset="0"/>
                              </a:rPr>
                            </m:ctrlPr>
                          </m:sSubPr>
                          <m:e>
                            <m:r>
                              <m:rPr>
                                <m:nor/>
                              </m:rPr>
                              <a:rPr lang="en-IN" sz="1600" i="1">
                                <a:solidFill>
                                  <a:schemeClr val="tx1"/>
                                </a:solidFill>
                              </a:rPr>
                              <m:t>word</m:t>
                            </m:r>
                          </m:e>
                          <m:sub>
                            <m:r>
                              <a:rPr lang="ar-AE" sz="1600" i="1">
                                <a:solidFill>
                                  <a:schemeClr val="tx1"/>
                                </a:solidFill>
                                <a:latin typeface="Cambria Math" panose="02040503050406030204" pitchFamily="18" charset="0"/>
                              </a:rPr>
                              <m:t>𝑖</m:t>
                            </m:r>
                          </m:sub>
                        </m:sSub>
                        <m:r>
                          <a:rPr lang="ar-AE" sz="1600">
                            <a:solidFill>
                              <a:schemeClr val="tx1"/>
                            </a:solidFill>
                            <a:latin typeface="Cambria Math" panose="02040503050406030204" pitchFamily="18" charset="0"/>
                          </a:rPr>
                          <m:t>∣</m:t>
                        </m:r>
                        <m:sSub>
                          <m:sSubPr>
                            <m:ctrlPr>
                              <a:rPr lang="ar-AE" sz="1600" i="1">
                                <a:solidFill>
                                  <a:schemeClr val="tx1"/>
                                </a:solidFill>
                                <a:latin typeface="Cambria Math" panose="02040503050406030204" pitchFamily="18" charset="0"/>
                              </a:rPr>
                            </m:ctrlPr>
                          </m:sSubPr>
                          <m:e>
                            <m:r>
                              <m:rPr>
                                <m:nor/>
                              </m:rPr>
                              <a:rPr lang="en-IN" sz="1600" i="1">
                                <a:solidFill>
                                  <a:schemeClr val="tx1"/>
                                </a:solidFill>
                              </a:rPr>
                              <m:t>tag</m:t>
                            </m:r>
                          </m:e>
                          <m:sub>
                            <m:r>
                              <a:rPr lang="ar-AE" sz="1600" i="1">
                                <a:solidFill>
                                  <a:schemeClr val="tx1"/>
                                </a:solidFill>
                                <a:latin typeface="Cambria Math" panose="02040503050406030204" pitchFamily="18" charset="0"/>
                              </a:rPr>
                              <m:t>𝑖</m:t>
                            </m:r>
                          </m:sub>
                        </m:sSub>
                      </m:e>
                    </m:d>
                  </m:oMath>
                </a14:m>
                <a:r>
                  <a:rPr lang="ar-AE" sz="1600" dirty="0">
                    <a:solidFill>
                      <a:schemeClr val="tx1"/>
                    </a:solidFill>
                  </a:rPr>
                  <a:t>.</a:t>
                </a:r>
              </a:p>
              <a:p>
                <a:pPr lvl="1"/>
                <a:r>
                  <a:rPr lang="en-IN" sz="1600" dirty="0">
                    <a:solidFill>
                      <a:schemeClr val="tx1"/>
                    </a:solidFill>
                  </a:rPr>
                  <a:t>Full generative sequence model.</a:t>
                </a:r>
              </a:p>
              <a:p>
                <a:pPr lvl="1"/>
                <a:r>
                  <a:rPr lang="en-IN" sz="1600" dirty="0">
                    <a:solidFill>
                      <a:schemeClr val="tx1"/>
                    </a:solidFill>
                  </a:rPr>
                  <a:t>Powerful but highly sensitive to sparse transitions and emissions.</a:t>
                </a:r>
              </a:p>
            </p:txBody>
          </p:sp>
        </mc:Choice>
        <mc:Fallback>
          <p:sp>
            <p:nvSpPr>
              <p:cNvPr id="4" name="Content Placeholder 3">
                <a:extLst>
                  <a:ext uri="{FF2B5EF4-FFF2-40B4-BE49-F238E27FC236}">
                    <a16:creationId xmlns:a16="http://schemas.microsoft.com/office/drawing/2014/main" id="{6CDC21C2-432B-80F3-4D9E-E07E4D363224}"/>
                  </a:ext>
                </a:extLst>
              </p:cNvPr>
              <p:cNvSpPr>
                <a:spLocks noGrp="1" noRot="1" noChangeAspect="1" noMove="1" noResize="1" noEditPoints="1" noAdjustHandles="1" noChangeArrowheads="1" noChangeShapeType="1" noTextEdit="1"/>
              </p:cNvSpPr>
              <p:nvPr>
                <p:ph sz="half" idx="2"/>
              </p:nvPr>
            </p:nvSpPr>
            <p:spPr>
              <a:xfrm>
                <a:off x="5743575" y="1825625"/>
                <a:ext cx="6038849" cy="4351338"/>
              </a:xfrm>
              <a:blipFill>
                <a:blip r:embed="rId4"/>
                <a:stretch>
                  <a:fillRect l="-404" t="-980"/>
                </a:stretch>
              </a:blipFill>
            </p:spPr>
            <p:txBody>
              <a:bodyPr/>
              <a:lstStyle/>
              <a:p>
                <a:r>
                  <a:rPr lang="en-IN">
                    <a:noFill/>
                  </a:rPr>
                  <a:t> </a:t>
                </a:r>
              </a:p>
            </p:txBody>
          </p:sp>
        </mc:Fallback>
      </mc:AlternateContent>
      <p:sp>
        <p:nvSpPr>
          <p:cNvPr id="7" name="Slide Number Placeholder 6">
            <a:extLst>
              <a:ext uri="{FF2B5EF4-FFF2-40B4-BE49-F238E27FC236}">
                <a16:creationId xmlns:a16="http://schemas.microsoft.com/office/drawing/2014/main" id="{C054E7ED-AB5D-99BE-86E8-20C11D66A3A6}"/>
              </a:ext>
            </a:extLst>
          </p:cNvPr>
          <p:cNvSpPr>
            <a:spLocks noGrp="1"/>
          </p:cNvSpPr>
          <p:nvPr>
            <p:ph type="sldNum" sz="quarter" idx="12"/>
          </p:nvPr>
        </p:nvSpPr>
        <p:spPr/>
        <p:txBody>
          <a:bodyPr/>
          <a:lstStyle/>
          <a:p>
            <a:fld id="{D9AB36C4-4A00-4490-8C6E-D4776DE94668}" type="slidenum">
              <a:rPr lang="en-IN" smtClean="0"/>
              <a:t>23</a:t>
            </a:fld>
            <a:endParaRPr lang="en-IN"/>
          </a:p>
        </p:txBody>
      </p:sp>
    </p:spTree>
    <p:extLst>
      <p:ext uri="{BB962C8B-B14F-4D97-AF65-F5344CB8AC3E}">
        <p14:creationId xmlns:p14="http://schemas.microsoft.com/office/powerpoint/2010/main" val="39909315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4D382-7F77-106B-001D-1AE467613D95}"/>
              </a:ext>
            </a:extLst>
          </p:cNvPr>
          <p:cNvSpPr>
            <a:spLocks noGrp="1"/>
          </p:cNvSpPr>
          <p:nvPr>
            <p:ph type="title"/>
          </p:nvPr>
        </p:nvSpPr>
        <p:spPr/>
        <p:txBody>
          <a:bodyPr/>
          <a:lstStyle/>
          <a:p>
            <a:r>
              <a:rPr lang="en-IN" dirty="0"/>
              <a:t>Why Unigram avoids the sparsity problem that hurts Bigram when using Brown</a:t>
            </a:r>
          </a:p>
        </p:txBody>
      </p:sp>
      <p:sp>
        <p:nvSpPr>
          <p:cNvPr id="3" name="Content Placeholder 2">
            <a:extLst>
              <a:ext uri="{FF2B5EF4-FFF2-40B4-BE49-F238E27FC236}">
                <a16:creationId xmlns:a16="http://schemas.microsoft.com/office/drawing/2014/main" id="{7535855D-8882-7489-573C-10720DD18109}"/>
              </a:ext>
            </a:extLst>
          </p:cNvPr>
          <p:cNvSpPr>
            <a:spLocks noGrp="1"/>
          </p:cNvSpPr>
          <p:nvPr>
            <p:ph sz="half" idx="1"/>
          </p:nvPr>
        </p:nvSpPr>
        <p:spPr>
          <a:xfrm>
            <a:off x="762000" y="2073275"/>
            <a:ext cx="5181600" cy="4351338"/>
          </a:xfrm>
        </p:spPr>
        <p:txBody>
          <a:bodyPr>
            <a:normAutofit fontScale="70000" lnSpcReduction="20000"/>
          </a:bodyPr>
          <a:lstStyle/>
          <a:p>
            <a:r>
              <a:rPr lang="en-IN" dirty="0"/>
              <a:t>Unigram – robust to sparsity</a:t>
            </a:r>
          </a:p>
          <a:p>
            <a:r>
              <a:rPr lang="en-IN" dirty="0" err="1"/>
              <a:t>Eg.</a:t>
            </a:r>
            <a:r>
              <a:rPr lang="en-IN" dirty="0"/>
              <a:t> – how to tag </a:t>
            </a:r>
            <a:r>
              <a:rPr lang="en-IN" b="1" u="sng" dirty="0"/>
              <a:t>‘dog’</a:t>
            </a:r>
            <a:r>
              <a:rPr lang="en-IN" dirty="0"/>
              <a:t>?</a:t>
            </a:r>
          </a:p>
          <a:p>
            <a:r>
              <a:rPr lang="en-IN" dirty="0"/>
              <a:t>=Look how many times ‘dog’ was tagged as NOUN in training? </a:t>
            </a:r>
          </a:p>
          <a:p>
            <a:r>
              <a:rPr lang="en-IN" dirty="0"/>
              <a:t>Eg – Training </a:t>
            </a:r>
            <a:r>
              <a:rPr lang="en-IN" dirty="0" err="1"/>
              <a:t>obs</a:t>
            </a:r>
            <a:r>
              <a:rPr lang="en-IN" dirty="0"/>
              <a:t> for ‘dog’ – </a:t>
            </a:r>
          </a:p>
          <a:p>
            <a:pPr lvl="1"/>
            <a:r>
              <a:rPr lang="en-IN" dirty="0"/>
              <a:t>NOUN = 450</a:t>
            </a:r>
          </a:p>
          <a:p>
            <a:pPr lvl="1"/>
            <a:r>
              <a:rPr lang="en-IN" dirty="0"/>
              <a:t>VERB = 2</a:t>
            </a:r>
          </a:p>
          <a:p>
            <a:pPr lvl="1"/>
            <a:r>
              <a:rPr lang="en-IN" dirty="0"/>
              <a:t>Total = 452</a:t>
            </a:r>
          </a:p>
          <a:p>
            <a:r>
              <a:rPr lang="en-IN" dirty="0">
                <a:solidFill>
                  <a:srgbClr val="00B050"/>
                </a:solidFill>
              </a:rPr>
              <a:t>P(NOUN) = 450/452 = 99.6%</a:t>
            </a:r>
          </a:p>
          <a:p>
            <a:r>
              <a:rPr lang="en-IN" b="1" u="sng" dirty="0"/>
              <a:t>This works even if (DET | ‘dog’) are never seen together</a:t>
            </a:r>
          </a:p>
          <a:p>
            <a:endParaRPr lang="en-IN" dirty="0"/>
          </a:p>
        </p:txBody>
      </p:sp>
      <p:sp>
        <p:nvSpPr>
          <p:cNvPr id="4" name="Content Placeholder 3">
            <a:extLst>
              <a:ext uri="{FF2B5EF4-FFF2-40B4-BE49-F238E27FC236}">
                <a16:creationId xmlns:a16="http://schemas.microsoft.com/office/drawing/2014/main" id="{05D7FE15-9C8E-FD15-8B57-2DC2DA4DD99B}"/>
              </a:ext>
            </a:extLst>
          </p:cNvPr>
          <p:cNvSpPr>
            <a:spLocks noGrp="1"/>
          </p:cNvSpPr>
          <p:nvPr>
            <p:ph sz="half" idx="2"/>
          </p:nvPr>
        </p:nvSpPr>
        <p:spPr>
          <a:xfrm>
            <a:off x="6172200" y="2073275"/>
            <a:ext cx="5181600" cy="4146550"/>
          </a:xfrm>
        </p:spPr>
        <p:txBody>
          <a:bodyPr>
            <a:normAutofit fontScale="70000" lnSpcReduction="20000"/>
          </a:bodyPr>
          <a:lstStyle/>
          <a:p>
            <a:r>
              <a:rPr lang="en-IN" dirty="0"/>
              <a:t>HMM (MLE) fails to escape sparsity</a:t>
            </a:r>
          </a:p>
          <a:p>
            <a:r>
              <a:rPr lang="en-IN" dirty="0" err="1"/>
              <a:t>Eg.</a:t>
            </a:r>
            <a:r>
              <a:rPr lang="en-IN" dirty="0"/>
              <a:t> – how to tag </a:t>
            </a:r>
            <a:r>
              <a:rPr lang="en-IN" b="1" u="sng" dirty="0"/>
              <a:t>‘dog’ after ‘the’</a:t>
            </a:r>
          </a:p>
          <a:p>
            <a:r>
              <a:rPr lang="en-IN" dirty="0"/>
              <a:t>= Look for (DET → NOUN| ‘dog’) in training</a:t>
            </a:r>
          </a:p>
          <a:p>
            <a:r>
              <a:rPr lang="en-IN" dirty="0"/>
              <a:t>Case 1: Common word pair</a:t>
            </a:r>
          </a:p>
          <a:p>
            <a:pPr lvl="1"/>
            <a:r>
              <a:rPr lang="en-IN" dirty="0" err="1"/>
              <a:t>Eg.</a:t>
            </a:r>
            <a:r>
              <a:rPr lang="en-IN" dirty="0"/>
              <a:t> (DET | NOUN, ‘dog’) 45 times</a:t>
            </a:r>
          </a:p>
          <a:p>
            <a:pPr lvl="1"/>
            <a:r>
              <a:rPr lang="en-IN" dirty="0">
                <a:solidFill>
                  <a:srgbClr val="00B050"/>
                </a:solidFill>
              </a:rPr>
              <a:t>P(NOUN | DET) x P(‘</a:t>
            </a:r>
            <a:r>
              <a:rPr lang="en-IN" dirty="0" err="1">
                <a:solidFill>
                  <a:srgbClr val="00B050"/>
                </a:solidFill>
              </a:rPr>
              <a:t>dog’|NOUN</a:t>
            </a:r>
            <a:r>
              <a:rPr lang="en-IN" dirty="0">
                <a:solidFill>
                  <a:srgbClr val="00B050"/>
                </a:solidFill>
              </a:rPr>
              <a:t>) = high</a:t>
            </a:r>
          </a:p>
          <a:p>
            <a:r>
              <a:rPr lang="en-IN" dirty="0"/>
              <a:t>Case 2: Rare word pair</a:t>
            </a:r>
          </a:p>
          <a:p>
            <a:pPr lvl="1"/>
            <a:r>
              <a:rPr lang="en-IN" dirty="0" err="1"/>
              <a:t>Eg.</a:t>
            </a:r>
            <a:r>
              <a:rPr lang="en-IN" dirty="0"/>
              <a:t> (DET | NOUN, ‘zephyr’) = 0 times/unseen</a:t>
            </a:r>
          </a:p>
          <a:p>
            <a:pPr lvl="1"/>
            <a:r>
              <a:rPr lang="en-IN" dirty="0">
                <a:solidFill>
                  <a:srgbClr val="FF0000"/>
                </a:solidFill>
              </a:rPr>
              <a:t>P(NOUN | DET) x P(‘zephyr’ | NOUN) = 0</a:t>
            </a:r>
          </a:p>
          <a:p>
            <a:r>
              <a:rPr lang="en-IN" b="1" u="sng" dirty="0"/>
              <a:t>Entire sentence probability collapses to 0</a:t>
            </a:r>
          </a:p>
          <a:p>
            <a:r>
              <a:rPr lang="en-US" dirty="0"/>
              <a:t>HMM multiplies many sparse probabilities → path scores collapse → Viterbi picks 'least bad' sequence </a:t>
            </a:r>
            <a:r>
              <a:rPr lang="en-US" b="1" dirty="0">
                <a:solidFill>
                  <a:srgbClr val="FF0000"/>
                </a:solidFill>
              </a:rPr>
              <a:t>(No Backoff)</a:t>
            </a:r>
            <a:endParaRPr lang="en-IN" b="1" u="sng" dirty="0">
              <a:solidFill>
                <a:srgbClr val="FF0000"/>
              </a:solidFill>
            </a:endParaRPr>
          </a:p>
        </p:txBody>
      </p:sp>
      <p:sp>
        <p:nvSpPr>
          <p:cNvPr id="5" name="Slide Number Placeholder 4">
            <a:extLst>
              <a:ext uri="{FF2B5EF4-FFF2-40B4-BE49-F238E27FC236}">
                <a16:creationId xmlns:a16="http://schemas.microsoft.com/office/drawing/2014/main" id="{75458438-CBC5-2B25-CC84-09707155545A}"/>
              </a:ext>
            </a:extLst>
          </p:cNvPr>
          <p:cNvSpPr>
            <a:spLocks noGrp="1"/>
          </p:cNvSpPr>
          <p:nvPr>
            <p:ph type="sldNum" sz="quarter" idx="12"/>
          </p:nvPr>
        </p:nvSpPr>
        <p:spPr/>
        <p:txBody>
          <a:bodyPr/>
          <a:lstStyle/>
          <a:p>
            <a:fld id="{D9AB36C4-4A00-4490-8C6E-D4776DE94668}" type="slidenum">
              <a:rPr lang="en-IN" smtClean="0"/>
              <a:t>24</a:t>
            </a:fld>
            <a:endParaRPr lang="en-IN"/>
          </a:p>
        </p:txBody>
      </p:sp>
    </p:spTree>
    <p:extLst>
      <p:ext uri="{BB962C8B-B14F-4D97-AF65-F5344CB8AC3E}">
        <p14:creationId xmlns:p14="http://schemas.microsoft.com/office/powerpoint/2010/main" val="25184446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ED565-7DA7-DC54-24B3-03CD94BB5F51}"/>
              </a:ext>
            </a:extLst>
          </p:cNvPr>
          <p:cNvSpPr>
            <a:spLocks noGrp="1"/>
          </p:cNvSpPr>
          <p:nvPr>
            <p:ph type="title"/>
          </p:nvPr>
        </p:nvSpPr>
        <p:spPr/>
        <p:txBody>
          <a:bodyPr/>
          <a:lstStyle/>
          <a:p>
            <a:r>
              <a:rPr lang="en-IN" dirty="0"/>
              <a:t>Viterbi with Laplace</a:t>
            </a:r>
          </a:p>
        </p:txBody>
      </p:sp>
      <p:sp>
        <p:nvSpPr>
          <p:cNvPr id="7" name="Content Placeholder 3">
            <a:extLst>
              <a:ext uri="{FF2B5EF4-FFF2-40B4-BE49-F238E27FC236}">
                <a16:creationId xmlns:a16="http://schemas.microsoft.com/office/drawing/2014/main" id="{369B9F63-5712-734B-DE48-38E407A8F57D}"/>
              </a:ext>
            </a:extLst>
          </p:cNvPr>
          <p:cNvSpPr>
            <a:spLocks noGrp="1"/>
          </p:cNvSpPr>
          <p:nvPr>
            <p:ph sz="half" idx="2"/>
          </p:nvPr>
        </p:nvSpPr>
        <p:spPr>
          <a:xfrm>
            <a:off x="6172200" y="1825625"/>
            <a:ext cx="5181600" cy="4351338"/>
          </a:xfrm>
        </p:spPr>
        <p:txBody>
          <a:bodyPr>
            <a:normAutofit fontScale="92500" lnSpcReduction="10000"/>
          </a:bodyPr>
          <a:lstStyle/>
          <a:p>
            <a:r>
              <a:rPr lang="en-US" sz="2000" dirty="0"/>
              <a:t>What Viterbi is doing:</a:t>
            </a:r>
          </a:p>
          <a:p>
            <a:pPr lvl="1"/>
            <a:r>
              <a:rPr lang="en-US" sz="1600" dirty="0"/>
              <a:t>Dynamic programming algorithm that finds the single most probable tag sequence for the entire sentence under the HMM.</a:t>
            </a:r>
          </a:p>
          <a:p>
            <a:pPr lvl="1"/>
            <a:r>
              <a:rPr lang="en-US" sz="1600" dirty="0"/>
              <a:t>Uses Laplace-smoothed P(word | tag) and P(tag | </a:t>
            </a:r>
            <a:r>
              <a:rPr lang="en-US" sz="1600" dirty="0" err="1"/>
              <a:t>prev_tag</a:t>
            </a:r>
            <a:r>
              <a:rPr lang="en-US" sz="1600" dirty="0"/>
              <a:t>) at each step.</a:t>
            </a:r>
          </a:p>
          <a:p>
            <a:r>
              <a:rPr lang="en-US" sz="2000" dirty="0"/>
              <a:t>Three Phases:</a:t>
            </a:r>
          </a:p>
          <a:p>
            <a:pPr marL="914400" lvl="1" indent="-457200">
              <a:buFont typeface="+mj-lt"/>
              <a:buAutoNum type="arabicPeriod"/>
            </a:pPr>
            <a:r>
              <a:rPr lang="en-US" sz="1600" b="1" u="sng" dirty="0"/>
              <a:t>Initialization</a:t>
            </a:r>
            <a:r>
              <a:rPr lang="en-US" sz="1600" dirty="0"/>
              <a:t>: For position 0, compute score(tag) = P(word</a:t>
            </a:r>
            <a:r>
              <a:rPr lang="en-US" sz="1600" baseline="-25000" dirty="0"/>
              <a:t>0</a:t>
            </a:r>
            <a:r>
              <a:rPr lang="en-US" sz="1600" dirty="0"/>
              <a:t> | tag) × P(tag | START) for all tags; store best scores and set </a:t>
            </a:r>
            <a:r>
              <a:rPr lang="en-US" sz="1600" dirty="0" err="1"/>
              <a:t>backpointers</a:t>
            </a:r>
            <a:r>
              <a:rPr lang="en-US" sz="1600" dirty="0"/>
              <a:t> to None.</a:t>
            </a:r>
          </a:p>
          <a:p>
            <a:pPr marL="914400" lvl="1" indent="-457200">
              <a:buFont typeface="+mj-lt"/>
              <a:buAutoNum type="arabicPeriod"/>
            </a:pPr>
            <a:r>
              <a:rPr lang="en-US" sz="1600" b="1" u="sng" dirty="0"/>
              <a:t>Recursion</a:t>
            </a:r>
            <a:r>
              <a:rPr lang="en-US" sz="1600" dirty="0"/>
              <a:t>: For each later position and each candidate tag, pick the previous tag that maximizes </a:t>
            </a:r>
            <a:r>
              <a:rPr lang="en-US" sz="1600" dirty="0" err="1"/>
              <a:t>previous_score</a:t>
            </a:r>
            <a:r>
              <a:rPr lang="en-US" sz="1600" dirty="0"/>
              <a:t> × P(tag | </a:t>
            </a:r>
            <a:r>
              <a:rPr lang="en-US" sz="1600" dirty="0" err="1"/>
              <a:t>prev_tag</a:t>
            </a:r>
            <a:r>
              <a:rPr lang="en-US" sz="1600" dirty="0"/>
              <a:t>) × P(word | tag); store this best score and </a:t>
            </a:r>
            <a:r>
              <a:rPr lang="en-US" sz="1600" dirty="0" err="1"/>
              <a:t>backpointer</a:t>
            </a:r>
            <a:r>
              <a:rPr lang="en-US" sz="1600" dirty="0"/>
              <a:t>.</a:t>
            </a:r>
          </a:p>
          <a:p>
            <a:pPr marL="914400" lvl="1" indent="-457200">
              <a:buFont typeface="+mj-lt"/>
              <a:buAutoNum type="arabicPeriod"/>
            </a:pPr>
            <a:r>
              <a:rPr lang="en-US" sz="1600" b="1" u="sng" dirty="0"/>
              <a:t>Backtracking</a:t>
            </a:r>
            <a:r>
              <a:rPr lang="en-US" sz="1600" dirty="0"/>
              <a:t>: At the final position, choose the tag with highest score and follow </a:t>
            </a:r>
            <a:r>
              <a:rPr lang="en-US" sz="1600" dirty="0" err="1"/>
              <a:t>backpointers</a:t>
            </a:r>
            <a:r>
              <a:rPr lang="en-US" sz="1600" dirty="0"/>
              <a:t> to recover the full best path; output tagged sentence (e.g., “</a:t>
            </a:r>
            <a:r>
              <a:rPr lang="en-US" sz="1600" dirty="0" err="1"/>
              <a:t>TheDET</a:t>
            </a:r>
            <a:r>
              <a:rPr lang="en-US" sz="1600" dirty="0"/>
              <a:t> old ADJ man NOUN the DET boat NOUN”).​</a:t>
            </a:r>
          </a:p>
        </p:txBody>
      </p:sp>
      <p:pic>
        <p:nvPicPr>
          <p:cNvPr id="6146" name="Picture 2">
            <a:extLst>
              <a:ext uri="{FF2B5EF4-FFF2-40B4-BE49-F238E27FC236}">
                <a16:creationId xmlns:a16="http://schemas.microsoft.com/office/drawing/2014/main" id="{89E647F8-462A-7C51-DEDE-0C6FF445FB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944" y="1690688"/>
            <a:ext cx="3942462" cy="4587875"/>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B681A80C-874C-DA11-BACD-378C9AB6E0D1}"/>
              </a:ext>
            </a:extLst>
          </p:cNvPr>
          <p:cNvSpPr>
            <a:spLocks noGrp="1"/>
          </p:cNvSpPr>
          <p:nvPr>
            <p:ph type="sldNum" sz="quarter" idx="12"/>
          </p:nvPr>
        </p:nvSpPr>
        <p:spPr/>
        <p:txBody>
          <a:bodyPr/>
          <a:lstStyle/>
          <a:p>
            <a:fld id="{D9AB36C4-4A00-4490-8C6E-D4776DE94668}" type="slidenum">
              <a:rPr lang="en-IN" smtClean="0"/>
              <a:t>25</a:t>
            </a:fld>
            <a:endParaRPr lang="en-IN"/>
          </a:p>
        </p:txBody>
      </p:sp>
    </p:spTree>
    <p:extLst>
      <p:ext uri="{BB962C8B-B14F-4D97-AF65-F5344CB8AC3E}">
        <p14:creationId xmlns:p14="http://schemas.microsoft.com/office/powerpoint/2010/main" val="7762487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71ACB-D8A4-7F4C-476C-F5230C897765}"/>
              </a:ext>
            </a:extLst>
          </p:cNvPr>
          <p:cNvSpPr>
            <a:spLocks noGrp="1"/>
          </p:cNvSpPr>
          <p:nvPr>
            <p:ph type="title"/>
          </p:nvPr>
        </p:nvSpPr>
        <p:spPr>
          <a:xfrm>
            <a:off x="0" y="10971"/>
            <a:ext cx="10515600" cy="1325563"/>
          </a:xfrm>
        </p:spPr>
        <p:txBody>
          <a:bodyPr/>
          <a:lstStyle/>
          <a:p>
            <a:r>
              <a:rPr lang="en-IN" dirty="0"/>
              <a:t>Viterbi Initialization</a:t>
            </a:r>
          </a:p>
        </p:txBody>
      </p:sp>
      <p:sp>
        <p:nvSpPr>
          <p:cNvPr id="11" name="TextBox 10">
            <a:extLst>
              <a:ext uri="{FF2B5EF4-FFF2-40B4-BE49-F238E27FC236}">
                <a16:creationId xmlns:a16="http://schemas.microsoft.com/office/drawing/2014/main" id="{A21ACFE7-D6C3-4CB7-9040-B344981586E6}"/>
              </a:ext>
            </a:extLst>
          </p:cNvPr>
          <p:cNvSpPr txBox="1"/>
          <p:nvPr/>
        </p:nvSpPr>
        <p:spPr>
          <a:xfrm>
            <a:off x="6443036" y="3047206"/>
            <a:ext cx="5301289" cy="3416320"/>
          </a:xfrm>
          <a:prstGeom prst="rect">
            <a:avLst/>
          </a:prstGeom>
          <a:noFill/>
        </p:spPr>
        <p:txBody>
          <a:bodyPr wrap="square">
            <a:spAutoFit/>
          </a:bodyPr>
          <a:lstStyle/>
          <a:p>
            <a:pPr marL="342900" indent="-342900">
              <a:buFont typeface="+mj-lt"/>
              <a:buAutoNum type="arabicPeriod"/>
            </a:pPr>
            <a:r>
              <a:rPr lang="en-US" dirty="0"/>
              <a:t>Take the first word of the sentence and try every possible tag for it (NOUN, VERB, DET, etc.).</a:t>
            </a:r>
          </a:p>
          <a:p>
            <a:pPr marL="342900" indent="-342900">
              <a:buFont typeface="+mj-lt"/>
              <a:buAutoNum type="arabicPeriod"/>
            </a:pPr>
            <a:r>
              <a:rPr lang="en-US" dirty="0"/>
              <a:t>For each tag, compute how likely that tag is at the start of a sentence and how likely it is to generate this first word, then multiply those two numbers.</a:t>
            </a:r>
          </a:p>
          <a:p>
            <a:pPr marL="342900" indent="-342900">
              <a:buFont typeface="+mj-lt"/>
              <a:buAutoNum type="arabicPeriod"/>
            </a:pPr>
            <a:r>
              <a:rPr lang="en-US" dirty="0"/>
              <a:t>Store this product as the “score” for position 0 with that tag, and remember that there is no previous tag yet (</a:t>
            </a:r>
            <a:r>
              <a:rPr lang="en-US" dirty="0" err="1"/>
              <a:t>backpointer</a:t>
            </a:r>
            <a:r>
              <a:rPr lang="en-US" dirty="0"/>
              <a:t> is None).</a:t>
            </a:r>
          </a:p>
          <a:p>
            <a:pPr marL="342900" indent="-342900">
              <a:buFont typeface="+mj-lt"/>
              <a:buAutoNum type="arabicPeriod"/>
            </a:pPr>
            <a:r>
              <a:rPr lang="en-US" dirty="0"/>
              <a:t>At the end of this step, the model has a full first column of the DP table: one score per tag for word 0.</a:t>
            </a:r>
          </a:p>
        </p:txBody>
      </p:sp>
      <p:pic>
        <p:nvPicPr>
          <p:cNvPr id="15" name="Picture 14" descr="A screenshot of a computer&#10;&#10;AI-generated content may be incorrect.">
            <a:extLst>
              <a:ext uri="{FF2B5EF4-FFF2-40B4-BE49-F238E27FC236}">
                <a16:creationId xmlns:a16="http://schemas.microsoft.com/office/drawing/2014/main" id="{9D73E117-A261-D6CA-8BE4-A839348B9081}"/>
              </a:ext>
            </a:extLst>
          </p:cNvPr>
          <p:cNvPicPr>
            <a:picLocks noChangeAspect="1"/>
          </p:cNvPicPr>
          <p:nvPr/>
        </p:nvPicPr>
        <p:blipFill>
          <a:blip r:embed="rId3"/>
          <a:stretch>
            <a:fillRect/>
          </a:stretch>
        </p:blipFill>
        <p:spPr>
          <a:xfrm>
            <a:off x="6698131" y="768170"/>
            <a:ext cx="4491664" cy="2077282"/>
          </a:xfrm>
          <a:prstGeom prst="rect">
            <a:avLst/>
          </a:prstGeom>
        </p:spPr>
      </p:pic>
      <p:pic>
        <p:nvPicPr>
          <p:cNvPr id="17" name="Picture 16" descr="A computer screen shot of a program&#10;&#10;AI-generated content may be incorrect.">
            <a:extLst>
              <a:ext uri="{FF2B5EF4-FFF2-40B4-BE49-F238E27FC236}">
                <a16:creationId xmlns:a16="http://schemas.microsoft.com/office/drawing/2014/main" id="{048C1BA2-8593-C660-1414-AAD2CF392AEB}"/>
              </a:ext>
            </a:extLst>
          </p:cNvPr>
          <p:cNvPicPr>
            <a:picLocks noChangeAspect="1"/>
          </p:cNvPicPr>
          <p:nvPr/>
        </p:nvPicPr>
        <p:blipFill>
          <a:blip r:embed="rId4"/>
          <a:srcRect b="6914"/>
          <a:stretch>
            <a:fillRect/>
          </a:stretch>
        </p:blipFill>
        <p:spPr>
          <a:xfrm>
            <a:off x="236069" y="1538288"/>
            <a:ext cx="5859931" cy="4367212"/>
          </a:xfrm>
          <a:prstGeom prst="rect">
            <a:avLst/>
          </a:prstGeom>
        </p:spPr>
      </p:pic>
      <p:sp>
        <p:nvSpPr>
          <p:cNvPr id="18" name="Slide Number Placeholder 17">
            <a:extLst>
              <a:ext uri="{FF2B5EF4-FFF2-40B4-BE49-F238E27FC236}">
                <a16:creationId xmlns:a16="http://schemas.microsoft.com/office/drawing/2014/main" id="{D73B3857-55F9-B1B2-AA7A-CC007DDB7BDD}"/>
              </a:ext>
            </a:extLst>
          </p:cNvPr>
          <p:cNvSpPr>
            <a:spLocks noGrp="1"/>
          </p:cNvSpPr>
          <p:nvPr>
            <p:ph type="sldNum" sz="quarter" idx="12"/>
          </p:nvPr>
        </p:nvSpPr>
        <p:spPr/>
        <p:txBody>
          <a:bodyPr/>
          <a:lstStyle/>
          <a:p>
            <a:fld id="{D9AB36C4-4A00-4490-8C6E-D4776DE94668}" type="slidenum">
              <a:rPr lang="en-IN" smtClean="0"/>
              <a:t>26</a:t>
            </a:fld>
            <a:endParaRPr lang="en-IN"/>
          </a:p>
        </p:txBody>
      </p:sp>
    </p:spTree>
    <p:extLst>
      <p:ext uri="{BB962C8B-B14F-4D97-AF65-F5344CB8AC3E}">
        <p14:creationId xmlns:p14="http://schemas.microsoft.com/office/powerpoint/2010/main" val="37091471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E45C4-C9D7-6C4C-DFA2-7BBE22CE6595}"/>
              </a:ext>
            </a:extLst>
          </p:cNvPr>
          <p:cNvSpPr>
            <a:spLocks noGrp="1"/>
          </p:cNvSpPr>
          <p:nvPr>
            <p:ph type="title"/>
          </p:nvPr>
        </p:nvSpPr>
        <p:spPr>
          <a:xfrm>
            <a:off x="0" y="18255"/>
            <a:ext cx="10515600" cy="1325563"/>
          </a:xfrm>
        </p:spPr>
        <p:txBody>
          <a:bodyPr/>
          <a:lstStyle/>
          <a:p>
            <a:r>
              <a:rPr lang="en-IN" dirty="0"/>
              <a:t>Viterbi Recursion</a:t>
            </a:r>
          </a:p>
        </p:txBody>
      </p:sp>
      <p:sp>
        <p:nvSpPr>
          <p:cNvPr id="4" name="Content Placeholder 3">
            <a:extLst>
              <a:ext uri="{FF2B5EF4-FFF2-40B4-BE49-F238E27FC236}">
                <a16:creationId xmlns:a16="http://schemas.microsoft.com/office/drawing/2014/main" id="{9AE0F9C4-0AAF-51CD-9B60-8E035450F427}"/>
              </a:ext>
            </a:extLst>
          </p:cNvPr>
          <p:cNvSpPr>
            <a:spLocks noGrp="1"/>
          </p:cNvSpPr>
          <p:nvPr>
            <p:ph sz="half" idx="2"/>
          </p:nvPr>
        </p:nvSpPr>
        <p:spPr>
          <a:xfrm>
            <a:off x="6505574" y="3990975"/>
            <a:ext cx="5400675" cy="2643187"/>
          </a:xfrm>
        </p:spPr>
        <p:txBody>
          <a:bodyPr>
            <a:normAutofit fontScale="55000" lnSpcReduction="20000"/>
          </a:bodyPr>
          <a:lstStyle/>
          <a:p>
            <a:pPr marL="514350" indent="-514350">
              <a:buFont typeface="+mj-lt"/>
              <a:buAutoNum type="arabicPeriod"/>
            </a:pPr>
            <a:r>
              <a:rPr lang="en-US" dirty="0"/>
              <a:t>Move from left to right through the rest of the sentence, one word at a time.</a:t>
            </a:r>
          </a:p>
          <a:p>
            <a:pPr marL="514350" indent="-514350">
              <a:buFont typeface="+mj-lt"/>
              <a:buAutoNum type="arabicPeriod"/>
            </a:pPr>
            <a:r>
              <a:rPr lang="en-US" dirty="0"/>
              <a:t>For each word position and each possible current tag, look back over all tags at the previous position and combine: previous best score × transition probability × emission probability.</a:t>
            </a:r>
          </a:p>
          <a:p>
            <a:pPr marL="514350" indent="-514350">
              <a:buFont typeface="+mj-lt"/>
              <a:buAutoNum type="arabicPeriod"/>
            </a:pPr>
            <a:r>
              <a:rPr lang="en-US" dirty="0"/>
              <a:t>Keep only the best previous tag that gives the highest product; store that best score in the DP table and store the chosen previous tag in the </a:t>
            </a:r>
            <a:r>
              <a:rPr lang="en-US" dirty="0" err="1"/>
              <a:t>backpointer</a:t>
            </a:r>
            <a:r>
              <a:rPr lang="en-US" dirty="0"/>
              <a:t> table.</a:t>
            </a:r>
          </a:p>
          <a:p>
            <a:pPr marL="514350" indent="-514350">
              <a:buFont typeface="+mj-lt"/>
              <a:buAutoNum type="arabicPeriod"/>
            </a:pPr>
            <a:r>
              <a:rPr lang="en-US" dirty="0"/>
              <a:t>After this loop, the DP table is filled: every cell says “best score for ending here with this tag”, and every cell knows which tag it came from.</a:t>
            </a:r>
          </a:p>
        </p:txBody>
      </p:sp>
      <p:pic>
        <p:nvPicPr>
          <p:cNvPr id="9" name="Picture 8" descr="A screenshot of a computer program&#10;&#10;AI-generated content may be incorrect.">
            <a:extLst>
              <a:ext uri="{FF2B5EF4-FFF2-40B4-BE49-F238E27FC236}">
                <a16:creationId xmlns:a16="http://schemas.microsoft.com/office/drawing/2014/main" id="{7C2ECB84-E5BC-5C4D-A226-3FC47BCF1084}"/>
              </a:ext>
            </a:extLst>
          </p:cNvPr>
          <p:cNvPicPr>
            <a:picLocks noChangeAspect="1"/>
          </p:cNvPicPr>
          <p:nvPr/>
        </p:nvPicPr>
        <p:blipFill>
          <a:blip r:embed="rId3"/>
          <a:stretch>
            <a:fillRect/>
          </a:stretch>
        </p:blipFill>
        <p:spPr>
          <a:xfrm>
            <a:off x="217168" y="1343818"/>
            <a:ext cx="5564509" cy="4580732"/>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FCD919A8-0ABC-0E33-E4A6-4FCF4B99007D}"/>
              </a:ext>
            </a:extLst>
          </p:cNvPr>
          <p:cNvPicPr>
            <a:picLocks noChangeAspect="1"/>
          </p:cNvPicPr>
          <p:nvPr/>
        </p:nvPicPr>
        <p:blipFill>
          <a:blip r:embed="rId4"/>
          <a:stretch>
            <a:fillRect/>
          </a:stretch>
        </p:blipFill>
        <p:spPr>
          <a:xfrm>
            <a:off x="6754216" y="399684"/>
            <a:ext cx="4745762" cy="3381741"/>
          </a:xfrm>
          <a:prstGeom prst="rect">
            <a:avLst/>
          </a:prstGeom>
        </p:spPr>
      </p:pic>
      <p:sp>
        <p:nvSpPr>
          <p:cNvPr id="12" name="Slide Number Placeholder 11">
            <a:extLst>
              <a:ext uri="{FF2B5EF4-FFF2-40B4-BE49-F238E27FC236}">
                <a16:creationId xmlns:a16="http://schemas.microsoft.com/office/drawing/2014/main" id="{FE892E4C-E712-8315-A66E-F74F643C2EFA}"/>
              </a:ext>
            </a:extLst>
          </p:cNvPr>
          <p:cNvSpPr>
            <a:spLocks noGrp="1"/>
          </p:cNvSpPr>
          <p:nvPr>
            <p:ph type="sldNum" sz="quarter" idx="12"/>
          </p:nvPr>
        </p:nvSpPr>
        <p:spPr/>
        <p:txBody>
          <a:bodyPr/>
          <a:lstStyle/>
          <a:p>
            <a:fld id="{D9AB36C4-4A00-4490-8C6E-D4776DE94668}" type="slidenum">
              <a:rPr lang="en-IN" smtClean="0"/>
              <a:t>27</a:t>
            </a:fld>
            <a:endParaRPr lang="en-IN"/>
          </a:p>
        </p:txBody>
      </p:sp>
    </p:spTree>
    <p:extLst>
      <p:ext uri="{BB962C8B-B14F-4D97-AF65-F5344CB8AC3E}">
        <p14:creationId xmlns:p14="http://schemas.microsoft.com/office/powerpoint/2010/main" val="29896982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1F30E-A717-C24F-775F-6CC5E5606153}"/>
              </a:ext>
            </a:extLst>
          </p:cNvPr>
          <p:cNvSpPr>
            <a:spLocks noGrp="1"/>
          </p:cNvSpPr>
          <p:nvPr>
            <p:ph type="title"/>
          </p:nvPr>
        </p:nvSpPr>
        <p:spPr>
          <a:xfrm>
            <a:off x="0" y="0"/>
            <a:ext cx="10515600" cy="1325563"/>
          </a:xfrm>
        </p:spPr>
        <p:txBody>
          <a:bodyPr/>
          <a:lstStyle/>
          <a:p>
            <a:r>
              <a:rPr lang="en-IN" dirty="0"/>
              <a:t>Viterbi Backtracking</a:t>
            </a:r>
          </a:p>
        </p:txBody>
      </p:sp>
      <p:sp>
        <p:nvSpPr>
          <p:cNvPr id="4" name="Content Placeholder 3">
            <a:extLst>
              <a:ext uri="{FF2B5EF4-FFF2-40B4-BE49-F238E27FC236}">
                <a16:creationId xmlns:a16="http://schemas.microsoft.com/office/drawing/2014/main" id="{5C23F9F3-D4AD-D402-9A01-09081F879785}"/>
              </a:ext>
            </a:extLst>
          </p:cNvPr>
          <p:cNvSpPr>
            <a:spLocks noGrp="1"/>
          </p:cNvSpPr>
          <p:nvPr>
            <p:ph sz="half" idx="2"/>
          </p:nvPr>
        </p:nvSpPr>
        <p:spPr>
          <a:xfrm>
            <a:off x="6029325" y="4183344"/>
            <a:ext cx="5753100" cy="2538413"/>
          </a:xfrm>
        </p:spPr>
        <p:txBody>
          <a:bodyPr>
            <a:normAutofit fontScale="55000" lnSpcReduction="20000"/>
          </a:bodyPr>
          <a:lstStyle/>
          <a:p>
            <a:pPr marL="514350" indent="-514350">
              <a:buFont typeface="+mj-lt"/>
              <a:buAutoNum type="arabicPeriod"/>
            </a:pPr>
            <a:r>
              <a:rPr lang="en-US" dirty="0"/>
              <a:t>At the final word position, look across all tags and pick the one with the highest score; that is the best tag to end the sentence with.</a:t>
            </a:r>
          </a:p>
          <a:p>
            <a:pPr marL="514350" indent="-514350">
              <a:buFont typeface="+mj-lt"/>
              <a:buAutoNum type="arabicPeriod"/>
            </a:pPr>
            <a:r>
              <a:rPr lang="en-US" dirty="0"/>
              <a:t>Starting from this last tag, follow the </a:t>
            </a:r>
            <a:r>
              <a:rPr lang="en-US" dirty="0" err="1"/>
              <a:t>backpointers</a:t>
            </a:r>
            <a:r>
              <a:rPr lang="en-US" dirty="0"/>
              <a:t> backwards: from last position to previous, then to the one before that, collecting the chosen tags as you go.</a:t>
            </a:r>
          </a:p>
          <a:p>
            <a:pPr marL="514350" indent="-514350">
              <a:buFont typeface="+mj-lt"/>
              <a:buAutoNum type="arabicPeriod"/>
            </a:pPr>
            <a:r>
              <a:rPr lang="en-US" dirty="0"/>
              <a:t>Reverse this collected list so the tags are in the correct left‑to‑right order, and then pair each word with its recovered tag to print the final tagged sentence.</a:t>
            </a:r>
          </a:p>
          <a:p>
            <a:pPr marL="514350" indent="-514350">
              <a:buFont typeface="+mj-lt"/>
              <a:buAutoNum type="arabicPeriod"/>
            </a:pPr>
            <a:r>
              <a:rPr lang="en-US" dirty="0"/>
              <a:t>This phase does not recompute any probabilities: it just walks through the pointers created during the recursion step to reconstruct the single best path.​</a:t>
            </a:r>
          </a:p>
        </p:txBody>
      </p:sp>
      <p:pic>
        <p:nvPicPr>
          <p:cNvPr id="12" name="Picture 11" descr="A screenshot of a computer code&#10;&#10;AI-generated content may be incorrect.">
            <a:extLst>
              <a:ext uri="{FF2B5EF4-FFF2-40B4-BE49-F238E27FC236}">
                <a16:creationId xmlns:a16="http://schemas.microsoft.com/office/drawing/2014/main" id="{5069B854-4F31-4C07-AB9C-52FE0100CFE0}"/>
              </a:ext>
            </a:extLst>
          </p:cNvPr>
          <p:cNvPicPr>
            <a:picLocks noChangeAspect="1"/>
          </p:cNvPicPr>
          <p:nvPr/>
        </p:nvPicPr>
        <p:blipFill>
          <a:blip r:embed="rId3"/>
          <a:stretch>
            <a:fillRect/>
          </a:stretch>
        </p:blipFill>
        <p:spPr>
          <a:xfrm>
            <a:off x="266700" y="1236907"/>
            <a:ext cx="5090601" cy="5357324"/>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12518C5A-786A-5190-A880-0666251D9A64}"/>
              </a:ext>
            </a:extLst>
          </p:cNvPr>
          <p:cNvPicPr>
            <a:picLocks noChangeAspect="1"/>
          </p:cNvPicPr>
          <p:nvPr/>
        </p:nvPicPr>
        <p:blipFill>
          <a:blip r:embed="rId4"/>
          <a:stretch>
            <a:fillRect/>
          </a:stretch>
        </p:blipFill>
        <p:spPr>
          <a:xfrm>
            <a:off x="7258577" y="182773"/>
            <a:ext cx="3294596" cy="3786251"/>
          </a:xfrm>
          <a:prstGeom prst="rect">
            <a:avLst/>
          </a:prstGeom>
        </p:spPr>
      </p:pic>
      <p:sp>
        <p:nvSpPr>
          <p:cNvPr id="15" name="Slide Number Placeholder 14">
            <a:extLst>
              <a:ext uri="{FF2B5EF4-FFF2-40B4-BE49-F238E27FC236}">
                <a16:creationId xmlns:a16="http://schemas.microsoft.com/office/drawing/2014/main" id="{8B93435D-3A2C-8EC6-4D0E-926F686B8F18}"/>
              </a:ext>
            </a:extLst>
          </p:cNvPr>
          <p:cNvSpPr>
            <a:spLocks noGrp="1"/>
          </p:cNvSpPr>
          <p:nvPr>
            <p:ph type="sldNum" sz="quarter" idx="12"/>
          </p:nvPr>
        </p:nvSpPr>
        <p:spPr/>
        <p:txBody>
          <a:bodyPr/>
          <a:lstStyle/>
          <a:p>
            <a:fld id="{D9AB36C4-4A00-4490-8C6E-D4776DE94668}" type="slidenum">
              <a:rPr lang="en-IN" smtClean="0"/>
              <a:t>28</a:t>
            </a:fld>
            <a:endParaRPr lang="en-IN"/>
          </a:p>
        </p:txBody>
      </p:sp>
    </p:spTree>
    <p:extLst>
      <p:ext uri="{BB962C8B-B14F-4D97-AF65-F5344CB8AC3E}">
        <p14:creationId xmlns:p14="http://schemas.microsoft.com/office/powerpoint/2010/main" val="26418399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BF377-5BE4-5249-5C31-7456F823ABB5}"/>
              </a:ext>
            </a:extLst>
          </p:cNvPr>
          <p:cNvSpPr>
            <a:spLocks noGrp="1"/>
          </p:cNvSpPr>
          <p:nvPr>
            <p:ph type="title"/>
          </p:nvPr>
        </p:nvSpPr>
        <p:spPr/>
        <p:txBody>
          <a:bodyPr/>
          <a:lstStyle/>
          <a:p>
            <a:r>
              <a:rPr lang="en-IN" dirty="0" err="1"/>
              <a:t>TreebankPOS</a:t>
            </a:r>
            <a:r>
              <a:rPr lang="en-IN" dirty="0"/>
              <a:t> Tagger</a:t>
            </a:r>
          </a:p>
        </p:txBody>
      </p:sp>
      <p:pic>
        <p:nvPicPr>
          <p:cNvPr id="6" name="Content Placeholder 5" descr="A screen shot of a computer code&#10;&#10;AI-generated content may be incorrect.">
            <a:extLst>
              <a:ext uri="{FF2B5EF4-FFF2-40B4-BE49-F238E27FC236}">
                <a16:creationId xmlns:a16="http://schemas.microsoft.com/office/drawing/2014/main" id="{9E03A769-AA0F-1443-CDFD-FB5E90ACEDD7}"/>
              </a:ext>
            </a:extLst>
          </p:cNvPr>
          <p:cNvPicPr>
            <a:picLocks noGrp="1" noChangeAspect="1"/>
          </p:cNvPicPr>
          <p:nvPr>
            <p:ph sz="half" idx="1"/>
          </p:nvPr>
        </p:nvPicPr>
        <p:blipFill>
          <a:blip r:embed="rId3"/>
          <a:stretch>
            <a:fillRect/>
          </a:stretch>
        </p:blipFill>
        <p:spPr>
          <a:xfrm>
            <a:off x="845596" y="2446679"/>
            <a:ext cx="5166808" cy="3109229"/>
          </a:xfrm>
          <a:prstGeom prst="rect">
            <a:avLst/>
          </a:prstGeom>
        </p:spPr>
      </p:pic>
      <p:sp>
        <p:nvSpPr>
          <p:cNvPr id="4" name="Content Placeholder 3">
            <a:extLst>
              <a:ext uri="{FF2B5EF4-FFF2-40B4-BE49-F238E27FC236}">
                <a16:creationId xmlns:a16="http://schemas.microsoft.com/office/drawing/2014/main" id="{508AD44E-ADE1-436A-DCDF-474025865B49}"/>
              </a:ext>
            </a:extLst>
          </p:cNvPr>
          <p:cNvSpPr>
            <a:spLocks noGrp="1"/>
          </p:cNvSpPr>
          <p:nvPr>
            <p:ph sz="half" idx="2"/>
          </p:nvPr>
        </p:nvSpPr>
        <p:spPr/>
        <p:txBody>
          <a:bodyPr>
            <a:normAutofit fontScale="77500" lnSpcReduction="20000"/>
          </a:bodyPr>
          <a:lstStyle/>
          <a:p>
            <a:r>
              <a:rPr lang="en-US" dirty="0" err="1"/>
              <a:t>treebank_tag_universal</a:t>
            </a:r>
            <a:r>
              <a:rPr lang="en-US" dirty="0"/>
              <a:t>(words): Takes words, runs pre-trained Treebank tagger, converts fine-grained PTB tags to 12 universal tags so we can compare on the same scale as Brown</a:t>
            </a:r>
          </a:p>
          <a:p>
            <a:r>
              <a:rPr lang="en-US" dirty="0"/>
              <a:t>Loop through test set: For each sentence, extract the correct or “</a:t>
            </a:r>
            <a:r>
              <a:rPr lang="en-US" dirty="0">
                <a:solidFill>
                  <a:srgbClr val="FFC000"/>
                </a:solidFill>
              </a:rPr>
              <a:t>gold</a:t>
            </a:r>
            <a:r>
              <a:rPr lang="en-US" dirty="0"/>
              <a:t>” tags from Brown, get predicted tags from Treebank model</a:t>
            </a:r>
          </a:p>
          <a:p>
            <a:r>
              <a:rPr lang="en-US" dirty="0"/>
              <a:t>Compare &amp; count: Match predictions against gold tags position-by-position, sum correct matches</a:t>
            </a:r>
          </a:p>
          <a:p>
            <a:r>
              <a:rPr lang="en-US" dirty="0"/>
              <a:t>Calculate accuracy: correct / total = what fraction of test tokens the Treebank model tagged correctly</a:t>
            </a:r>
          </a:p>
          <a:p>
            <a:endParaRPr lang="en-IN" dirty="0"/>
          </a:p>
        </p:txBody>
      </p:sp>
      <p:sp>
        <p:nvSpPr>
          <p:cNvPr id="7" name="Slide Number Placeholder 6">
            <a:extLst>
              <a:ext uri="{FF2B5EF4-FFF2-40B4-BE49-F238E27FC236}">
                <a16:creationId xmlns:a16="http://schemas.microsoft.com/office/drawing/2014/main" id="{90C7E64B-8D2B-13E4-6D0D-5623A682110F}"/>
              </a:ext>
            </a:extLst>
          </p:cNvPr>
          <p:cNvSpPr>
            <a:spLocks noGrp="1"/>
          </p:cNvSpPr>
          <p:nvPr>
            <p:ph type="sldNum" sz="quarter" idx="12"/>
          </p:nvPr>
        </p:nvSpPr>
        <p:spPr/>
        <p:txBody>
          <a:bodyPr/>
          <a:lstStyle/>
          <a:p>
            <a:fld id="{D9AB36C4-4A00-4490-8C6E-D4776DE94668}" type="slidenum">
              <a:rPr lang="en-IN" smtClean="0"/>
              <a:t>29</a:t>
            </a:fld>
            <a:endParaRPr lang="en-IN"/>
          </a:p>
        </p:txBody>
      </p:sp>
    </p:spTree>
    <p:extLst>
      <p:ext uri="{BB962C8B-B14F-4D97-AF65-F5344CB8AC3E}">
        <p14:creationId xmlns:p14="http://schemas.microsoft.com/office/powerpoint/2010/main" val="21894800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CB04E-662E-8EDF-A4C4-3BCCC6205598}"/>
              </a:ext>
            </a:extLst>
          </p:cNvPr>
          <p:cNvSpPr>
            <a:spLocks noGrp="1"/>
          </p:cNvSpPr>
          <p:nvPr>
            <p:ph type="title"/>
          </p:nvPr>
        </p:nvSpPr>
        <p:spPr>
          <a:xfrm>
            <a:off x="838200" y="104391"/>
            <a:ext cx="10515600" cy="1325563"/>
          </a:xfrm>
        </p:spPr>
        <p:txBody>
          <a:bodyPr/>
          <a:lstStyle/>
          <a:p>
            <a:r>
              <a:rPr lang="en-IN" dirty="0"/>
              <a:t>Model Evaluation Comparison</a:t>
            </a:r>
          </a:p>
        </p:txBody>
      </p:sp>
      <p:graphicFrame>
        <p:nvGraphicFramePr>
          <p:cNvPr id="4" name="Content Placeholder 3">
            <a:extLst>
              <a:ext uri="{FF2B5EF4-FFF2-40B4-BE49-F238E27FC236}">
                <a16:creationId xmlns:a16="http://schemas.microsoft.com/office/drawing/2014/main" id="{1D3E6B84-BC08-A32C-539C-E28C3A803B4E}"/>
              </a:ext>
            </a:extLst>
          </p:cNvPr>
          <p:cNvGraphicFramePr>
            <a:graphicFrameLocks noGrp="1"/>
          </p:cNvGraphicFramePr>
          <p:nvPr>
            <p:ph idx="1"/>
            <p:extLst>
              <p:ext uri="{D42A27DB-BD31-4B8C-83A1-F6EECF244321}">
                <p14:modId xmlns:p14="http://schemas.microsoft.com/office/powerpoint/2010/main" val="2777604873"/>
              </p:ext>
            </p:extLst>
          </p:nvPr>
        </p:nvGraphicFramePr>
        <p:xfrm>
          <a:off x="1070820" y="4405212"/>
          <a:ext cx="4338654" cy="2199640"/>
        </p:xfrm>
        <a:graphic>
          <a:graphicData uri="http://schemas.openxmlformats.org/drawingml/2006/table">
            <a:tbl>
              <a:tblPr firstRow="1" bandRow="1">
                <a:tableStyleId>{5940675A-B579-460E-94D1-54222C63F5DA}</a:tableStyleId>
              </a:tblPr>
              <a:tblGrid>
                <a:gridCol w="1086856">
                  <a:extLst>
                    <a:ext uri="{9D8B030D-6E8A-4147-A177-3AD203B41FA5}">
                      <a16:colId xmlns:a16="http://schemas.microsoft.com/office/drawing/2014/main" val="1729399288"/>
                    </a:ext>
                  </a:extLst>
                </a:gridCol>
                <a:gridCol w="1139444">
                  <a:extLst>
                    <a:ext uri="{9D8B030D-6E8A-4147-A177-3AD203B41FA5}">
                      <a16:colId xmlns:a16="http://schemas.microsoft.com/office/drawing/2014/main" val="236497116"/>
                    </a:ext>
                  </a:extLst>
                </a:gridCol>
                <a:gridCol w="2112354">
                  <a:extLst>
                    <a:ext uri="{9D8B030D-6E8A-4147-A177-3AD203B41FA5}">
                      <a16:colId xmlns:a16="http://schemas.microsoft.com/office/drawing/2014/main" val="635311229"/>
                    </a:ext>
                  </a:extLst>
                </a:gridCol>
              </a:tblGrid>
              <a:tr h="370840">
                <a:tc>
                  <a:txBody>
                    <a:bodyPr/>
                    <a:lstStyle/>
                    <a:p>
                      <a:pPr algn="ctr" fontAlgn="t" latinLnBrk="0">
                        <a:buNone/>
                      </a:pPr>
                      <a:r>
                        <a:rPr lang="en-IN" sz="1200" b="1" dirty="0">
                          <a:effectLst/>
                        </a:rPr>
                        <a:t>Model</a:t>
                      </a:r>
                    </a:p>
                  </a:txBody>
                  <a:tcPr marL="60960" marR="60960" marT="60960" marB="60960">
                    <a:solidFill>
                      <a:schemeClr val="bg1">
                        <a:lumMod val="85000"/>
                        <a:lumOff val="15000"/>
                      </a:schemeClr>
                    </a:solidFill>
                  </a:tcPr>
                </a:tc>
                <a:tc>
                  <a:txBody>
                    <a:bodyPr/>
                    <a:lstStyle/>
                    <a:p>
                      <a:pPr algn="ctr" fontAlgn="t" latinLnBrk="0">
                        <a:buNone/>
                      </a:pPr>
                      <a:r>
                        <a:rPr lang="en-IN" sz="1200" b="1" dirty="0">
                          <a:effectLst/>
                        </a:rPr>
                        <a:t>Accuracy</a:t>
                      </a:r>
                    </a:p>
                  </a:txBody>
                  <a:tcPr marL="60960" marR="60960" marT="60960" marB="60960">
                    <a:solidFill>
                      <a:schemeClr val="bg1">
                        <a:lumMod val="85000"/>
                        <a:lumOff val="15000"/>
                      </a:schemeClr>
                    </a:solidFill>
                  </a:tcPr>
                </a:tc>
                <a:tc>
                  <a:txBody>
                    <a:bodyPr/>
                    <a:lstStyle/>
                    <a:p>
                      <a:pPr algn="ctr" fontAlgn="t" latinLnBrk="0">
                        <a:buNone/>
                      </a:pPr>
                      <a:r>
                        <a:rPr lang="en-IN" sz="1200" b="1" dirty="0">
                          <a:effectLst/>
                        </a:rPr>
                        <a:t>Why</a:t>
                      </a:r>
                    </a:p>
                  </a:txBody>
                  <a:tcPr marL="60960" marR="60960" marT="60960" marB="60960">
                    <a:solidFill>
                      <a:schemeClr val="bg1">
                        <a:lumMod val="85000"/>
                        <a:lumOff val="15000"/>
                      </a:schemeClr>
                    </a:solidFill>
                  </a:tcPr>
                </a:tc>
                <a:extLst>
                  <a:ext uri="{0D108BD9-81ED-4DB2-BD59-A6C34878D82A}">
                    <a16:rowId xmlns:a16="http://schemas.microsoft.com/office/drawing/2014/main" val="1955850680"/>
                  </a:ext>
                </a:extLst>
              </a:tr>
              <a:tr h="370840">
                <a:tc>
                  <a:txBody>
                    <a:bodyPr/>
                    <a:lstStyle/>
                    <a:p>
                      <a:pPr algn="ctr" fontAlgn="base" latinLnBrk="0">
                        <a:buNone/>
                      </a:pPr>
                      <a:r>
                        <a:rPr lang="en-IN" sz="1200" dirty="0">
                          <a:effectLst/>
                        </a:rPr>
                        <a:t>Unigram</a:t>
                      </a:r>
                    </a:p>
                  </a:txBody>
                  <a:tcPr marL="60960" marR="60960" anchor="ctr"/>
                </a:tc>
                <a:tc>
                  <a:txBody>
                    <a:bodyPr/>
                    <a:lstStyle/>
                    <a:p>
                      <a:pPr algn="ctr" fontAlgn="base" latinLnBrk="0">
                        <a:buNone/>
                      </a:pPr>
                      <a:r>
                        <a:rPr lang="en-IN" sz="1200">
                          <a:effectLst/>
                        </a:rPr>
                        <a:t>91.56%</a:t>
                      </a:r>
                    </a:p>
                  </a:txBody>
                  <a:tcPr marL="60960" marR="60960" anchor="ctr"/>
                </a:tc>
                <a:tc>
                  <a:txBody>
                    <a:bodyPr/>
                    <a:lstStyle/>
                    <a:p>
                      <a:pPr algn="ctr" fontAlgn="base" latinLnBrk="0">
                        <a:buNone/>
                      </a:pPr>
                      <a:r>
                        <a:rPr lang="en-US" sz="1200">
                          <a:effectLst/>
                        </a:rPr>
                        <a:t>P(tag|word) robust; ignores context but no sparsity</a:t>
                      </a:r>
                    </a:p>
                  </a:txBody>
                  <a:tcPr marL="60960" marR="60960" anchor="ctr"/>
                </a:tc>
                <a:extLst>
                  <a:ext uri="{0D108BD9-81ED-4DB2-BD59-A6C34878D82A}">
                    <a16:rowId xmlns:a16="http://schemas.microsoft.com/office/drawing/2014/main" val="451722795"/>
                  </a:ext>
                </a:extLst>
              </a:tr>
              <a:tr h="370840">
                <a:tc>
                  <a:txBody>
                    <a:bodyPr/>
                    <a:lstStyle/>
                    <a:p>
                      <a:pPr algn="ctr" fontAlgn="base" latinLnBrk="0">
                        <a:buNone/>
                      </a:pPr>
                      <a:r>
                        <a:rPr lang="en-IN" sz="1200" dirty="0">
                          <a:effectLst/>
                        </a:rPr>
                        <a:t>Bigram</a:t>
                      </a:r>
                    </a:p>
                  </a:txBody>
                  <a:tcPr marL="60960" marR="60960" anchor="ctr"/>
                </a:tc>
                <a:tc>
                  <a:txBody>
                    <a:bodyPr/>
                    <a:lstStyle/>
                    <a:p>
                      <a:pPr algn="ctr" fontAlgn="base" latinLnBrk="0">
                        <a:buNone/>
                      </a:pPr>
                      <a:r>
                        <a:rPr lang="en-IN" sz="1200" dirty="0">
                          <a:effectLst/>
                        </a:rPr>
                        <a:t>92.46%</a:t>
                      </a:r>
                    </a:p>
                  </a:txBody>
                  <a:tcPr marL="60960" marR="60960" anchor="ctr"/>
                </a:tc>
                <a:tc>
                  <a:txBody>
                    <a:bodyPr/>
                    <a:lstStyle/>
                    <a:p>
                      <a:pPr algn="ctr" fontAlgn="base" latinLnBrk="0">
                        <a:buNone/>
                      </a:pPr>
                      <a:r>
                        <a:rPr lang="en-IN" sz="1200" dirty="0">
                          <a:effectLst/>
                        </a:rPr>
                        <a:t>Context + backoff; best trade-off</a:t>
                      </a:r>
                    </a:p>
                  </a:txBody>
                  <a:tcPr marL="60960" marR="60960" anchor="ctr"/>
                </a:tc>
                <a:extLst>
                  <a:ext uri="{0D108BD9-81ED-4DB2-BD59-A6C34878D82A}">
                    <a16:rowId xmlns:a16="http://schemas.microsoft.com/office/drawing/2014/main" val="1736934425"/>
                  </a:ext>
                </a:extLst>
              </a:tr>
              <a:tr h="370840">
                <a:tc>
                  <a:txBody>
                    <a:bodyPr/>
                    <a:lstStyle/>
                    <a:p>
                      <a:pPr algn="ctr" fontAlgn="base" latinLnBrk="0">
                        <a:buNone/>
                      </a:pPr>
                      <a:r>
                        <a:rPr lang="en-IN" sz="1200">
                          <a:effectLst/>
                        </a:rPr>
                        <a:t>HMM</a:t>
                      </a:r>
                    </a:p>
                  </a:txBody>
                  <a:tcPr marL="60960" marR="60960" anchor="ctr"/>
                </a:tc>
                <a:tc>
                  <a:txBody>
                    <a:bodyPr/>
                    <a:lstStyle/>
                    <a:p>
                      <a:pPr algn="ctr" fontAlgn="base" latinLnBrk="0">
                        <a:buNone/>
                      </a:pPr>
                      <a:r>
                        <a:rPr lang="en-IN" sz="1200" dirty="0">
                          <a:effectLst/>
                        </a:rPr>
                        <a:t>70.11%</a:t>
                      </a:r>
                    </a:p>
                  </a:txBody>
                  <a:tcPr marL="60960" marR="60960" anchor="ctr"/>
                </a:tc>
                <a:tc>
                  <a:txBody>
                    <a:bodyPr/>
                    <a:lstStyle/>
                    <a:p>
                      <a:pPr algn="ctr" fontAlgn="base" latinLnBrk="0">
                        <a:buNone/>
                      </a:pPr>
                      <a:r>
                        <a:rPr lang="en-IN" sz="1200" dirty="0">
                          <a:effectLst/>
                        </a:rPr>
                        <a:t>Sparse transitions/emissions; path collapse</a:t>
                      </a:r>
                    </a:p>
                  </a:txBody>
                  <a:tcPr marL="60960" marR="60960" anchor="ctr"/>
                </a:tc>
                <a:extLst>
                  <a:ext uri="{0D108BD9-81ED-4DB2-BD59-A6C34878D82A}">
                    <a16:rowId xmlns:a16="http://schemas.microsoft.com/office/drawing/2014/main" val="2123526198"/>
                  </a:ext>
                </a:extLst>
              </a:tr>
              <a:tr h="370840">
                <a:tc>
                  <a:txBody>
                    <a:bodyPr/>
                    <a:lstStyle/>
                    <a:p>
                      <a:pPr algn="ctr" fontAlgn="base" latinLnBrk="0">
                        <a:buNone/>
                      </a:pPr>
                      <a:r>
                        <a:rPr lang="en-IN" sz="1200">
                          <a:effectLst/>
                        </a:rPr>
                        <a:t>Treebank</a:t>
                      </a:r>
                    </a:p>
                  </a:txBody>
                  <a:tcPr marL="60960" marR="60960" anchor="ctr"/>
                </a:tc>
                <a:tc>
                  <a:txBody>
                    <a:bodyPr/>
                    <a:lstStyle/>
                    <a:p>
                      <a:pPr algn="ctr" fontAlgn="base" latinLnBrk="0">
                        <a:buNone/>
                      </a:pPr>
                      <a:r>
                        <a:rPr lang="en-IN" sz="1200">
                          <a:effectLst/>
                        </a:rPr>
                        <a:t>90.22%</a:t>
                      </a:r>
                    </a:p>
                  </a:txBody>
                  <a:tcPr marL="60960" marR="60960" anchor="ctr"/>
                </a:tc>
                <a:tc>
                  <a:txBody>
                    <a:bodyPr/>
                    <a:lstStyle/>
                    <a:p>
                      <a:pPr algn="ctr" fontAlgn="base" latinLnBrk="0">
                        <a:buNone/>
                      </a:pPr>
                      <a:r>
                        <a:rPr lang="en-US" sz="1200" dirty="0">
                          <a:effectLst/>
                        </a:rPr>
                        <a:t>Pre-trained on richer data; still ≈ Bigram</a:t>
                      </a:r>
                    </a:p>
                  </a:txBody>
                  <a:tcPr marL="60960" marR="60960" anchor="ctr"/>
                </a:tc>
                <a:extLst>
                  <a:ext uri="{0D108BD9-81ED-4DB2-BD59-A6C34878D82A}">
                    <a16:rowId xmlns:a16="http://schemas.microsoft.com/office/drawing/2014/main" val="1864678660"/>
                  </a:ext>
                </a:extLst>
              </a:tr>
            </a:tbl>
          </a:graphicData>
        </a:graphic>
      </p:graphicFrame>
      <p:pic>
        <p:nvPicPr>
          <p:cNvPr id="7170" name="Picture 2">
            <a:extLst>
              <a:ext uri="{FF2B5EF4-FFF2-40B4-BE49-F238E27FC236}">
                <a16:creationId xmlns:a16="http://schemas.microsoft.com/office/drawing/2014/main" id="{9F37D860-8786-8145-F07B-FAD72C25E9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382329"/>
            <a:ext cx="4803894" cy="286582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white background with black text&#10;&#10;AI-generated content may be incorrect.">
            <a:extLst>
              <a:ext uri="{FF2B5EF4-FFF2-40B4-BE49-F238E27FC236}">
                <a16:creationId xmlns:a16="http://schemas.microsoft.com/office/drawing/2014/main" id="{702A47CA-8F9B-2E6B-9110-9BF3BFB0EAC1}"/>
              </a:ext>
            </a:extLst>
          </p:cNvPr>
          <p:cNvPicPr>
            <a:picLocks noChangeAspect="1"/>
          </p:cNvPicPr>
          <p:nvPr/>
        </p:nvPicPr>
        <p:blipFill>
          <a:blip r:embed="rId4"/>
          <a:stretch>
            <a:fillRect/>
          </a:stretch>
        </p:blipFill>
        <p:spPr>
          <a:xfrm>
            <a:off x="7258050" y="1382329"/>
            <a:ext cx="3375953" cy="1447925"/>
          </a:xfrm>
          <a:prstGeom prst="rect">
            <a:avLst/>
          </a:prstGeom>
        </p:spPr>
      </p:pic>
      <p:sp>
        <p:nvSpPr>
          <p:cNvPr id="7" name="TextBox 6">
            <a:extLst>
              <a:ext uri="{FF2B5EF4-FFF2-40B4-BE49-F238E27FC236}">
                <a16:creationId xmlns:a16="http://schemas.microsoft.com/office/drawing/2014/main" id="{B2454EA2-1F3B-8F15-35E0-4C69D042E7DC}"/>
              </a:ext>
            </a:extLst>
          </p:cNvPr>
          <p:cNvSpPr txBox="1"/>
          <p:nvPr/>
        </p:nvSpPr>
        <p:spPr>
          <a:xfrm>
            <a:off x="5898026" y="3429000"/>
            <a:ext cx="6096000" cy="584775"/>
          </a:xfrm>
          <a:prstGeom prst="rect">
            <a:avLst/>
          </a:prstGeom>
          <a:noFill/>
        </p:spPr>
        <p:txBody>
          <a:bodyPr wrap="square">
            <a:spAutoFit/>
          </a:bodyPr>
          <a:lstStyle/>
          <a:p>
            <a:pPr algn="ctr"/>
            <a:r>
              <a:rPr lang="en-US" sz="1600" b="0" i="0" dirty="0">
                <a:effectLst/>
                <a:latin typeface="fkGroteskNeue"/>
              </a:rPr>
              <a:t>Viterbi chooses the highest‑probability tag sequence under the learned transition and emission probabilities</a:t>
            </a:r>
            <a:endParaRPr lang="en-IN" sz="1600" dirty="0"/>
          </a:p>
        </p:txBody>
      </p:sp>
      <p:cxnSp>
        <p:nvCxnSpPr>
          <p:cNvPr id="9" name="Straight Arrow Connector 8">
            <a:extLst>
              <a:ext uri="{FF2B5EF4-FFF2-40B4-BE49-F238E27FC236}">
                <a16:creationId xmlns:a16="http://schemas.microsoft.com/office/drawing/2014/main" id="{C608EC0C-2CC4-1220-23B6-5DA94A9D0183}"/>
              </a:ext>
            </a:extLst>
          </p:cNvPr>
          <p:cNvCxnSpPr>
            <a:cxnSpLocks/>
            <a:endCxn id="7" idx="0"/>
          </p:cNvCxnSpPr>
          <p:nvPr/>
        </p:nvCxnSpPr>
        <p:spPr>
          <a:xfrm>
            <a:off x="8946026" y="2717671"/>
            <a:ext cx="0" cy="711329"/>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C88D01D-1DA0-825C-3028-5BCF379C9855}"/>
              </a:ext>
            </a:extLst>
          </p:cNvPr>
          <p:cNvSpPr txBox="1"/>
          <p:nvPr/>
        </p:nvSpPr>
        <p:spPr>
          <a:xfrm>
            <a:off x="5799039" y="4295775"/>
            <a:ext cx="6293974" cy="1569660"/>
          </a:xfrm>
          <a:prstGeom prst="rect">
            <a:avLst/>
          </a:prstGeom>
          <a:noFill/>
        </p:spPr>
        <p:txBody>
          <a:bodyPr wrap="square">
            <a:spAutoFit/>
          </a:bodyPr>
          <a:lstStyle/>
          <a:p>
            <a:pPr algn="ctr"/>
            <a:r>
              <a:rPr lang="en-US" sz="1600" b="0" i="0" dirty="0">
                <a:effectLst/>
                <a:latin typeface="fkGroteskNeue"/>
              </a:rPr>
              <a:t> At the same time, the printed recursion over positions 1–4 and the final backtracked sequence are exactly what a correctly implemented HMM tagger would do if </a:t>
            </a:r>
            <a:r>
              <a:rPr lang="en-US" sz="1600" b="0" i="0" dirty="0">
                <a:effectLst/>
                <a:latin typeface="berkeleyMono"/>
              </a:rPr>
              <a:t>P(NOUN | old)</a:t>
            </a:r>
            <a:r>
              <a:rPr lang="en-US" sz="1600" b="0" i="0" dirty="0">
                <a:effectLst/>
                <a:latin typeface="fkGroteskNeue"/>
              </a:rPr>
              <a:t> and </a:t>
            </a:r>
            <a:r>
              <a:rPr lang="en-US" sz="1600" b="0" i="0" dirty="0">
                <a:effectLst/>
                <a:latin typeface="berkeleyMono"/>
              </a:rPr>
              <a:t>P(man | NOUN)</a:t>
            </a:r>
            <a:r>
              <a:rPr lang="en-US" sz="1600" b="0" i="0" dirty="0">
                <a:effectLst/>
                <a:latin typeface="fkGroteskNeue"/>
              </a:rPr>
              <a:t> and the following transitions are all much bigger than the corresponding VERB path.</a:t>
            </a:r>
          </a:p>
          <a:p>
            <a:pPr>
              <a:buNone/>
            </a:pPr>
            <a:br>
              <a:rPr lang="en-US" sz="1600" dirty="0"/>
            </a:br>
            <a:endParaRPr lang="en-IN" sz="1600" dirty="0"/>
          </a:p>
        </p:txBody>
      </p:sp>
      <p:sp>
        <p:nvSpPr>
          <p:cNvPr id="14" name="Slide Number Placeholder 13">
            <a:extLst>
              <a:ext uri="{FF2B5EF4-FFF2-40B4-BE49-F238E27FC236}">
                <a16:creationId xmlns:a16="http://schemas.microsoft.com/office/drawing/2014/main" id="{B844EB44-8272-235C-96DC-99FADF45E7CD}"/>
              </a:ext>
            </a:extLst>
          </p:cNvPr>
          <p:cNvSpPr>
            <a:spLocks noGrp="1"/>
          </p:cNvSpPr>
          <p:nvPr>
            <p:ph type="sldNum" sz="quarter" idx="12"/>
          </p:nvPr>
        </p:nvSpPr>
        <p:spPr/>
        <p:txBody>
          <a:bodyPr/>
          <a:lstStyle/>
          <a:p>
            <a:fld id="{D9AB36C4-4A00-4490-8C6E-D4776DE94668}" type="slidenum">
              <a:rPr lang="en-IN" smtClean="0"/>
              <a:t>30</a:t>
            </a:fld>
            <a:endParaRPr lang="en-IN"/>
          </a:p>
        </p:txBody>
      </p:sp>
    </p:spTree>
    <p:extLst>
      <p:ext uri="{BB962C8B-B14F-4D97-AF65-F5344CB8AC3E}">
        <p14:creationId xmlns:p14="http://schemas.microsoft.com/office/powerpoint/2010/main" val="7980284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F7EF-2FE8-619B-331D-A5E9BF71B101}"/>
              </a:ext>
            </a:extLst>
          </p:cNvPr>
          <p:cNvSpPr>
            <a:spLocks noGrp="1"/>
          </p:cNvSpPr>
          <p:nvPr>
            <p:ph type="title"/>
          </p:nvPr>
        </p:nvSpPr>
        <p:spPr/>
        <p:txBody>
          <a:bodyPr/>
          <a:lstStyle/>
          <a:p>
            <a:r>
              <a:rPr lang="en-IN" dirty="0"/>
              <a:t>Insights from code demo</a:t>
            </a:r>
          </a:p>
        </p:txBody>
      </p:sp>
      <p:sp>
        <p:nvSpPr>
          <p:cNvPr id="3" name="Content Placeholder 2">
            <a:extLst>
              <a:ext uri="{FF2B5EF4-FFF2-40B4-BE49-F238E27FC236}">
                <a16:creationId xmlns:a16="http://schemas.microsoft.com/office/drawing/2014/main" id="{8987AAE3-9FC0-7C24-43A9-0D59A2A3772E}"/>
              </a:ext>
            </a:extLst>
          </p:cNvPr>
          <p:cNvSpPr>
            <a:spLocks noGrp="1"/>
          </p:cNvSpPr>
          <p:nvPr>
            <p:ph idx="1"/>
          </p:nvPr>
        </p:nvSpPr>
        <p:spPr/>
        <p:txBody>
          <a:bodyPr>
            <a:normAutofit lnSpcReduction="10000"/>
          </a:bodyPr>
          <a:lstStyle/>
          <a:p>
            <a:r>
              <a:rPr lang="en-IN" dirty="0"/>
              <a:t>On this task: Bigram wins; HMM shows how sparsity breaks generative models</a:t>
            </a:r>
          </a:p>
          <a:p>
            <a:r>
              <a:rPr lang="en-IN" dirty="0"/>
              <a:t>Simple discriminative (backoff) beats complex generative on limited data</a:t>
            </a:r>
          </a:p>
          <a:p>
            <a:r>
              <a:rPr lang="en-IN" dirty="0"/>
              <a:t>Why HMM still matters:</a:t>
            </a:r>
          </a:p>
          <a:p>
            <a:pPr lvl="1"/>
            <a:r>
              <a:rPr lang="en-IN" dirty="0"/>
              <a:t>Foundation for modern sequence models (RNNs, Transformers reuse ideas)</a:t>
            </a:r>
          </a:p>
          <a:p>
            <a:pPr lvl="1"/>
            <a:r>
              <a:rPr lang="en-IN" dirty="0"/>
              <a:t>Framework for </a:t>
            </a:r>
            <a:r>
              <a:rPr lang="en-IN" b="1" u="sng" dirty="0"/>
              <a:t>unsupervised learning when tags scarce</a:t>
            </a:r>
          </a:p>
          <a:p>
            <a:pPr lvl="1"/>
            <a:r>
              <a:rPr lang="en-IN" dirty="0"/>
              <a:t>Optimal for problems with richer hidden structure (speech, root finding)</a:t>
            </a:r>
          </a:p>
          <a:p>
            <a:r>
              <a:rPr lang="en-IN" dirty="0"/>
              <a:t>Therefore it is important to first understand sparsity of our data, choose smoothing carefully, and match model to data size</a:t>
            </a:r>
          </a:p>
          <a:p>
            <a:endParaRPr lang="en-IN" dirty="0"/>
          </a:p>
        </p:txBody>
      </p:sp>
      <p:sp>
        <p:nvSpPr>
          <p:cNvPr id="4" name="Slide Number Placeholder 3">
            <a:extLst>
              <a:ext uri="{FF2B5EF4-FFF2-40B4-BE49-F238E27FC236}">
                <a16:creationId xmlns:a16="http://schemas.microsoft.com/office/drawing/2014/main" id="{2A715F9F-E459-BD53-AFAA-FAB78F4D71C5}"/>
              </a:ext>
            </a:extLst>
          </p:cNvPr>
          <p:cNvSpPr>
            <a:spLocks noGrp="1"/>
          </p:cNvSpPr>
          <p:nvPr>
            <p:ph type="sldNum" sz="quarter" idx="12"/>
          </p:nvPr>
        </p:nvSpPr>
        <p:spPr/>
        <p:txBody>
          <a:bodyPr/>
          <a:lstStyle/>
          <a:p>
            <a:fld id="{D9AB36C4-4A00-4490-8C6E-D4776DE94668}" type="slidenum">
              <a:rPr lang="en-IN" smtClean="0"/>
              <a:t>31</a:t>
            </a:fld>
            <a:endParaRPr lang="en-IN"/>
          </a:p>
        </p:txBody>
      </p:sp>
    </p:spTree>
    <p:extLst>
      <p:ext uri="{BB962C8B-B14F-4D97-AF65-F5344CB8AC3E}">
        <p14:creationId xmlns:p14="http://schemas.microsoft.com/office/powerpoint/2010/main" val="37612539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CD5D7-DC59-FB46-BA35-6F8693A90F8B}"/>
              </a:ext>
            </a:extLst>
          </p:cNvPr>
          <p:cNvSpPr>
            <a:spLocks noGrp="1"/>
          </p:cNvSpPr>
          <p:nvPr>
            <p:ph type="title"/>
          </p:nvPr>
        </p:nvSpPr>
        <p:spPr/>
        <p:txBody>
          <a:bodyPr/>
          <a:lstStyle/>
          <a:p>
            <a:r>
              <a:rPr lang="en-IN" dirty="0"/>
              <a:t>Summary and Takeaways</a:t>
            </a:r>
          </a:p>
        </p:txBody>
      </p:sp>
      <p:sp>
        <p:nvSpPr>
          <p:cNvPr id="3" name="Content Placeholder 2">
            <a:extLst>
              <a:ext uri="{FF2B5EF4-FFF2-40B4-BE49-F238E27FC236}">
                <a16:creationId xmlns:a16="http://schemas.microsoft.com/office/drawing/2014/main" id="{B7D4958B-DF95-410F-CBFC-643C76267BA3}"/>
              </a:ext>
            </a:extLst>
          </p:cNvPr>
          <p:cNvSpPr>
            <a:spLocks noGrp="1"/>
          </p:cNvSpPr>
          <p:nvPr>
            <p:ph idx="1"/>
          </p:nvPr>
        </p:nvSpPr>
        <p:spPr/>
        <p:txBody>
          <a:bodyPr>
            <a:normAutofit fontScale="92500" lnSpcReduction="20000"/>
          </a:bodyPr>
          <a:lstStyle/>
          <a:p>
            <a:r>
              <a:rPr lang="en-US" dirty="0"/>
              <a:t>POS tagging assigns grammatical roles to words, resolving many ambiguities in English.</a:t>
            </a:r>
          </a:p>
          <a:p>
            <a:r>
              <a:rPr lang="en-US" dirty="0"/>
              <a:t>Hidden Markov Models treat tags as hidden states and words as observations.</a:t>
            </a:r>
          </a:p>
          <a:p>
            <a:r>
              <a:rPr lang="en-US" dirty="0"/>
              <a:t>Viterbi algorithm efficiently finds the most probable tag sequence using:</a:t>
            </a:r>
          </a:p>
          <a:p>
            <a:pPr lvl="1"/>
            <a:r>
              <a:rPr lang="en-US" dirty="0"/>
              <a:t>Transition probabilities between tags.</a:t>
            </a:r>
          </a:p>
          <a:p>
            <a:pPr lvl="1"/>
            <a:r>
              <a:rPr lang="en-US" dirty="0"/>
              <a:t>Emission probabilities of words given tags.</a:t>
            </a:r>
          </a:p>
          <a:p>
            <a:r>
              <a:rPr lang="en-US" dirty="0"/>
              <a:t>Training on tagged corpora like Brown lets us learn these probabilities from data.</a:t>
            </a:r>
          </a:p>
          <a:p>
            <a:r>
              <a:rPr lang="en-US" dirty="0"/>
              <a:t>HMM taggers are interpretable, conceptually clean, and a key stepping stone to modern neural NLP models.</a:t>
            </a:r>
          </a:p>
        </p:txBody>
      </p:sp>
      <p:sp>
        <p:nvSpPr>
          <p:cNvPr id="4" name="Slide Number Placeholder 3">
            <a:extLst>
              <a:ext uri="{FF2B5EF4-FFF2-40B4-BE49-F238E27FC236}">
                <a16:creationId xmlns:a16="http://schemas.microsoft.com/office/drawing/2014/main" id="{A026E425-1244-21E6-C659-6787338E54E1}"/>
              </a:ext>
            </a:extLst>
          </p:cNvPr>
          <p:cNvSpPr>
            <a:spLocks noGrp="1"/>
          </p:cNvSpPr>
          <p:nvPr>
            <p:ph type="sldNum" sz="quarter" idx="12"/>
          </p:nvPr>
        </p:nvSpPr>
        <p:spPr/>
        <p:txBody>
          <a:bodyPr/>
          <a:lstStyle/>
          <a:p>
            <a:fld id="{D9AB36C4-4A00-4490-8C6E-D4776DE94668}" type="slidenum">
              <a:rPr lang="en-IN" smtClean="0"/>
              <a:t>32</a:t>
            </a:fld>
            <a:endParaRPr lang="en-IN"/>
          </a:p>
        </p:txBody>
      </p:sp>
    </p:spTree>
    <p:extLst>
      <p:ext uri="{BB962C8B-B14F-4D97-AF65-F5344CB8AC3E}">
        <p14:creationId xmlns:p14="http://schemas.microsoft.com/office/powerpoint/2010/main" val="40751330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DB054-4A37-859D-3F28-CD3CC536302D}"/>
              </a:ext>
            </a:extLst>
          </p:cNvPr>
          <p:cNvSpPr>
            <a:spLocks noGrp="1"/>
          </p:cNvSpPr>
          <p:nvPr>
            <p:ph type="title"/>
          </p:nvPr>
        </p:nvSpPr>
        <p:spPr/>
        <p:txBody>
          <a:bodyPr/>
          <a:lstStyle/>
          <a:p>
            <a:r>
              <a:rPr lang="en-IN" dirty="0"/>
              <a:t>Thank you</a:t>
            </a:r>
          </a:p>
        </p:txBody>
      </p:sp>
      <p:sp>
        <p:nvSpPr>
          <p:cNvPr id="3" name="Content Placeholder 2">
            <a:extLst>
              <a:ext uri="{FF2B5EF4-FFF2-40B4-BE49-F238E27FC236}">
                <a16:creationId xmlns:a16="http://schemas.microsoft.com/office/drawing/2014/main" id="{C828D3D8-BFC3-9B7D-F2B9-B09C294B3CE7}"/>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4203E9D1-117A-C085-AF96-B1ACD1A8143A}"/>
              </a:ext>
            </a:extLst>
          </p:cNvPr>
          <p:cNvSpPr>
            <a:spLocks noGrp="1"/>
          </p:cNvSpPr>
          <p:nvPr>
            <p:ph type="sldNum" sz="quarter" idx="12"/>
          </p:nvPr>
        </p:nvSpPr>
        <p:spPr/>
        <p:txBody>
          <a:bodyPr/>
          <a:lstStyle/>
          <a:p>
            <a:fld id="{D9AB36C4-4A00-4490-8C6E-D4776DE94668}" type="slidenum">
              <a:rPr lang="en-IN" smtClean="0"/>
              <a:t>33</a:t>
            </a:fld>
            <a:endParaRPr lang="en-IN"/>
          </a:p>
        </p:txBody>
      </p:sp>
    </p:spTree>
    <p:extLst>
      <p:ext uri="{BB962C8B-B14F-4D97-AF65-F5344CB8AC3E}">
        <p14:creationId xmlns:p14="http://schemas.microsoft.com/office/powerpoint/2010/main" val="3111154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2598</TotalTime>
  <Words>9597</Words>
  <Application>Microsoft Office PowerPoint</Application>
  <PresentationFormat>Widescreen</PresentationFormat>
  <Paragraphs>436</Paragraphs>
  <Slides>33</Slides>
  <Notes>31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Aptos</vt:lpstr>
      <vt:lpstr>Aptos Display</vt:lpstr>
      <vt:lpstr>Arial</vt:lpstr>
      <vt:lpstr>berkeleyMono</vt:lpstr>
      <vt:lpstr>Calibri</vt:lpstr>
      <vt:lpstr>Cambria Math</vt:lpstr>
      <vt:lpstr>fkGroteskNeue</vt:lpstr>
      <vt:lpstr>Office Theme</vt:lpstr>
      <vt:lpstr>Hidden Markov Models and POS Tagging</vt:lpstr>
      <vt:lpstr>Outline of presentation</vt:lpstr>
      <vt:lpstr>English can be confusing</vt:lpstr>
      <vt:lpstr>Extreme but Grammatical Ambiguity</vt:lpstr>
      <vt:lpstr>The Problem: Syntactic &amp; Semantic Ambiguity</vt:lpstr>
      <vt:lpstr>What is Parts-of-Speech (POS) Tagging </vt:lpstr>
      <vt:lpstr>Why is POS Tagging Non-Trivial?</vt:lpstr>
      <vt:lpstr>Hidden Markov Models </vt:lpstr>
      <vt:lpstr>Tagging Problem as Optimization</vt:lpstr>
      <vt:lpstr>Viterbi Algorithm Intuition</vt:lpstr>
      <vt:lpstr>Resolving ambiguity using Viterbi</vt:lpstr>
      <vt:lpstr>Training an HMM Tagger: Brown Corpus</vt:lpstr>
      <vt:lpstr>Evaluating the tagger</vt:lpstr>
      <vt:lpstr>Zero Probability Problem in Language Models</vt:lpstr>
      <vt:lpstr>Laplace (Add-1) Smoothing: The Solution</vt:lpstr>
      <vt:lpstr>Limitations of HMM Tagging and Modern Approaches</vt:lpstr>
      <vt:lpstr>Code Demo</vt:lpstr>
      <vt:lpstr>Preparing Brown Corpus data</vt:lpstr>
      <vt:lpstr>Laplace Smoothing Setup</vt:lpstr>
      <vt:lpstr>Transition and Emission within Laplace</vt:lpstr>
      <vt:lpstr>Smoothing Results</vt:lpstr>
      <vt:lpstr>Transition Probability Matrix (visualized)</vt:lpstr>
      <vt:lpstr>Models Comparison</vt:lpstr>
      <vt:lpstr>Why Unigram avoids the sparsity problem that hurts Bigram when using Brown</vt:lpstr>
      <vt:lpstr>Viterbi with Laplace</vt:lpstr>
      <vt:lpstr>Viterbi Initialization</vt:lpstr>
      <vt:lpstr>Viterbi Recursion</vt:lpstr>
      <vt:lpstr>Viterbi Backtracking</vt:lpstr>
      <vt:lpstr>TreebankPOS Tagger</vt:lpstr>
      <vt:lpstr>Model Evaluation Comparison</vt:lpstr>
      <vt:lpstr>Insights from code demo</vt:lpstr>
      <vt:lpstr>Summary and Takeaways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Arnav Mallick</dc:creator>
  <cp:lastModifiedBy>Arnav Mallick</cp:lastModifiedBy>
  <cp:revision>42</cp:revision>
  <dcterms:created xsi:type="dcterms:W3CDTF">2025-12-13T09:37:40Z</dcterms:created>
  <dcterms:modified xsi:type="dcterms:W3CDTF">2025-12-15T04:56:10Z</dcterms:modified>
</cp:coreProperties>
</file>